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18" r:id="rId1"/>
  </p:sldMasterIdLst>
  <p:notesMasterIdLst>
    <p:notesMasterId r:id="rId22"/>
  </p:notesMasterIdLst>
  <p:handoutMasterIdLst>
    <p:handoutMasterId r:id="rId23"/>
  </p:handoutMasterIdLst>
  <p:sldIdLst>
    <p:sldId id="5046" r:id="rId2"/>
    <p:sldId id="5045" r:id="rId3"/>
    <p:sldId id="5040" r:id="rId4"/>
    <p:sldId id="5041" r:id="rId5"/>
    <p:sldId id="5039" r:id="rId6"/>
    <p:sldId id="5042" r:id="rId7"/>
    <p:sldId id="5043" r:id="rId8"/>
    <p:sldId id="5044" r:id="rId9"/>
    <p:sldId id="5034" r:id="rId10"/>
    <p:sldId id="5036" r:id="rId11"/>
    <p:sldId id="5035" r:id="rId12"/>
    <p:sldId id="5037" r:id="rId13"/>
    <p:sldId id="5038" r:id="rId14"/>
    <p:sldId id="5026" r:id="rId15"/>
    <p:sldId id="5028" r:id="rId16"/>
    <p:sldId id="5030" r:id="rId17"/>
    <p:sldId id="5031" r:id="rId18"/>
    <p:sldId id="5032" r:id="rId19"/>
    <p:sldId id="5033" r:id="rId20"/>
    <p:sldId id="5022" r:id="rId21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521415D9-36F7-43E2-AB2F-B90AF26B5E84}">
      <p14:sectionLst xmlns:p14="http://schemas.microsoft.com/office/powerpoint/2010/main">
        <p14:section name="기본 구역" id="{D026CF96-7A75-4CD9-BEB8-F4934541A490}">
          <p14:sldIdLst>
            <p14:sldId id="5046"/>
            <p14:sldId id="5045"/>
            <p14:sldId id="5040"/>
            <p14:sldId id="5041"/>
            <p14:sldId id="5039"/>
            <p14:sldId id="5042"/>
            <p14:sldId id="5043"/>
            <p14:sldId id="5044"/>
            <p14:sldId id="5034"/>
            <p14:sldId id="5036"/>
            <p14:sldId id="5035"/>
            <p14:sldId id="5037"/>
            <p14:sldId id="5038"/>
            <p14:sldId id="5026"/>
            <p14:sldId id="5028"/>
            <p14:sldId id="5030"/>
            <p14:sldId id="5031"/>
            <p14:sldId id="5032"/>
            <p14:sldId id="5033"/>
            <p14:sldId id="5022"/>
          </p14:sldIdLst>
        </p14:section>
      </p14:sectionLst>
    </p:ext>
    <p:ext uri="{EFAFB233-063F-42B5-8137-9DF3F51BA10A}">
      <p15:sldGuideLst xmlns:p15="http://schemas.microsoft.com/office/powerpoint/2012/main">
        <p15:guide id="2" orient="horz" pos="4133" userDrawn="1">
          <p15:clr>
            <a:srgbClr val="A4A3A4"/>
          </p15:clr>
        </p15:guide>
        <p15:guide id="5" orient="horz" userDrawn="1">
          <p15:clr>
            <a:srgbClr val="A4A3A4"/>
          </p15:clr>
        </p15:guide>
        <p15:guide id="6" orient="horz" pos="210">
          <p15:clr>
            <a:srgbClr val="A4A3A4"/>
          </p15:clr>
        </p15:guide>
        <p15:guide id="8" pos="6068" userDrawn="1">
          <p15:clr>
            <a:srgbClr val="A4A3A4"/>
          </p15:clr>
        </p15:guide>
        <p15:guide id="9" pos="3143" userDrawn="1">
          <p15:clr>
            <a:srgbClr val="A4A3A4"/>
          </p15:clr>
        </p15:guide>
        <p15:guide id="10" pos="172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482" userDrawn="1">
          <p15:clr>
            <a:srgbClr val="A4A3A4"/>
          </p15:clr>
        </p15:guide>
        <p15:guide id="16" orient="horz" pos="414" userDrawn="1">
          <p15:clr>
            <a:srgbClr val="A4A3A4"/>
          </p15:clr>
        </p15:guide>
        <p15:guide id="17" orient="horz" pos="3271" userDrawn="1">
          <p15:clr>
            <a:srgbClr val="A4A3A4"/>
          </p15:clr>
        </p15:guide>
        <p15:guide id="18" pos="217" userDrawn="1">
          <p15:clr>
            <a:srgbClr val="A4A3A4"/>
          </p15:clr>
        </p15:guide>
        <p15:guide id="19" orient="horz" pos="2409" userDrawn="1">
          <p15:clr>
            <a:srgbClr val="A4A3A4"/>
          </p15:clr>
        </p15:guide>
        <p15:guide id="20" orient="horz" pos="1117" userDrawn="1">
          <p15:clr>
            <a:srgbClr val="A4A3A4"/>
          </p15:clr>
        </p15:guide>
        <p15:guide id="22" pos="6136" userDrawn="1">
          <p15:clr>
            <a:srgbClr val="A4A3A4"/>
          </p15:clr>
        </p15:guide>
        <p15:guide id="23" pos="2780" userDrawn="1">
          <p15:clr>
            <a:srgbClr val="A4A3A4"/>
          </p15:clr>
        </p15:guide>
        <p15:guide id="24" orient="horz" pos="3974" userDrawn="1">
          <p15:clr>
            <a:srgbClr val="A4A3A4"/>
          </p15:clr>
        </p15:guide>
        <p15:guide id="25" orient="horz" pos="1207" userDrawn="1">
          <p15:clr>
            <a:srgbClr val="A4A3A4"/>
          </p15:clr>
        </p15:guide>
        <p15:guide id="26" pos="543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CMINER" initials="E" lastIdx="3" clrIdx="0">
    <p:extLst>
      <p:ext uri="{19B8F6BF-5375-455C-9EA6-DF929625EA0E}">
        <p15:presenceInfo xmlns:p15="http://schemas.microsoft.com/office/powerpoint/2012/main" userId="ECMINER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1116"/>
    <a:srgbClr val="FFFFFF"/>
    <a:srgbClr val="0000FF"/>
    <a:srgbClr val="558ED5"/>
    <a:srgbClr val="31859C"/>
    <a:srgbClr val="9BBB59"/>
    <a:srgbClr val="BFBFBF"/>
    <a:srgbClr val="E46C0A"/>
    <a:srgbClr val="D0D8E8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336" autoAdjust="0"/>
  </p:normalViewPr>
  <p:slideViewPr>
    <p:cSldViewPr snapToGrid="0" snapToObjects="1" showGuides="1">
      <p:cViewPr varScale="1">
        <p:scale>
          <a:sx n="74" d="100"/>
          <a:sy n="74" d="100"/>
        </p:scale>
        <p:origin x="72" y="936"/>
      </p:cViewPr>
      <p:guideLst>
        <p:guide orient="horz" pos="4133"/>
        <p:guide orient="horz"/>
        <p:guide orient="horz" pos="210"/>
        <p:guide pos="6068"/>
        <p:guide pos="3143"/>
        <p:guide pos="172"/>
        <p:guide pos="126"/>
        <p:guide orient="horz" pos="482"/>
        <p:guide orient="horz" pos="414"/>
        <p:guide orient="horz" pos="3271"/>
        <p:guide pos="217"/>
        <p:guide orient="horz" pos="2409"/>
        <p:guide orient="horz" pos="1117"/>
        <p:guide pos="6136"/>
        <p:guide pos="2780"/>
        <p:guide orient="horz" pos="3974"/>
        <p:guide orient="horz" pos="1207"/>
        <p:guide pos="5433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0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0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23900"/>
            <a:ext cx="5438775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3" y="4732653"/>
            <a:ext cx="5035494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3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02054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20599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</a:t>
            </a:r>
            <a:r>
              <a:rPr lang="en-US" altLang="ko-KR"/>
              <a:t>. </a:t>
            </a:r>
            <a:endParaRPr lang="ko-KR" altLang="en-US" dirty="0"/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063405" y="2295122"/>
            <a:ext cx="657011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67723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소주제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2026. </a:t>
            </a:r>
            <a:r>
              <a:rPr kumimoji="0" lang="en-US" altLang="ko-KR" sz="700" b="0" i="0" dirty="0" err="1">
                <a:latin typeface="맑은 고딕"/>
                <a:ea typeface="맑은 고딕"/>
              </a:rPr>
              <a:t>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20128D37-A361-89C1-A3C2-2EDD7FC9D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058" y="6588750"/>
            <a:ext cx="939299" cy="216000"/>
          </a:xfrm>
          <a:prstGeom prst="rect">
            <a:avLst/>
          </a:prstGeom>
        </p:spPr>
      </p:pic>
      <p:sp>
        <p:nvSpPr>
          <p:cNvPr id="4" name="텍스트 개체 틀 21">
            <a:extLst>
              <a:ext uri="{FF2B5EF4-FFF2-40B4-BE49-F238E27FC236}">
                <a16:creationId xmlns:a16="http://schemas.microsoft.com/office/drawing/2014/main" id="{BD78518C-834A-5AF2-4524-74D3FB2ACC6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2309" y="922627"/>
            <a:ext cx="9287718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771519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2026. </a:t>
            </a:r>
            <a:r>
              <a:rPr kumimoji="0" lang="en-US" altLang="ko-KR" sz="700" b="0" i="0" dirty="0" err="1">
                <a:latin typeface="맑은 고딕"/>
                <a:ea typeface="맑은 고딕"/>
              </a:rPr>
              <a:t>ECMiner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™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5309" y="603030"/>
            <a:ext cx="9454718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6F960B-CEE0-D95F-65F1-DB660F57F9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50058" y="6588750"/>
            <a:ext cx="939299" cy="21600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2376BEE-584E-E7FD-D0C2-C61C539AEA4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sp>
        <p:nvSpPr>
          <p:cNvPr id="6" name="제목 9">
            <a:extLst>
              <a:ext uri="{FF2B5EF4-FFF2-40B4-BE49-F238E27FC236}">
                <a16:creationId xmlns:a16="http://schemas.microsoft.com/office/drawing/2014/main" id="{FC6B86DD-9A44-AC4F-FD5A-41A61F65D8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/>
              <a:t> </a:t>
            </a:r>
            <a:endParaRPr lang="ko-KR" altLang="en-US" dirty="0"/>
          </a:p>
        </p:txBody>
      </p:sp>
      <p:sp>
        <p:nvSpPr>
          <p:cNvPr id="8" name="텍스트 개체 틀 3">
            <a:extLst>
              <a:ext uri="{FF2B5EF4-FFF2-40B4-BE49-F238E27FC236}">
                <a16:creationId xmlns:a16="http://schemas.microsoft.com/office/drawing/2014/main" id="{9E3C3F7A-F6D8-D82B-1D4F-ED65579C69B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/>
              <a:t> 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64599694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733086" y="4536505"/>
            <a:ext cx="4056451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㈜이씨마이너</a:t>
            </a:r>
            <a:endParaRPr lang="en-US" altLang="ko-KR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en-US" altLang="ko-KR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서울특별시 강남구 </a:t>
            </a:r>
            <a:r>
              <a:rPr lang="ko-KR" altLang="en-US" sz="1200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논현로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54,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  <a:endParaRPr lang="en-US" altLang="ko-KR" sz="1200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http://www.ECMiner™.com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91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4672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03298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9" r:id="rId1"/>
    <p:sldLayoutId id="2147483820" r:id="rId2"/>
    <p:sldLayoutId id="2147483821" r:id="rId3"/>
    <p:sldLayoutId id="2147483822" r:id="rId4"/>
    <p:sldLayoutId id="2147483823" r:id="rId5"/>
    <p:sldLayoutId id="2147483824" r:id="rId6"/>
    <p:sldLayoutId id="2147483839" r:id="rId7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핵심 사용자 여정</a:t>
            </a:r>
            <a:r>
              <a:rPr lang="en-US" altLang="ko-KR" dirty="0"/>
              <a:t>: </a:t>
            </a:r>
            <a:r>
              <a:rPr lang="ko-KR" altLang="en-US" dirty="0"/>
              <a:t>채팅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7F38048-956A-46F5-85DA-62A2CA0C7B04}"/>
              </a:ext>
            </a:extLst>
          </p:cNvPr>
          <p:cNvSpPr/>
          <p:nvPr/>
        </p:nvSpPr>
        <p:spPr bwMode="auto">
          <a:xfrm>
            <a:off x="294334" y="1546537"/>
            <a:ext cx="1331949" cy="6439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서비스 </a:t>
            </a:r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911896"/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접속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7FCAB58-2569-45FC-9CC1-26EAC8085394}"/>
              </a:ext>
            </a:extLst>
          </p:cNvPr>
          <p:cNvSpPr/>
          <p:nvPr/>
        </p:nvSpPr>
        <p:spPr bwMode="auto">
          <a:xfrm>
            <a:off x="2157420" y="1546537"/>
            <a:ext cx="1331949" cy="6439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로그인</a:t>
            </a:r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911896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필요 시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92DFA185-4187-4863-9DF7-B7552706FD3D}"/>
              </a:ext>
            </a:extLst>
          </p:cNvPr>
          <p:cNvSpPr/>
          <p:nvPr/>
        </p:nvSpPr>
        <p:spPr bwMode="auto">
          <a:xfrm>
            <a:off x="4020506" y="1546537"/>
            <a:ext cx="1331949" cy="6439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메인 화면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8C904B0-DE05-4D4E-A81E-C919B84ED5CA}"/>
              </a:ext>
            </a:extLst>
          </p:cNvPr>
          <p:cNvSpPr/>
          <p:nvPr/>
        </p:nvSpPr>
        <p:spPr bwMode="auto">
          <a:xfrm>
            <a:off x="5883592" y="1546537"/>
            <a:ext cx="1331949" cy="6439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채팅 시작</a:t>
            </a:r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911896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이전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23A32469-E758-4A8F-9FF4-6100047A8472}"/>
              </a:ext>
            </a:extLst>
          </p:cNvPr>
          <p:cNvSpPr/>
          <p:nvPr/>
        </p:nvSpPr>
        <p:spPr bwMode="auto">
          <a:xfrm>
            <a:off x="7742794" y="1546537"/>
            <a:ext cx="1720285" cy="643944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질문 입력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전송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응답확인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CE16D64C-EDA9-4FFF-A0BE-9DB29F5DFC37}"/>
              </a:ext>
            </a:extLst>
          </p:cNvPr>
          <p:cNvSpPr/>
          <p:nvPr/>
        </p:nvSpPr>
        <p:spPr bwMode="auto">
          <a:xfrm>
            <a:off x="3701246" y="3099512"/>
            <a:ext cx="1970468" cy="643944"/>
          </a:xfrm>
          <a:prstGeom prst="rect">
            <a:avLst/>
          </a:prstGeom>
          <a:noFill/>
          <a:ln>
            <a:solidFill>
              <a:schemeClr val="accent4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노트 열기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작성</a:t>
            </a:r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911896"/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저장 가능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2A15F64-A9D6-419C-9CD8-F8C7B1622FEC}"/>
              </a:ext>
            </a:extLst>
          </p:cNvPr>
          <p:cNvSpPr/>
          <p:nvPr/>
        </p:nvSpPr>
        <p:spPr bwMode="auto">
          <a:xfrm>
            <a:off x="7614809" y="3099512"/>
            <a:ext cx="1970468" cy="643944"/>
          </a:xfrm>
          <a:prstGeom prst="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문서 기반 답변이면</a:t>
            </a:r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911896"/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출처 </a:t>
            </a:r>
            <a:r>
              <a:rPr lang="ko-KR" altLang="en-US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토글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상세 보기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D73C4731-58AD-4FB6-A23C-E2EA7A06BF8B}"/>
              </a:ext>
            </a:extLst>
          </p:cNvPr>
          <p:cNvSpPr/>
          <p:nvPr/>
        </p:nvSpPr>
        <p:spPr bwMode="auto">
          <a:xfrm>
            <a:off x="7617701" y="3861966"/>
            <a:ext cx="1970468" cy="643944"/>
          </a:xfrm>
          <a:prstGeom prst="rect">
            <a:avLst/>
          </a:prstGeom>
          <a:noFill/>
          <a:ln>
            <a:solidFill>
              <a:schemeClr val="accent3">
                <a:lumMod val="60000"/>
                <a:lumOff val="40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질문이면</a:t>
            </a:r>
            <a:endParaRPr lang="en-US" altLang="ko-KR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algn="ctr" defTabSz="911896"/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차트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/</a:t>
            </a:r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 결과 확인</a:t>
            </a:r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E9D0D91F-2258-4029-8491-6C2CAA05537B}"/>
              </a:ext>
            </a:extLst>
          </p:cNvPr>
          <p:cNvCxnSpPr>
            <a:cxnSpLocks/>
          </p:cNvCxnSpPr>
          <p:nvPr/>
        </p:nvCxnSpPr>
        <p:spPr>
          <a:xfrm>
            <a:off x="1626283" y="1868509"/>
            <a:ext cx="53113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8597FD55-D26E-4337-8ABF-4999863C6A88}"/>
              </a:ext>
            </a:extLst>
          </p:cNvPr>
          <p:cNvCxnSpPr>
            <a:cxnSpLocks/>
          </p:cNvCxnSpPr>
          <p:nvPr/>
        </p:nvCxnSpPr>
        <p:spPr>
          <a:xfrm flipV="1">
            <a:off x="3489369" y="1867436"/>
            <a:ext cx="531137" cy="2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731FF5EB-7021-46CA-A077-3EDDC274621E}"/>
              </a:ext>
            </a:extLst>
          </p:cNvPr>
          <p:cNvCxnSpPr>
            <a:cxnSpLocks/>
          </p:cNvCxnSpPr>
          <p:nvPr/>
        </p:nvCxnSpPr>
        <p:spPr>
          <a:xfrm flipV="1">
            <a:off x="5352455" y="1867436"/>
            <a:ext cx="531137" cy="2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476880DE-D4E4-4C46-82DC-D752FDA8A27B}"/>
              </a:ext>
            </a:extLst>
          </p:cNvPr>
          <p:cNvCxnSpPr>
            <a:cxnSpLocks/>
          </p:cNvCxnSpPr>
          <p:nvPr/>
        </p:nvCxnSpPr>
        <p:spPr>
          <a:xfrm flipV="1">
            <a:off x="7211657" y="1867436"/>
            <a:ext cx="531137" cy="21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8D79DFB0-AF5E-4C1A-9DE2-84E7D43635E4}"/>
              </a:ext>
            </a:extLst>
          </p:cNvPr>
          <p:cNvCxnSpPr>
            <a:stCxn id="9" idx="2"/>
            <a:endCxn id="12" idx="0"/>
          </p:cNvCxnSpPr>
          <p:nvPr/>
        </p:nvCxnSpPr>
        <p:spPr>
          <a:xfrm flipH="1">
            <a:off x="4686480" y="2190481"/>
            <a:ext cx="1" cy="90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직선 연결선 21">
            <a:extLst>
              <a:ext uri="{FF2B5EF4-FFF2-40B4-BE49-F238E27FC236}">
                <a16:creationId xmlns:a16="http://schemas.microsoft.com/office/drawing/2014/main" id="{D9D89407-FB20-4542-8F3E-CA7CB12993C8}"/>
              </a:ext>
            </a:extLst>
          </p:cNvPr>
          <p:cNvCxnSpPr>
            <a:cxnSpLocks/>
            <a:endCxn id="13" idx="0"/>
          </p:cNvCxnSpPr>
          <p:nvPr/>
        </p:nvCxnSpPr>
        <p:spPr>
          <a:xfrm flipH="1">
            <a:off x="8600043" y="2190481"/>
            <a:ext cx="2894" cy="90903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A36C950-E601-47A3-86E0-B229248FC380}"/>
              </a:ext>
            </a:extLst>
          </p:cNvPr>
          <p:cNvSpPr/>
          <p:nvPr/>
        </p:nvSpPr>
        <p:spPr bwMode="auto">
          <a:xfrm>
            <a:off x="297227" y="5080553"/>
            <a:ext cx="9293836" cy="1191295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defTabSz="911896"/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다음 행동</a:t>
            </a:r>
            <a:r>
              <a:rPr lang="en-US" altLang="ko-KR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반복</a:t>
            </a:r>
            <a:r>
              <a:rPr lang="en-US" altLang="ko-KR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):</a:t>
            </a:r>
          </a:p>
          <a:p>
            <a:pPr marL="285750" indent="-285750" defTabSz="911896">
              <a:buFontTx/>
              <a:buChar char="-"/>
            </a:pPr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추가 질문하기 </a:t>
            </a:r>
            <a:r>
              <a:rPr lang="en-US" altLang="ko-KR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▶ </a:t>
            </a:r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같은 채팅에서 계속</a:t>
            </a:r>
            <a:endParaRPr lang="en-US" altLang="ko-KR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defTabSz="911896">
              <a:buFontTx/>
              <a:buChar char="-"/>
            </a:pPr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새 채팅 시작하기</a:t>
            </a:r>
            <a:endParaRPr lang="en-US" altLang="ko-KR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defTabSz="911896">
              <a:buFontTx/>
              <a:buChar char="-"/>
            </a:pPr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노트로 정리하기</a:t>
            </a:r>
            <a:endParaRPr lang="en-US" altLang="ko-KR" b="0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285750" indent="-285750" defTabSz="911896">
              <a:buFontTx/>
              <a:buChar char="-"/>
            </a:pPr>
            <a:r>
              <a:rPr lang="ko-KR" altLang="en-US" b="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종료하기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70799C-34D2-411A-94D5-AD676D2722FA}"/>
              </a:ext>
            </a:extLst>
          </p:cNvPr>
          <p:cNvSpPr txBox="1"/>
          <p:nvPr/>
        </p:nvSpPr>
        <p:spPr>
          <a:xfrm>
            <a:off x="274001" y="2249770"/>
            <a:ext cx="400301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1100" b="0" dirty="0">
                <a:latin typeface="+mn-ea"/>
                <a:ea typeface="+mn-ea"/>
              </a:rPr>
              <a:t>* </a:t>
            </a:r>
            <a:r>
              <a:rPr lang="ko-KR" altLang="en-US" sz="1100" b="0" dirty="0">
                <a:latin typeface="+mn-ea"/>
                <a:ea typeface="+mn-ea"/>
              </a:rPr>
              <a:t>이미 </a:t>
            </a:r>
            <a:r>
              <a:rPr lang="ko-KR" altLang="en-US" sz="1100" b="0" dirty="0" err="1">
                <a:latin typeface="+mn-ea"/>
                <a:ea typeface="+mn-ea"/>
              </a:rPr>
              <a:t>로그인된</a:t>
            </a:r>
            <a:r>
              <a:rPr lang="ko-KR" altLang="en-US" sz="1100" b="0" dirty="0">
                <a:latin typeface="+mn-ea"/>
                <a:ea typeface="+mn-ea"/>
              </a:rPr>
              <a:t> 경우</a:t>
            </a:r>
            <a:r>
              <a:rPr lang="en-US" altLang="ko-KR" sz="1100" b="0" dirty="0">
                <a:latin typeface="+mn-ea"/>
                <a:ea typeface="+mn-ea"/>
              </a:rPr>
              <a:t>, “</a:t>
            </a:r>
            <a:r>
              <a:rPr lang="ko-KR" altLang="en-US" sz="1100" b="0" dirty="0">
                <a:latin typeface="+mn-ea"/>
                <a:ea typeface="+mn-ea"/>
              </a:rPr>
              <a:t>로그인</a:t>
            </a:r>
            <a:r>
              <a:rPr lang="en-US" altLang="ko-KR" sz="1100" b="0" dirty="0">
                <a:latin typeface="+mn-ea"/>
                <a:ea typeface="+mn-ea"/>
              </a:rPr>
              <a:t>“ </a:t>
            </a:r>
            <a:r>
              <a:rPr lang="ko-KR" altLang="en-US" sz="1100" b="0" dirty="0">
                <a:latin typeface="+mn-ea"/>
                <a:ea typeface="+mn-ea"/>
              </a:rPr>
              <a:t>단계는 자동으로 건너뜁니다</a:t>
            </a:r>
            <a:r>
              <a:rPr lang="en-US" altLang="ko-KR" sz="1100" b="0" dirty="0">
                <a:latin typeface="+mn-ea"/>
                <a:ea typeface="+mn-ea"/>
              </a:rPr>
              <a:t>.</a:t>
            </a:r>
            <a:endParaRPr lang="ko-KR" altLang="en-US" sz="1100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1205809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화면별</a:t>
            </a:r>
            <a:r>
              <a:rPr lang="ko-KR" altLang="en-US" dirty="0"/>
              <a:t> 주요기능 </a:t>
            </a:r>
            <a:r>
              <a:rPr lang="en-US" altLang="ko-KR" dirty="0"/>
              <a:t>- </a:t>
            </a:r>
            <a:r>
              <a:rPr lang="ko-KR" altLang="en-US" dirty="0"/>
              <a:t>로그인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B45783A-2594-42FA-8BE8-E3E83490D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05" y="1125884"/>
            <a:ext cx="7827985" cy="4392506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D992107-07FF-4318-A220-DC55A902F9E4}"/>
              </a:ext>
            </a:extLst>
          </p:cNvPr>
          <p:cNvSpPr txBox="1"/>
          <p:nvPr/>
        </p:nvSpPr>
        <p:spPr>
          <a:xfrm>
            <a:off x="5576681" y="4778009"/>
            <a:ext cx="3837910" cy="9541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latin typeface="+mn-ea"/>
                <a:ea typeface="+mn-ea"/>
              </a:rPr>
              <a:t>주요 기능</a:t>
            </a:r>
            <a:r>
              <a:rPr lang="en-US" altLang="ko-KR" b="0" dirty="0">
                <a:latin typeface="+mn-ea"/>
                <a:ea typeface="+mn-ea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ea"/>
                <a:ea typeface="+mn-ea"/>
              </a:rPr>
              <a:t>이메일</a:t>
            </a:r>
            <a:r>
              <a:rPr lang="en-US" altLang="ko-KR" b="0" dirty="0">
                <a:latin typeface="+mn-ea"/>
                <a:ea typeface="+mn-ea"/>
              </a:rPr>
              <a:t>/</a:t>
            </a:r>
            <a:r>
              <a:rPr lang="ko-KR" altLang="en-US" b="0" dirty="0">
                <a:latin typeface="+mn-ea"/>
                <a:ea typeface="+mn-ea"/>
              </a:rPr>
              <a:t>비밀번호 인증</a:t>
            </a:r>
            <a:endParaRPr lang="en-US" altLang="ko-KR" b="0" dirty="0">
              <a:latin typeface="+mn-ea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ea"/>
                <a:ea typeface="+mn-ea"/>
              </a:rPr>
              <a:t>로그인 실패 시 </a:t>
            </a:r>
            <a:r>
              <a:rPr lang="ko-KR" altLang="en-US" b="0" dirty="0" err="1">
                <a:latin typeface="+mn-ea"/>
                <a:ea typeface="+mn-ea"/>
              </a:rPr>
              <a:t>오류메세지</a:t>
            </a:r>
            <a:r>
              <a:rPr lang="ko-KR" altLang="en-US" b="0" dirty="0">
                <a:latin typeface="+mn-ea"/>
                <a:ea typeface="+mn-ea"/>
              </a:rPr>
              <a:t> 표시</a:t>
            </a:r>
            <a:endParaRPr lang="en-US" altLang="ko-KR" b="0" dirty="0">
              <a:latin typeface="+mn-ea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ea"/>
                <a:ea typeface="+mn-ea"/>
              </a:rPr>
              <a:t>로그인 성공 시 메인 채팅으로 </a:t>
            </a:r>
            <a:r>
              <a:rPr lang="ko-KR" altLang="en-US" b="0" dirty="0" err="1">
                <a:latin typeface="+mn-ea"/>
                <a:ea typeface="+mn-ea"/>
              </a:rPr>
              <a:t>리다이렉트</a:t>
            </a:r>
            <a:endParaRPr lang="en-US" altLang="ko-KR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4095919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화면별</a:t>
            </a:r>
            <a:r>
              <a:rPr lang="ko-KR" altLang="en-US" dirty="0"/>
              <a:t> 주요기능 </a:t>
            </a:r>
            <a:r>
              <a:rPr lang="en-US" altLang="ko-KR" dirty="0"/>
              <a:t>- </a:t>
            </a:r>
            <a:r>
              <a:rPr lang="ko-KR" altLang="en-US" dirty="0"/>
              <a:t>로그인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7B45783A-2594-42FA-8BE8-E3E83490D5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05" y="1125884"/>
            <a:ext cx="7827985" cy="4392506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1D992107-07FF-4318-A220-DC55A902F9E4}"/>
              </a:ext>
            </a:extLst>
          </p:cNvPr>
          <p:cNvSpPr txBox="1"/>
          <p:nvPr/>
        </p:nvSpPr>
        <p:spPr>
          <a:xfrm>
            <a:off x="5576681" y="4778009"/>
            <a:ext cx="3837910" cy="9541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latin typeface="+mn-ea"/>
                <a:ea typeface="+mn-ea"/>
              </a:rPr>
              <a:t>주요 기능</a:t>
            </a:r>
            <a:r>
              <a:rPr lang="en-US" altLang="ko-KR" b="0" dirty="0">
                <a:latin typeface="+mn-ea"/>
                <a:ea typeface="+mn-ea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ea"/>
                <a:ea typeface="+mn-ea"/>
              </a:rPr>
              <a:t>이메일</a:t>
            </a:r>
            <a:r>
              <a:rPr lang="en-US" altLang="ko-KR" b="0" dirty="0">
                <a:latin typeface="+mn-ea"/>
                <a:ea typeface="+mn-ea"/>
              </a:rPr>
              <a:t>/</a:t>
            </a:r>
            <a:r>
              <a:rPr lang="ko-KR" altLang="en-US" b="0" dirty="0">
                <a:latin typeface="+mn-ea"/>
                <a:ea typeface="+mn-ea"/>
              </a:rPr>
              <a:t>비밀번호 인증</a:t>
            </a:r>
            <a:endParaRPr lang="en-US" altLang="ko-KR" b="0" dirty="0">
              <a:latin typeface="+mn-ea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ea"/>
                <a:ea typeface="+mn-ea"/>
              </a:rPr>
              <a:t>로그인 실패 시 </a:t>
            </a:r>
            <a:r>
              <a:rPr lang="ko-KR" altLang="en-US" b="0" dirty="0" err="1">
                <a:latin typeface="+mn-ea"/>
                <a:ea typeface="+mn-ea"/>
              </a:rPr>
              <a:t>오류메세지</a:t>
            </a:r>
            <a:r>
              <a:rPr lang="ko-KR" altLang="en-US" b="0" dirty="0">
                <a:latin typeface="+mn-ea"/>
                <a:ea typeface="+mn-ea"/>
              </a:rPr>
              <a:t> 표시</a:t>
            </a:r>
            <a:endParaRPr lang="en-US" altLang="ko-KR" b="0" dirty="0">
              <a:latin typeface="+mn-ea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ea"/>
                <a:ea typeface="+mn-ea"/>
              </a:rPr>
              <a:t>로그인 성공 시 메인 채팅으로 </a:t>
            </a:r>
            <a:r>
              <a:rPr lang="ko-KR" altLang="en-US" b="0" dirty="0" err="1">
                <a:latin typeface="+mn-ea"/>
                <a:ea typeface="+mn-ea"/>
              </a:rPr>
              <a:t>리다이렉트</a:t>
            </a:r>
            <a:endParaRPr lang="en-US" altLang="ko-KR" b="0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856032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화면별</a:t>
            </a:r>
            <a:r>
              <a:rPr lang="ko-KR" altLang="en-US" dirty="0"/>
              <a:t> 주요기능 </a:t>
            </a:r>
            <a:r>
              <a:rPr lang="en-US" altLang="ko-KR" dirty="0"/>
              <a:t>– </a:t>
            </a:r>
            <a:r>
              <a:rPr lang="ko-KR" altLang="en-US" dirty="0"/>
              <a:t>메인 채팅 </a:t>
            </a:r>
            <a:r>
              <a:rPr lang="en-US" altLang="ko-KR" dirty="0"/>
              <a:t>(/)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E62561AD-AC9B-4A68-915D-E7004CEDF3C9}"/>
              </a:ext>
            </a:extLst>
          </p:cNvPr>
          <p:cNvGrpSpPr/>
          <p:nvPr/>
        </p:nvGrpSpPr>
        <p:grpSpPr>
          <a:xfrm>
            <a:off x="268889" y="1069154"/>
            <a:ext cx="8251712" cy="4736247"/>
            <a:chOff x="423862" y="1266021"/>
            <a:chExt cx="9058275" cy="5124450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065FF88A-D393-4360-A419-4F1BEBB07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3862" y="1266021"/>
              <a:ext cx="9058275" cy="5124450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F4C99644-800D-4912-935C-3C308D5ADB11}"/>
                </a:ext>
              </a:extLst>
            </p:cNvPr>
            <p:cNvSpPr/>
            <p:nvPr/>
          </p:nvSpPr>
          <p:spPr bwMode="auto">
            <a:xfrm>
              <a:off x="566671" y="3142445"/>
              <a:ext cx="2009104" cy="2768958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r>
                <a:rPr lang="ko-KR" altLang="en-US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 대화</a:t>
              </a:r>
              <a:endParaRPr lang="ko-KR" altLang="en-US" dirty="0">
                <a:solidFill>
                  <a:sysClr val="windowText" lastClr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A69205A3-BBE0-4BFF-B0E0-0C48DA017C1E}"/>
                </a:ext>
              </a:extLst>
            </p:cNvPr>
            <p:cNvSpPr/>
            <p:nvPr/>
          </p:nvSpPr>
          <p:spPr bwMode="auto">
            <a:xfrm>
              <a:off x="811369" y="6002268"/>
              <a:ext cx="1184856" cy="2826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r>
                <a:rPr lang="ko-KR" altLang="en-US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 명</a:t>
              </a: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739B794-380F-4A43-A47C-719894F70E87}"/>
                </a:ext>
              </a:extLst>
            </p:cNvPr>
            <p:cNvSpPr/>
            <p:nvPr/>
          </p:nvSpPr>
          <p:spPr bwMode="auto">
            <a:xfrm>
              <a:off x="3467881" y="4363791"/>
              <a:ext cx="5070811" cy="140594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r>
                <a:rPr lang="ko-KR" altLang="en-US" dirty="0">
                  <a:solidFill>
                    <a:sysClr val="windowText" lastClr="000000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추천 질문 리스트</a:t>
              </a:r>
            </a:p>
          </p:txBody>
        </p:sp>
        <p:pic>
          <p:nvPicPr>
            <p:cNvPr id="13" name="그림 12">
              <a:extLst>
                <a:ext uri="{FF2B5EF4-FFF2-40B4-BE49-F238E27FC236}">
                  <a16:creationId xmlns:a16="http://schemas.microsoft.com/office/drawing/2014/main" id="{63D48F2D-ED1D-4D46-A20C-5AD216A52B6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18367" y="2952145"/>
              <a:ext cx="5516182" cy="1041320"/>
            </a:xfrm>
            <a:prstGeom prst="rect">
              <a:avLst/>
            </a:prstGeom>
          </p:spPr>
        </p:pic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3F516431-C1D0-4BB6-BEDD-2C923F3741C7}"/>
              </a:ext>
            </a:extLst>
          </p:cNvPr>
          <p:cNvSpPr txBox="1"/>
          <p:nvPr/>
        </p:nvSpPr>
        <p:spPr>
          <a:xfrm>
            <a:off x="7067824" y="4995079"/>
            <a:ext cx="2565126" cy="138499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latin typeface="+mn-lt"/>
                <a:ea typeface="+mn-ea"/>
              </a:rPr>
              <a:t>주요 기능</a:t>
            </a:r>
            <a:r>
              <a:rPr lang="en-US" altLang="ko-KR" b="0" dirty="0">
                <a:latin typeface="+mn-lt"/>
                <a:ea typeface="+mn-ea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새 채팅 시작</a:t>
            </a:r>
            <a:endParaRPr lang="en-US" altLang="ko-KR" b="0" dirty="0">
              <a:latin typeface="+mn-lt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질문 입력 및 </a:t>
            </a:r>
            <a:r>
              <a:rPr lang="en-US" altLang="ko-KR" b="0" dirty="0">
                <a:latin typeface="+mn-lt"/>
                <a:ea typeface="+mn-ea"/>
              </a:rPr>
              <a:t>AI </a:t>
            </a:r>
            <a:r>
              <a:rPr lang="ko-KR" altLang="en-US" b="0" dirty="0">
                <a:latin typeface="+mn-lt"/>
                <a:ea typeface="+mn-ea"/>
              </a:rPr>
              <a:t>응답</a:t>
            </a:r>
            <a:endParaRPr lang="en-US" altLang="ko-KR" b="0" dirty="0">
              <a:latin typeface="+mn-lt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실시간 스트리밍 답변</a:t>
            </a:r>
            <a:endParaRPr lang="en-US" altLang="ko-KR" b="0" dirty="0">
              <a:latin typeface="+mn-lt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채팅 목록 표시 </a:t>
            </a:r>
            <a:r>
              <a:rPr lang="en-US" altLang="ko-KR" b="0" dirty="0">
                <a:latin typeface="+mn-lt"/>
                <a:ea typeface="+mn-ea"/>
              </a:rPr>
              <a:t>(</a:t>
            </a:r>
            <a:r>
              <a:rPr lang="ko-KR" altLang="en-US" b="0" dirty="0">
                <a:latin typeface="+mn-lt"/>
                <a:ea typeface="+mn-ea"/>
              </a:rPr>
              <a:t>사이드바</a:t>
            </a:r>
            <a:r>
              <a:rPr lang="en-US" altLang="ko-KR" b="0" dirty="0">
                <a:latin typeface="+mn-lt"/>
                <a:ea typeface="+mn-ea"/>
              </a:rPr>
              <a:t>)</a:t>
            </a: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추천 질문 리스트 표시</a:t>
            </a:r>
            <a:endParaRPr lang="en-US" altLang="ko-KR" b="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07604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화면별</a:t>
            </a:r>
            <a:r>
              <a:rPr lang="ko-KR" altLang="en-US" dirty="0"/>
              <a:t> 주요기능 </a:t>
            </a:r>
            <a:r>
              <a:rPr lang="en-US" altLang="ko-KR" dirty="0"/>
              <a:t>– </a:t>
            </a:r>
            <a:r>
              <a:rPr lang="ko-KR" altLang="en-US" dirty="0"/>
              <a:t>메인 채팅 </a:t>
            </a:r>
            <a:r>
              <a:rPr lang="en-US" altLang="ko-KR" dirty="0"/>
              <a:t>(/c/[id])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73A2F2F-376E-4A9A-9DE1-29EACD3EC6A0}"/>
              </a:ext>
            </a:extLst>
          </p:cNvPr>
          <p:cNvGrpSpPr/>
          <p:nvPr/>
        </p:nvGrpSpPr>
        <p:grpSpPr>
          <a:xfrm>
            <a:off x="292798" y="1069154"/>
            <a:ext cx="8359272" cy="5029510"/>
            <a:chOff x="642703" y="1255632"/>
            <a:chExt cx="8359272" cy="5029510"/>
          </a:xfrm>
        </p:grpSpPr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2E9F6C87-5E8E-48A2-97F4-DFA742AE047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2703" y="1255632"/>
              <a:ext cx="8359272" cy="5029510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46D9BA0-809F-47B2-9406-E4813B8BDEB3}"/>
                </a:ext>
              </a:extLst>
            </p:cNvPr>
            <p:cNvSpPr/>
            <p:nvPr/>
          </p:nvSpPr>
          <p:spPr bwMode="auto">
            <a:xfrm>
              <a:off x="785611" y="3580327"/>
              <a:ext cx="1815921" cy="2292439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r>
                <a:rPr lang="ko-KR" altLang="en-US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 대화</a:t>
              </a:r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045A6B5-F41D-4611-A1D4-D43B9BA7F7F4}"/>
                </a:ext>
              </a:extLst>
            </p:cNvPr>
            <p:cNvSpPr/>
            <p:nvPr/>
          </p:nvSpPr>
          <p:spPr bwMode="auto">
            <a:xfrm>
              <a:off x="785610" y="2975020"/>
              <a:ext cx="1815921" cy="345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r>
                <a:rPr lang="ko-KR" altLang="en-US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이전 대화</a:t>
              </a:r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1" name="직사각형 20">
              <a:extLst>
                <a:ext uri="{FF2B5EF4-FFF2-40B4-BE49-F238E27FC236}">
                  <a16:creationId xmlns:a16="http://schemas.microsoft.com/office/drawing/2014/main" id="{888ED533-841F-45F4-99E7-679F49641257}"/>
                </a:ext>
              </a:extLst>
            </p:cNvPr>
            <p:cNvSpPr/>
            <p:nvPr/>
          </p:nvSpPr>
          <p:spPr bwMode="auto">
            <a:xfrm>
              <a:off x="6935096" y="1800896"/>
              <a:ext cx="1815921" cy="345331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r>
                <a:rPr lang="ko-KR" altLang="en-US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질문</a:t>
              </a:r>
              <a:endPara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AF71DA3D-C518-42D8-8215-B3F4BC2EE50E}"/>
                </a:ext>
              </a:extLst>
            </p:cNvPr>
            <p:cNvSpPr/>
            <p:nvPr/>
          </p:nvSpPr>
          <p:spPr bwMode="auto">
            <a:xfrm>
              <a:off x="3137079" y="2730321"/>
              <a:ext cx="5710707" cy="130076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r>
                <a: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답변</a:t>
              </a: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27EC5059-0EEA-46E2-AD2A-C8E73E078F6F}"/>
                </a:ext>
              </a:extLst>
            </p:cNvPr>
            <p:cNvSpPr/>
            <p:nvPr/>
          </p:nvSpPr>
          <p:spPr bwMode="auto">
            <a:xfrm>
              <a:off x="3137078" y="2428891"/>
              <a:ext cx="997039" cy="30143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r>
                <a:rPr lang="en-US" altLang="ko-KR" sz="1100" dirty="0" err="1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Posmine</a:t>
              </a:r>
              <a:endParaRPr lang="ko-KR" altLang="en-US" sz="11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F9A3AB1-0C6A-4F80-B48B-44C560D7D901}"/>
                </a:ext>
              </a:extLst>
            </p:cNvPr>
            <p:cNvSpPr/>
            <p:nvPr/>
          </p:nvSpPr>
          <p:spPr bwMode="auto">
            <a:xfrm>
              <a:off x="1017431" y="5937622"/>
              <a:ext cx="1184856" cy="28266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r>
                <a:rPr lang="ko-KR" altLang="en-US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 명</a:t>
              </a: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BF221D5C-F70D-421F-9C87-17A5136792C9}"/>
              </a:ext>
            </a:extLst>
          </p:cNvPr>
          <p:cNvSpPr txBox="1"/>
          <p:nvPr/>
        </p:nvSpPr>
        <p:spPr>
          <a:xfrm>
            <a:off x="6668677" y="4038445"/>
            <a:ext cx="2964273" cy="11695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latin typeface="+mn-lt"/>
                <a:ea typeface="+mn-ea"/>
              </a:rPr>
              <a:t>주요 기능</a:t>
            </a:r>
            <a:r>
              <a:rPr lang="en-US" altLang="ko-KR" b="0" dirty="0">
                <a:latin typeface="+mn-lt"/>
                <a:ea typeface="+mn-ea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기존 채팅 대화 </a:t>
            </a:r>
            <a:r>
              <a:rPr lang="ko-KR" altLang="en-US" b="0" dirty="0" err="1">
                <a:latin typeface="+mn-lt"/>
                <a:ea typeface="+mn-ea"/>
              </a:rPr>
              <a:t>이어가기</a:t>
            </a:r>
            <a:endParaRPr lang="en-US" altLang="ko-KR" b="0" dirty="0">
              <a:latin typeface="+mn-lt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채팅 히스토리 표시</a:t>
            </a:r>
            <a:endParaRPr lang="en-US" altLang="ko-KR" b="0" dirty="0">
              <a:latin typeface="+mn-lt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출처 </a:t>
            </a:r>
            <a:r>
              <a:rPr lang="ko-KR" altLang="en-US" b="0" dirty="0" err="1">
                <a:latin typeface="+mn-lt"/>
                <a:ea typeface="+mn-ea"/>
              </a:rPr>
              <a:t>토글</a:t>
            </a:r>
            <a:r>
              <a:rPr lang="en-US" altLang="ko-KR" b="0" dirty="0">
                <a:latin typeface="+mn-lt"/>
                <a:ea typeface="+mn-ea"/>
              </a:rPr>
              <a:t> (</a:t>
            </a:r>
            <a:r>
              <a:rPr lang="ko-KR" altLang="en-US" b="0" dirty="0">
                <a:latin typeface="+mn-lt"/>
                <a:ea typeface="+mn-ea"/>
              </a:rPr>
              <a:t>문서 기반 답변</a:t>
            </a:r>
            <a:r>
              <a:rPr lang="en-US" altLang="ko-KR" b="0" dirty="0">
                <a:latin typeface="+mn-lt"/>
                <a:ea typeface="+mn-ea"/>
              </a:rPr>
              <a:t>)</a:t>
            </a: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채팅 메뉴 </a:t>
            </a:r>
            <a:r>
              <a:rPr lang="en-US" altLang="ko-KR" b="0" dirty="0">
                <a:latin typeface="+mn-lt"/>
                <a:ea typeface="+mn-ea"/>
              </a:rPr>
              <a:t>(</a:t>
            </a:r>
            <a:r>
              <a:rPr lang="ko-KR" altLang="en-US" b="0" dirty="0">
                <a:latin typeface="+mn-lt"/>
                <a:ea typeface="+mn-ea"/>
              </a:rPr>
              <a:t>아카이브</a:t>
            </a:r>
            <a:r>
              <a:rPr lang="en-US" altLang="ko-KR" b="0" dirty="0">
                <a:latin typeface="+mn-lt"/>
                <a:ea typeface="+mn-ea"/>
              </a:rPr>
              <a:t>, </a:t>
            </a:r>
            <a:r>
              <a:rPr lang="ko-KR" altLang="en-US" b="0" dirty="0">
                <a:latin typeface="+mn-lt"/>
                <a:ea typeface="+mn-ea"/>
              </a:rPr>
              <a:t>내보내기</a:t>
            </a:r>
            <a:r>
              <a:rPr lang="en-US" altLang="ko-KR" b="0" dirty="0">
                <a:latin typeface="+mn-lt"/>
                <a:ea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4199518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화면별</a:t>
            </a:r>
            <a:r>
              <a:rPr lang="ko-KR" altLang="en-US" dirty="0"/>
              <a:t> 주요기능 </a:t>
            </a:r>
            <a:r>
              <a:rPr lang="en-US" altLang="ko-KR" dirty="0"/>
              <a:t>– </a:t>
            </a:r>
            <a:r>
              <a:rPr lang="ko-KR" altLang="en-US" dirty="0"/>
              <a:t>노트 목록 </a:t>
            </a:r>
            <a:r>
              <a:rPr lang="en-US" altLang="ko-KR" dirty="0"/>
              <a:t>(/notes), </a:t>
            </a:r>
            <a:r>
              <a:rPr lang="ko-KR" altLang="en-US" dirty="0"/>
              <a:t>노트 상세</a:t>
            </a:r>
            <a:r>
              <a:rPr lang="en-US" altLang="ko-KR" dirty="0"/>
              <a:t>(/notes/[id])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01E6D93A-A090-4B7A-9757-9D372B0FA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08" y="995026"/>
            <a:ext cx="7525220" cy="503254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BF221D5C-F70D-421F-9C87-17A5136792C9}"/>
              </a:ext>
            </a:extLst>
          </p:cNvPr>
          <p:cNvSpPr txBox="1"/>
          <p:nvPr/>
        </p:nvSpPr>
        <p:spPr>
          <a:xfrm>
            <a:off x="3319895" y="1190683"/>
            <a:ext cx="2635658" cy="11695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latin typeface="+mn-lt"/>
                <a:ea typeface="+mn-ea"/>
              </a:rPr>
              <a:t>주요 기능</a:t>
            </a:r>
            <a:r>
              <a:rPr lang="en-US" altLang="ko-KR" b="0" dirty="0">
                <a:latin typeface="+mn-lt"/>
                <a:ea typeface="+mn-ea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노트 목록 표시</a:t>
            </a:r>
            <a:endParaRPr lang="en-US" altLang="ko-KR" b="0" dirty="0">
              <a:latin typeface="+mn-lt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새 노트 작성 </a:t>
            </a:r>
            <a:r>
              <a:rPr lang="en-US" altLang="ko-KR" b="0" dirty="0">
                <a:latin typeface="+mn-lt"/>
                <a:ea typeface="+mn-ea"/>
              </a:rPr>
              <a:t>(</a:t>
            </a:r>
            <a:r>
              <a:rPr lang="ko-KR" altLang="en-US" b="0" dirty="0">
                <a:latin typeface="+mn-lt"/>
                <a:ea typeface="+mn-ea"/>
              </a:rPr>
              <a:t>우측 하단 </a:t>
            </a:r>
            <a:r>
              <a:rPr lang="en-US" altLang="ko-KR" b="0" dirty="0">
                <a:latin typeface="+mn-lt"/>
                <a:ea typeface="+mn-ea"/>
              </a:rPr>
              <a:t>+)</a:t>
            </a: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노트 검색 </a:t>
            </a:r>
            <a:r>
              <a:rPr lang="en-US" altLang="ko-KR" b="0" dirty="0">
                <a:latin typeface="+mn-lt"/>
                <a:ea typeface="+mn-ea"/>
              </a:rPr>
              <a:t>(</a:t>
            </a:r>
            <a:r>
              <a:rPr lang="ko-KR" altLang="en-US" b="0" dirty="0">
                <a:latin typeface="+mn-lt"/>
                <a:ea typeface="+mn-ea"/>
              </a:rPr>
              <a:t>키워드</a:t>
            </a:r>
            <a:r>
              <a:rPr lang="en-US" altLang="ko-KR" b="0" dirty="0">
                <a:latin typeface="+mn-lt"/>
                <a:ea typeface="+mn-ea"/>
              </a:rPr>
              <a:t>)</a:t>
            </a: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노트 삭제</a:t>
            </a:r>
            <a:endParaRPr lang="en-US" altLang="ko-KR" b="0" dirty="0">
              <a:latin typeface="+mn-lt"/>
              <a:ea typeface="+mn-ea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26B04868-8A86-4F70-80C5-0E4D39AAB8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724" y="2555890"/>
            <a:ext cx="4594744" cy="3729252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AC10DAA8-6ACC-47EA-8B07-526AF11F4DE8}"/>
              </a:ext>
            </a:extLst>
          </p:cNvPr>
          <p:cNvSpPr txBox="1"/>
          <p:nvPr/>
        </p:nvSpPr>
        <p:spPr>
          <a:xfrm>
            <a:off x="5617267" y="4986803"/>
            <a:ext cx="2565126" cy="11695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latin typeface="+mn-lt"/>
                <a:ea typeface="+mn-ea"/>
              </a:rPr>
              <a:t>주요 기능</a:t>
            </a:r>
            <a:r>
              <a:rPr lang="en-US" altLang="ko-KR" b="0" dirty="0">
                <a:latin typeface="+mn-lt"/>
                <a:ea typeface="+mn-ea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노트 편집 </a:t>
            </a:r>
            <a:r>
              <a:rPr lang="en-US" altLang="ko-KR" b="0" dirty="0">
                <a:latin typeface="+mn-lt"/>
                <a:ea typeface="+mn-ea"/>
              </a:rPr>
              <a:t>(</a:t>
            </a:r>
            <a:r>
              <a:rPr lang="ko-KR" altLang="en-US" b="0" dirty="0">
                <a:latin typeface="+mn-lt"/>
                <a:ea typeface="+mn-ea"/>
              </a:rPr>
              <a:t>마크다운 지원</a:t>
            </a:r>
            <a:r>
              <a:rPr lang="en-US" altLang="ko-KR" b="0" dirty="0">
                <a:latin typeface="+mn-lt"/>
                <a:ea typeface="+mn-ea"/>
              </a:rPr>
              <a:t>)</a:t>
            </a: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노트 저장</a:t>
            </a:r>
            <a:endParaRPr lang="en-US" altLang="ko-KR" b="0" dirty="0">
              <a:latin typeface="+mn-lt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다운로드 </a:t>
            </a:r>
            <a:r>
              <a:rPr lang="en-US" altLang="ko-KR" b="0" dirty="0">
                <a:latin typeface="+mn-lt"/>
                <a:ea typeface="+mn-ea"/>
              </a:rPr>
              <a:t>(TXT,MD,PDF)</a:t>
            </a: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노트 삭제</a:t>
            </a:r>
            <a:endParaRPr lang="en-US" altLang="ko-KR" b="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8507941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화면별</a:t>
            </a:r>
            <a:r>
              <a:rPr lang="ko-KR" altLang="en-US" dirty="0"/>
              <a:t> 주요기능 </a:t>
            </a:r>
            <a:r>
              <a:rPr lang="en-US" altLang="ko-KR" dirty="0"/>
              <a:t>– </a:t>
            </a:r>
            <a:r>
              <a:rPr lang="ko-KR" altLang="en-US" dirty="0"/>
              <a:t>검색 </a:t>
            </a:r>
            <a:r>
              <a:rPr lang="ko-KR" altLang="en-US" dirty="0" err="1"/>
              <a:t>모달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0B85418-42F8-4DA5-8F69-BA509B1C47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1069154"/>
            <a:ext cx="6746287" cy="4490498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0D5E6418-2627-434D-AE56-823DAA436141}"/>
              </a:ext>
            </a:extLst>
          </p:cNvPr>
          <p:cNvSpPr/>
          <p:nvPr/>
        </p:nvSpPr>
        <p:spPr bwMode="auto">
          <a:xfrm>
            <a:off x="508697" y="1649568"/>
            <a:ext cx="3080227" cy="38121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대화 목록</a:t>
            </a:r>
            <a:endParaRPr lang="ko-KR" altLang="en-US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6FC464A-3E60-4D27-BF7C-773DF50DF2C7}"/>
              </a:ext>
            </a:extLst>
          </p:cNvPr>
          <p:cNvSpPr/>
          <p:nvPr/>
        </p:nvSpPr>
        <p:spPr bwMode="auto">
          <a:xfrm>
            <a:off x="3646193" y="1405768"/>
            <a:ext cx="3080227" cy="405594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선택한 대화 내 히스토리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90F8EB2-BF31-4DFB-A8E8-4A1929035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9845" y="1307830"/>
            <a:ext cx="6374305" cy="1223140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6F0720-AB96-46E5-8655-D1B7DB448E1C}"/>
              </a:ext>
            </a:extLst>
          </p:cNvPr>
          <p:cNvSpPr txBox="1"/>
          <p:nvPr/>
        </p:nvSpPr>
        <p:spPr>
          <a:xfrm>
            <a:off x="6853022" y="1484232"/>
            <a:ext cx="2779928" cy="9541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ko-KR" altLang="en-US" b="0" dirty="0">
                <a:latin typeface="+mn-lt"/>
                <a:ea typeface="+mn-ea"/>
              </a:rPr>
              <a:t>주요 기능</a:t>
            </a:r>
            <a:r>
              <a:rPr lang="en-US" altLang="ko-KR" b="0" dirty="0">
                <a:latin typeface="+mn-lt"/>
                <a:ea typeface="+mn-ea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채팅 제목 검색</a:t>
            </a:r>
            <a:endParaRPr lang="en-US" altLang="ko-KR" b="0" dirty="0">
              <a:latin typeface="+mn-lt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채팅 내용 검색</a:t>
            </a:r>
            <a:endParaRPr lang="en-US" altLang="ko-KR" b="0" dirty="0">
              <a:latin typeface="+mn-lt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검색 결과 클릭 </a:t>
            </a:r>
            <a:r>
              <a:rPr lang="en-US" altLang="ko-KR" b="0" dirty="0">
                <a:latin typeface="+mn-lt"/>
                <a:ea typeface="+mn-ea"/>
              </a:rPr>
              <a:t>-&gt; </a:t>
            </a:r>
            <a:r>
              <a:rPr lang="ko-KR" altLang="en-US" b="0" dirty="0">
                <a:latin typeface="+mn-lt"/>
                <a:ea typeface="+mn-ea"/>
              </a:rPr>
              <a:t>채팅 열기</a:t>
            </a:r>
            <a:endParaRPr lang="en-US" altLang="ko-KR" b="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60760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 err="1"/>
              <a:t>화면별</a:t>
            </a:r>
            <a:r>
              <a:rPr lang="ko-KR" altLang="en-US" dirty="0"/>
              <a:t> 주요기능 </a:t>
            </a:r>
            <a:r>
              <a:rPr lang="en-US" altLang="ko-KR" dirty="0"/>
              <a:t>– </a:t>
            </a:r>
            <a:r>
              <a:rPr lang="ko-KR" altLang="en-US" dirty="0"/>
              <a:t>설정 </a:t>
            </a:r>
            <a:r>
              <a:rPr lang="ko-KR" altLang="en-US" dirty="0" err="1"/>
              <a:t>모달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C180751-9BBF-4CFF-BF32-3B8C244313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252" y="1069154"/>
            <a:ext cx="6988827" cy="4686278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86F0720-AB96-46E5-8655-D1B7DB448E1C}"/>
              </a:ext>
            </a:extLst>
          </p:cNvPr>
          <p:cNvSpPr txBox="1"/>
          <p:nvPr/>
        </p:nvSpPr>
        <p:spPr>
          <a:xfrm>
            <a:off x="6184512" y="3068333"/>
            <a:ext cx="2226584" cy="95410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algn="l"/>
            <a:r>
              <a:rPr lang="ko-KR" altLang="en-US" b="0" dirty="0">
                <a:latin typeface="+mn-lt"/>
                <a:ea typeface="+mn-ea"/>
              </a:rPr>
              <a:t>주요 기능</a:t>
            </a:r>
            <a:r>
              <a:rPr lang="en-US" altLang="ko-KR" b="0" dirty="0">
                <a:latin typeface="+mn-lt"/>
                <a:ea typeface="+mn-ea"/>
              </a:rPr>
              <a:t>:</a:t>
            </a: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프로필 편집</a:t>
            </a:r>
            <a:endParaRPr lang="en-US" altLang="ko-KR" b="0" dirty="0">
              <a:latin typeface="+mn-lt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일반 설정 변경</a:t>
            </a:r>
            <a:endParaRPr lang="en-US" altLang="ko-KR" b="0" dirty="0">
              <a:latin typeface="+mn-lt"/>
              <a:ea typeface="+mn-ea"/>
            </a:endParaRPr>
          </a:p>
          <a:p>
            <a:pPr marL="285750" indent="-285750" algn="l">
              <a:buFontTx/>
              <a:buChar char="-"/>
            </a:pPr>
            <a:r>
              <a:rPr lang="ko-KR" altLang="en-US" b="0" dirty="0">
                <a:latin typeface="+mn-lt"/>
                <a:ea typeface="+mn-ea"/>
              </a:rPr>
              <a:t>계정 정보 수정</a:t>
            </a:r>
            <a:endParaRPr lang="en-US" altLang="ko-KR" b="0" dirty="0"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252125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메뉴 구조도 </a:t>
            </a:r>
            <a:r>
              <a:rPr lang="en-US" altLang="ko-KR" dirty="0"/>
              <a:t>- </a:t>
            </a:r>
            <a:r>
              <a:rPr lang="ko-KR" altLang="en-US" dirty="0"/>
              <a:t>전체 메뉴 구조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E039B31-D8FD-4D71-9BFE-5484DA871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33" y="1611493"/>
            <a:ext cx="8891879" cy="3008131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44CFA37D-FCEF-457E-838D-A6B9850C170C}"/>
              </a:ext>
            </a:extLst>
          </p:cNvPr>
          <p:cNvSpPr/>
          <p:nvPr/>
        </p:nvSpPr>
        <p:spPr bwMode="auto">
          <a:xfrm>
            <a:off x="379833" y="1325046"/>
            <a:ext cx="1596604" cy="286447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 메뉴 구조</a:t>
            </a:r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F75B054E-5F53-4D1D-8DE3-071BDA633470}"/>
              </a:ext>
            </a:extLst>
          </p:cNvPr>
          <p:cNvSpPr/>
          <p:nvPr/>
        </p:nvSpPr>
        <p:spPr bwMode="auto">
          <a:xfrm rot="10800000" flipV="1">
            <a:off x="1753552" y="2332522"/>
            <a:ext cx="293370" cy="282204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DAB86E56-9C0A-4648-940C-AF7D8D024DCE}"/>
              </a:ext>
            </a:extLst>
          </p:cNvPr>
          <p:cNvSpPr/>
          <p:nvPr/>
        </p:nvSpPr>
        <p:spPr bwMode="auto">
          <a:xfrm rot="10800000" flipV="1">
            <a:off x="3849052" y="3056422"/>
            <a:ext cx="293370" cy="282204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" name="타원 17">
            <a:extLst>
              <a:ext uri="{FF2B5EF4-FFF2-40B4-BE49-F238E27FC236}">
                <a16:creationId xmlns:a16="http://schemas.microsoft.com/office/drawing/2014/main" id="{24A1903C-EA23-4CED-B71B-159EE17539F0}"/>
              </a:ext>
            </a:extLst>
          </p:cNvPr>
          <p:cNvSpPr/>
          <p:nvPr/>
        </p:nvSpPr>
        <p:spPr bwMode="auto">
          <a:xfrm rot="10800000" flipV="1">
            <a:off x="5830252" y="3056422"/>
            <a:ext cx="293370" cy="282204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lang="ko-KR" altLang="en-US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EA922E22-5280-4147-82FD-76683731108C}"/>
              </a:ext>
            </a:extLst>
          </p:cNvPr>
          <p:cNvSpPr/>
          <p:nvPr/>
        </p:nvSpPr>
        <p:spPr bwMode="auto">
          <a:xfrm rot="10800000" flipV="1">
            <a:off x="1460181" y="3053552"/>
            <a:ext cx="293370" cy="282204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50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타원 19">
            <a:extLst>
              <a:ext uri="{FF2B5EF4-FFF2-40B4-BE49-F238E27FC236}">
                <a16:creationId xmlns:a16="http://schemas.microsoft.com/office/drawing/2014/main" id="{518CD350-77B0-4CDC-824D-9FC6570A2814}"/>
              </a:ext>
            </a:extLst>
          </p:cNvPr>
          <p:cNvSpPr/>
          <p:nvPr/>
        </p:nvSpPr>
        <p:spPr bwMode="auto">
          <a:xfrm rot="10800000" flipV="1">
            <a:off x="2248852" y="3056422"/>
            <a:ext cx="293370" cy="282204"/>
          </a:xfrm>
          <a:prstGeom prst="ellipse">
            <a:avLst/>
          </a:prstGeom>
          <a:solidFill>
            <a:schemeClr val="accent3">
              <a:lumMod val="75000"/>
            </a:schemeClr>
          </a:solidFill>
          <a:ln>
            <a:noFill/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en-US" altLang="ko-KR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lang="ko-KR" altLang="en-US" sz="500" dirty="0">
              <a:solidFill>
                <a:prstClr val="whit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48243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메뉴 구조도 </a:t>
            </a:r>
            <a:r>
              <a:rPr lang="en-US" altLang="ko-KR" dirty="0"/>
              <a:t>– </a:t>
            </a:r>
            <a:r>
              <a:rPr lang="ko-KR" altLang="en-US" dirty="0"/>
              <a:t>사이드바 메뉴 상세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FB4ADB-D274-4BA1-9FDD-FB854A13CA87}"/>
              </a:ext>
            </a:extLst>
          </p:cNvPr>
          <p:cNvSpPr/>
          <p:nvPr/>
        </p:nvSpPr>
        <p:spPr bwMode="auto">
          <a:xfrm>
            <a:off x="390683" y="1184296"/>
            <a:ext cx="1809010" cy="2449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사이드바 구조</a:t>
            </a: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1CD84A4-1F4F-4DD0-997F-63BDF7835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621" y="1436730"/>
            <a:ext cx="6865620" cy="2269309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BFBDB286-2301-481B-A847-0C6622A635D2}"/>
              </a:ext>
            </a:extLst>
          </p:cNvPr>
          <p:cNvSpPr/>
          <p:nvPr/>
        </p:nvSpPr>
        <p:spPr bwMode="auto">
          <a:xfrm>
            <a:off x="398621" y="4378103"/>
            <a:ext cx="1586126" cy="2449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사이드바 메뉴 항목</a:t>
            </a: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B87BAE00-C450-45D9-B62F-E7EA8F8DE6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8653643"/>
              </p:ext>
            </p:extLst>
          </p:nvPr>
        </p:nvGraphicFramePr>
        <p:xfrm>
          <a:off x="398621" y="4618779"/>
          <a:ext cx="6168496" cy="1531620"/>
        </p:xfrm>
        <a:graphic>
          <a:graphicData uri="http://schemas.openxmlformats.org/drawingml/2006/table">
            <a:tbl>
              <a:tblPr/>
              <a:tblGrid>
                <a:gridCol w="1207029">
                  <a:extLst>
                    <a:ext uri="{9D8B030D-6E8A-4147-A177-3AD203B41FA5}">
                      <a16:colId xmlns:a16="http://schemas.microsoft.com/office/drawing/2014/main" val="3437160282"/>
                    </a:ext>
                  </a:extLst>
                </a:gridCol>
                <a:gridCol w="1151467">
                  <a:extLst>
                    <a:ext uri="{9D8B030D-6E8A-4147-A177-3AD203B41FA5}">
                      <a16:colId xmlns:a16="http://schemas.microsoft.com/office/drawing/2014/main" val="3115025645"/>
                    </a:ext>
                  </a:extLst>
                </a:gridCol>
                <a:gridCol w="2267876">
                  <a:extLst>
                    <a:ext uri="{9D8B030D-6E8A-4147-A177-3AD203B41FA5}">
                      <a16:colId xmlns:a16="http://schemas.microsoft.com/office/drawing/2014/main" val="3332771123"/>
                    </a:ext>
                  </a:extLst>
                </a:gridCol>
                <a:gridCol w="1542124">
                  <a:extLst>
                    <a:ext uri="{9D8B030D-6E8A-4147-A177-3AD203B41FA5}">
                      <a16:colId xmlns:a16="http://schemas.microsoft.com/office/drawing/2014/main" val="1390416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/>
                        <a:t>메뉴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/>
                        <a:t>아이콘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/>
                        <a:t>경로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b="0" dirty="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0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새 채팅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연필 사각형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200" dirty="0"/>
                        <a:t>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새로운 채팅 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479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검색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돋보기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모달 열기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채팅 검색 모달 표시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43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노트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노트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200"/>
                        <a:t>/notes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노트 페이지로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366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200"/>
                        <a:t>사용자 프로필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프로필 이미지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/>
                        <a:t>드롭다운 메뉴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200" dirty="0"/>
                        <a:t>사용자 메뉴 열기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096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71348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메뉴 구조도 </a:t>
            </a:r>
            <a:r>
              <a:rPr lang="en-US" altLang="ko-KR" dirty="0"/>
              <a:t>– </a:t>
            </a:r>
            <a:r>
              <a:rPr lang="ko-KR" altLang="en-US" dirty="0"/>
              <a:t>사용자 메뉴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CFA37D-FCEF-457E-838D-A6B9850C170C}"/>
              </a:ext>
            </a:extLst>
          </p:cNvPr>
          <p:cNvSpPr/>
          <p:nvPr/>
        </p:nvSpPr>
        <p:spPr bwMode="auto">
          <a:xfrm>
            <a:off x="373485" y="5002455"/>
            <a:ext cx="1586126" cy="2449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사용자 메뉴 항목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69AD5E6B-B849-41F5-A591-D30FFE45EC31}"/>
              </a:ext>
            </a:extLst>
          </p:cNvPr>
          <p:cNvGrpSpPr/>
          <p:nvPr/>
        </p:nvGrpSpPr>
        <p:grpSpPr>
          <a:xfrm>
            <a:off x="373485" y="1114150"/>
            <a:ext cx="6646440" cy="3652581"/>
            <a:chOff x="944985" y="1801915"/>
            <a:chExt cx="6646440" cy="3652581"/>
          </a:xfrm>
        </p:grpSpPr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94FB4ADB-D274-4BA1-9FDD-FB854A13CA87}"/>
                </a:ext>
              </a:extLst>
            </p:cNvPr>
            <p:cNvSpPr/>
            <p:nvPr/>
          </p:nvSpPr>
          <p:spPr bwMode="auto">
            <a:xfrm>
              <a:off x="944985" y="1801915"/>
              <a:ext cx="3058690" cy="24497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9525">
              <a:solidFill>
                <a:schemeClr val="tx1">
                  <a:lumMod val="65000"/>
                  <a:lumOff val="35000"/>
                </a:schemeClr>
              </a:solidFill>
            </a:ln>
            <a:effectLst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911896"/>
              <a:r>
                <a:rPr lang="ko-KR" altLang="en-US" sz="12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사용자 드롭다운 메뉴 구조 </a:t>
              </a:r>
            </a:p>
          </p:txBody>
        </p:sp>
        <p:pic>
          <p:nvPicPr>
            <p:cNvPr id="9" name="그림 8">
              <a:extLst>
                <a:ext uri="{FF2B5EF4-FFF2-40B4-BE49-F238E27FC236}">
                  <a16:creationId xmlns:a16="http://schemas.microsoft.com/office/drawing/2014/main" id="{8BC91078-F2C1-4C44-9FA7-26D722FF94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51335" y="2046889"/>
              <a:ext cx="6640090" cy="3407607"/>
            </a:xfrm>
            <a:prstGeom prst="rect">
              <a:avLst/>
            </a:prstGeom>
            <a:ln>
              <a:solidFill>
                <a:schemeClr val="tx1">
                  <a:lumMod val="65000"/>
                  <a:lumOff val="35000"/>
                </a:schemeClr>
              </a:solidFill>
            </a:ln>
          </p:spPr>
        </p:pic>
      </p:grp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1854F88-B540-453B-B8C7-093CBE4A9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1143143"/>
              </p:ext>
            </p:extLst>
          </p:nvPr>
        </p:nvGraphicFramePr>
        <p:xfrm>
          <a:off x="373485" y="5243131"/>
          <a:ext cx="6168496" cy="1257300"/>
        </p:xfrm>
        <a:graphic>
          <a:graphicData uri="http://schemas.openxmlformats.org/drawingml/2006/table">
            <a:tbl>
              <a:tblPr/>
              <a:tblGrid>
                <a:gridCol w="1207029">
                  <a:extLst>
                    <a:ext uri="{9D8B030D-6E8A-4147-A177-3AD203B41FA5}">
                      <a16:colId xmlns:a16="http://schemas.microsoft.com/office/drawing/2014/main" val="3437160282"/>
                    </a:ext>
                  </a:extLst>
                </a:gridCol>
                <a:gridCol w="1151467">
                  <a:extLst>
                    <a:ext uri="{9D8B030D-6E8A-4147-A177-3AD203B41FA5}">
                      <a16:colId xmlns:a16="http://schemas.microsoft.com/office/drawing/2014/main" val="3115025645"/>
                    </a:ext>
                  </a:extLst>
                </a:gridCol>
                <a:gridCol w="2267876">
                  <a:extLst>
                    <a:ext uri="{9D8B030D-6E8A-4147-A177-3AD203B41FA5}">
                      <a16:colId xmlns:a16="http://schemas.microsoft.com/office/drawing/2014/main" val="3332771123"/>
                    </a:ext>
                  </a:extLst>
                </a:gridCol>
                <a:gridCol w="1542124">
                  <a:extLst>
                    <a:ext uri="{9D8B030D-6E8A-4147-A177-3AD203B41FA5}">
                      <a16:colId xmlns:a16="http://schemas.microsoft.com/office/drawing/2014/main" val="1390416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dirty="0"/>
                        <a:t>메뉴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dirty="0"/>
                        <a:t>아이콘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dirty="0"/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dirty="0"/>
                        <a:t>권한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0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50"/>
                        <a:t>설정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톱니바퀴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사용자 설정 모달 열기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모든 사용자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479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50"/>
                        <a:t>아카이브된 채팅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아카이브 박스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아카이브 채팅 목록 모달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모든 사용자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43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50"/>
                        <a:t>관리자 패널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사용자 그룹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관리자 페이지로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관리자만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3663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50"/>
                        <a:t>로그아웃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로그아웃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로그아웃 및 로그인 페이지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모든 사용자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640960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75946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메뉴 구조도 </a:t>
            </a:r>
            <a:r>
              <a:rPr lang="en-US" altLang="ko-KR" dirty="0"/>
              <a:t>– </a:t>
            </a:r>
            <a:r>
              <a:rPr lang="ko-KR" altLang="en-US" dirty="0"/>
              <a:t>채팅 메뉴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CFA37D-FCEF-457E-838D-A6B9850C170C}"/>
              </a:ext>
            </a:extLst>
          </p:cNvPr>
          <p:cNvSpPr/>
          <p:nvPr/>
        </p:nvSpPr>
        <p:spPr bwMode="auto">
          <a:xfrm>
            <a:off x="373485" y="5002455"/>
            <a:ext cx="1586126" cy="2449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채팅 메뉴 항목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FB4ADB-D274-4BA1-9FDD-FB854A13CA87}"/>
              </a:ext>
            </a:extLst>
          </p:cNvPr>
          <p:cNvSpPr/>
          <p:nvPr/>
        </p:nvSpPr>
        <p:spPr bwMode="auto">
          <a:xfrm>
            <a:off x="373485" y="1114150"/>
            <a:ext cx="1810915" cy="2449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채팅 상단 메뉴 구조</a:t>
            </a:r>
          </a:p>
        </p:txBody>
      </p:sp>
      <p:graphicFrame>
        <p:nvGraphicFramePr>
          <p:cNvPr id="12" name="표 11">
            <a:extLst>
              <a:ext uri="{FF2B5EF4-FFF2-40B4-BE49-F238E27FC236}">
                <a16:creationId xmlns:a16="http://schemas.microsoft.com/office/drawing/2014/main" id="{F1854F88-B540-453B-B8C7-093CBE4A97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329522"/>
              </p:ext>
            </p:extLst>
          </p:nvPr>
        </p:nvGraphicFramePr>
        <p:xfrm>
          <a:off x="373485" y="5247429"/>
          <a:ext cx="8482648" cy="1005840"/>
        </p:xfrm>
        <a:graphic>
          <a:graphicData uri="http://schemas.openxmlformats.org/drawingml/2006/table">
            <a:tbl>
              <a:tblPr/>
              <a:tblGrid>
                <a:gridCol w="1659854">
                  <a:extLst>
                    <a:ext uri="{9D8B030D-6E8A-4147-A177-3AD203B41FA5}">
                      <a16:colId xmlns:a16="http://schemas.microsoft.com/office/drawing/2014/main" val="3437160282"/>
                    </a:ext>
                  </a:extLst>
                </a:gridCol>
                <a:gridCol w="1583447">
                  <a:extLst>
                    <a:ext uri="{9D8B030D-6E8A-4147-A177-3AD203B41FA5}">
                      <a16:colId xmlns:a16="http://schemas.microsoft.com/office/drawing/2014/main" val="3115025645"/>
                    </a:ext>
                  </a:extLst>
                </a:gridCol>
                <a:gridCol w="3118685">
                  <a:extLst>
                    <a:ext uri="{9D8B030D-6E8A-4147-A177-3AD203B41FA5}">
                      <a16:colId xmlns:a16="http://schemas.microsoft.com/office/drawing/2014/main" val="3332771123"/>
                    </a:ext>
                  </a:extLst>
                </a:gridCol>
                <a:gridCol w="2120662">
                  <a:extLst>
                    <a:ext uri="{9D8B030D-6E8A-4147-A177-3AD203B41FA5}">
                      <a16:colId xmlns:a16="http://schemas.microsoft.com/office/drawing/2014/main" val="139041687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dirty="0"/>
                        <a:t>메뉴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dirty="0"/>
                        <a:t>아이콘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dirty="0"/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50" dirty="0"/>
                        <a:t>설명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60401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ko-KR" altLang="en-US" sz="1050"/>
                        <a:t>아카이브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아카이브 박스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채팅 아카이브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현재 채팅을 아카이브로 이동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34796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TXT</a:t>
                      </a:r>
                      <a:r>
                        <a:rPr lang="ko-KR" altLang="en-US" sz="1050"/>
                        <a:t>로 내보내기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클립보드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텍스트 파일 다운로드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채팅 내용을 </a:t>
                      </a:r>
                      <a:r>
                        <a:rPr lang="en-US" altLang="ko-KR" sz="1050"/>
                        <a:t>.txt </a:t>
                      </a:r>
                      <a:r>
                        <a:rPr lang="ko-KR" altLang="en-US" sz="1050"/>
                        <a:t>파일로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814376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US" sz="1050"/>
                        <a:t>PDF</a:t>
                      </a:r>
                      <a:r>
                        <a:rPr lang="ko-KR" altLang="en-US" sz="1050"/>
                        <a:t>로 내보내기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/>
                        <a:t>클립보드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altLang="ko-KR" sz="1050"/>
                        <a:t>PDF </a:t>
                      </a:r>
                      <a:r>
                        <a:rPr lang="ko-KR" altLang="en-US" sz="1050"/>
                        <a:t>파일 다운로드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ko-KR" altLang="en-US" sz="1050" dirty="0"/>
                        <a:t>채팅 내용을 </a:t>
                      </a:r>
                      <a:r>
                        <a:rPr lang="en-US" altLang="ko-KR" sz="1050" dirty="0"/>
                        <a:t>.pdf </a:t>
                      </a:r>
                      <a:r>
                        <a:rPr lang="ko-KR" altLang="en-US" sz="1050" dirty="0"/>
                        <a:t>파일로 저장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14366326"/>
                  </a:ext>
                </a:extLst>
              </a:tr>
            </a:tbl>
          </a:graphicData>
        </a:graphic>
      </p:graphicFrame>
      <p:pic>
        <p:nvPicPr>
          <p:cNvPr id="6" name="그림 5">
            <a:extLst>
              <a:ext uri="{FF2B5EF4-FFF2-40B4-BE49-F238E27FC236}">
                <a16:creationId xmlns:a16="http://schemas.microsoft.com/office/drawing/2014/main" id="{DA715031-4E55-400E-9029-21936FC10E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3485" y="1359124"/>
            <a:ext cx="3385715" cy="3397807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779424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메뉴 구조도 </a:t>
            </a:r>
            <a:r>
              <a:rPr lang="en-US" altLang="ko-KR" dirty="0"/>
              <a:t>– </a:t>
            </a:r>
            <a:r>
              <a:rPr lang="ko-KR" altLang="en-US" dirty="0"/>
              <a:t>검색 </a:t>
            </a:r>
            <a:r>
              <a:rPr lang="ko-KR" altLang="en-US" dirty="0" err="1"/>
              <a:t>모달</a:t>
            </a:r>
            <a:r>
              <a:rPr lang="en-US" altLang="ko-KR" dirty="0"/>
              <a:t>/</a:t>
            </a:r>
            <a:r>
              <a:rPr lang="ko-KR" altLang="en-US" dirty="0"/>
              <a:t>노트 페이지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4CFA37D-FCEF-457E-838D-A6B9850C170C}"/>
              </a:ext>
            </a:extLst>
          </p:cNvPr>
          <p:cNvSpPr/>
          <p:nvPr/>
        </p:nvSpPr>
        <p:spPr bwMode="auto">
          <a:xfrm>
            <a:off x="3679371" y="1114150"/>
            <a:ext cx="1586126" cy="2449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노트 메뉴 구조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94FB4ADB-D274-4BA1-9FDD-FB854A13CA87}"/>
              </a:ext>
            </a:extLst>
          </p:cNvPr>
          <p:cNvSpPr/>
          <p:nvPr/>
        </p:nvSpPr>
        <p:spPr bwMode="auto">
          <a:xfrm>
            <a:off x="373486" y="1114150"/>
            <a:ext cx="1252114" cy="24497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9525">
            <a:solidFill>
              <a:schemeClr val="tx1">
                <a:lumMod val="65000"/>
                <a:lumOff val="35000"/>
              </a:schemeClr>
            </a:solidFill>
          </a:ln>
          <a:effectLst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1896"/>
            <a:r>
              <a:rPr lang="ko-KR" altLang="en-US" sz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검색 기능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619543F-FCFF-42EE-BDDA-C4A0D4AA64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950" y="1350658"/>
            <a:ext cx="1760116" cy="4982022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4A41E26-671A-452B-B751-4E3C0891DB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838" y="1367590"/>
            <a:ext cx="4245429" cy="4992864"/>
          </a:xfrm>
          <a:prstGeom prst="rect">
            <a:avLst/>
          </a:prstGeom>
          <a:ln>
            <a:solidFill>
              <a:schemeClr val="tx1">
                <a:lumMod val="65000"/>
                <a:lumOff val="3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263013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시퀀스 다이어그램 </a:t>
            </a:r>
            <a:r>
              <a:rPr lang="en-US" altLang="ko-KR" dirty="0"/>
              <a:t>- </a:t>
            </a:r>
            <a:r>
              <a:rPr lang="ko-KR" altLang="en-US" dirty="0"/>
              <a:t>로그인 시퀀스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BDA96A78-6EDD-4A1A-9A50-9CFE5D98EB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0761" y="995026"/>
            <a:ext cx="5417464" cy="5609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69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시퀀스 다이어그램 </a:t>
            </a:r>
            <a:r>
              <a:rPr lang="en-US" altLang="ko-KR" dirty="0"/>
              <a:t>– </a:t>
            </a:r>
            <a:r>
              <a:rPr lang="ko-KR" altLang="en-US" dirty="0"/>
              <a:t>문서기반 답변 </a:t>
            </a:r>
            <a:r>
              <a:rPr lang="en-US" altLang="ko-KR" dirty="0"/>
              <a:t>(RAG) </a:t>
            </a:r>
            <a:r>
              <a:rPr lang="ko-KR" altLang="en-US" dirty="0"/>
              <a:t>시퀀스 </a:t>
            </a:r>
            <a:r>
              <a:rPr lang="en-US" altLang="ko-KR" dirty="0"/>
              <a:t>(1/2)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16F52F-6439-4BC1-A1F8-6B6D70D7FA0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" b="45682"/>
          <a:stretch/>
        </p:blipFill>
        <p:spPr>
          <a:xfrm>
            <a:off x="403056" y="972968"/>
            <a:ext cx="9099888" cy="5469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464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시퀀스 다이어그램 </a:t>
            </a:r>
            <a:r>
              <a:rPr lang="en-US" altLang="ko-KR" dirty="0"/>
              <a:t>– </a:t>
            </a:r>
            <a:r>
              <a:rPr lang="ko-KR" altLang="en-US" dirty="0"/>
              <a:t>문서기반 답변 </a:t>
            </a:r>
            <a:r>
              <a:rPr lang="en-US" altLang="ko-KR" dirty="0"/>
              <a:t>(RAG) </a:t>
            </a:r>
            <a:r>
              <a:rPr lang="ko-KR" altLang="en-US" dirty="0"/>
              <a:t>시퀀스 </a:t>
            </a:r>
            <a:r>
              <a:rPr lang="en-US" altLang="ko-KR" dirty="0"/>
              <a:t>(2/2)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AAC7FDD3-252F-4E58-954A-9341F58E5BF1}"/>
              </a:ext>
            </a:extLst>
          </p:cNvPr>
          <p:cNvGrpSpPr/>
          <p:nvPr/>
        </p:nvGrpSpPr>
        <p:grpSpPr>
          <a:xfrm>
            <a:off x="301756" y="1069154"/>
            <a:ext cx="9239146" cy="5215988"/>
            <a:chOff x="763498" y="1069154"/>
            <a:chExt cx="8565282" cy="4719692"/>
          </a:xfrm>
        </p:grpSpPr>
        <p:pic>
          <p:nvPicPr>
            <p:cNvPr id="6" name="그림 5">
              <a:extLst>
                <a:ext uri="{FF2B5EF4-FFF2-40B4-BE49-F238E27FC236}">
                  <a16:creationId xmlns:a16="http://schemas.microsoft.com/office/drawing/2014/main" id="{3216F52F-6439-4BC1-A1F8-6B6D70D7FA0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" b="94808"/>
            <a:stretch/>
          </p:blipFill>
          <p:spPr>
            <a:xfrm>
              <a:off x="763498" y="1069154"/>
              <a:ext cx="8565282" cy="492017"/>
            </a:xfrm>
            <a:prstGeom prst="rect">
              <a:avLst/>
            </a:prstGeom>
          </p:spPr>
        </p:pic>
        <p:pic>
          <p:nvPicPr>
            <p:cNvPr id="7" name="그림 6">
              <a:extLst>
                <a:ext uri="{FF2B5EF4-FFF2-40B4-BE49-F238E27FC236}">
                  <a16:creationId xmlns:a16="http://schemas.microsoft.com/office/drawing/2014/main" id="{ECE807BC-71DC-4B13-BFF8-A70FAC65BD4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4363" b="1031"/>
            <a:stretch/>
          </p:blipFill>
          <p:spPr>
            <a:xfrm>
              <a:off x="763498" y="1561171"/>
              <a:ext cx="8565282" cy="42276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4859559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시퀀스 다이어그램 </a:t>
            </a:r>
            <a:r>
              <a:rPr lang="en-US" altLang="ko-KR" dirty="0"/>
              <a:t>– </a:t>
            </a:r>
            <a:r>
              <a:rPr lang="ko-KR" altLang="en-US" dirty="0"/>
              <a:t>데이터 분석</a:t>
            </a:r>
            <a:r>
              <a:rPr lang="en-US" altLang="ko-KR" dirty="0"/>
              <a:t>(AUTO) </a:t>
            </a:r>
            <a:r>
              <a:rPr lang="ko-KR" altLang="en-US" dirty="0"/>
              <a:t>시퀀스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E9CC491-CF5E-450B-8609-70C35BA8C0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4946" y="972968"/>
            <a:ext cx="7036150" cy="5782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99787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시퀀스 다이어그램 </a:t>
            </a:r>
            <a:r>
              <a:rPr lang="en-US" altLang="ko-KR" dirty="0"/>
              <a:t>– </a:t>
            </a:r>
            <a:r>
              <a:rPr lang="ko-KR" altLang="en-US" dirty="0"/>
              <a:t>노트 작성 및 저장 시퀀스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970129F-EA69-42F1-92FC-7F078CC4F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50" y="972968"/>
            <a:ext cx="4901659" cy="5609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4899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258C2F1-D6B4-4134-8EE5-D663A9AC6C9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시퀀스 다이어그램 </a:t>
            </a:r>
            <a:r>
              <a:rPr lang="en-US" altLang="ko-KR" dirty="0"/>
              <a:t>– </a:t>
            </a:r>
            <a:r>
              <a:rPr lang="ko-KR" altLang="en-US" dirty="0"/>
              <a:t>검색 시퀀스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A772EA6F-92C6-43BA-A4F7-51FE32E93D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UI/UX </a:t>
            </a:r>
            <a:r>
              <a:rPr lang="ko-KR" altLang="en-US" dirty="0"/>
              <a:t>정의서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3E0BEDE-CD5F-4C9A-80B4-86744D2F056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DEC8C91-50EB-448D-86BF-72DAF15DE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08" y="1069154"/>
            <a:ext cx="6558422" cy="5302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90602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50570101"/>
      </p:ext>
    </p:extLst>
  </p:cSld>
  <p:clrMapOvr>
    <a:masterClrMapping/>
  </p:clrMapOvr>
</p:sld>
</file>

<file path=ppt/theme/theme1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245042</TotalTime>
  <Words>604</Words>
  <Application>Microsoft Office PowerPoint</Application>
  <PresentationFormat>A4 용지(210x297mm)</PresentationFormat>
  <Paragraphs>176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6" baseType="lpstr">
      <vt:lpstr>굴림</vt:lpstr>
      <vt:lpstr>맑은 고딕</vt:lpstr>
      <vt:lpstr>Arial</vt:lpstr>
      <vt:lpstr>Times New Roman</vt:lpstr>
      <vt:lpstr>Wingdings</vt:lpstr>
      <vt:lpstr>2_디자인 사용자 지정</vt:lpstr>
      <vt:lpstr>UI/UX 정의서</vt:lpstr>
      <vt:lpstr>UI/UX 정의서</vt:lpstr>
      <vt:lpstr>UI/UX 정의서</vt:lpstr>
      <vt:lpstr>UI/UX 정의서</vt:lpstr>
      <vt:lpstr>UI/UX 정의서</vt:lpstr>
      <vt:lpstr>UI/UX 정의서</vt:lpstr>
      <vt:lpstr>UI/UX 정의서</vt:lpstr>
      <vt:lpstr>UI/UX 정의서</vt:lpstr>
      <vt:lpstr>UI/UX 정의서</vt:lpstr>
      <vt:lpstr>UI/UX 정의서</vt:lpstr>
      <vt:lpstr>UI/UX 정의서</vt:lpstr>
      <vt:lpstr>UI/UX 정의서</vt:lpstr>
      <vt:lpstr>UI/UX 정의서</vt:lpstr>
      <vt:lpstr>UI/UX 정의서</vt:lpstr>
      <vt:lpstr>UI/UX 정의서</vt:lpstr>
      <vt:lpstr>UI/UX 정의서</vt:lpstr>
      <vt:lpstr>UI/UX 정의서</vt:lpstr>
      <vt:lpstr>UI/UX 정의서</vt:lpstr>
      <vt:lpstr>UI/UX 정의서</vt:lpstr>
      <vt:lpstr>PowerPoint 프레젠테이션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ECMINER</cp:lastModifiedBy>
  <cp:revision>6421</cp:revision>
  <cp:lastPrinted>2023-01-11T02:39:52Z</cp:lastPrinted>
  <dcterms:created xsi:type="dcterms:W3CDTF">2011-12-28T05:39:44Z</dcterms:created>
  <dcterms:modified xsi:type="dcterms:W3CDTF">2026-01-30T05:25:17Z</dcterms:modified>
</cp:coreProperties>
</file>