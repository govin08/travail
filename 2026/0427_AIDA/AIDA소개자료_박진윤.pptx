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18" r:id="rId1"/>
  </p:sldMasterIdLst>
  <p:notesMasterIdLst>
    <p:notesMasterId r:id="rId14"/>
  </p:notesMasterIdLst>
  <p:handoutMasterIdLst>
    <p:handoutMasterId r:id="rId15"/>
  </p:handoutMasterIdLst>
  <p:sldIdLst>
    <p:sldId id="10173" r:id="rId2"/>
    <p:sldId id="3557" r:id="rId3"/>
    <p:sldId id="10181" r:id="rId4"/>
    <p:sldId id="10185" r:id="rId5"/>
    <p:sldId id="10190" r:id="rId6"/>
    <p:sldId id="10186" r:id="rId7"/>
    <p:sldId id="10182" r:id="rId8"/>
    <p:sldId id="10188" r:id="rId9"/>
    <p:sldId id="10187" r:id="rId10"/>
    <p:sldId id="10189" r:id="rId11"/>
    <p:sldId id="10183" r:id="rId12"/>
    <p:sldId id="10036" r:id="rId13"/>
  </p:sldIdLst>
  <p:sldSz cx="9906000" cy="6858000" type="A4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521415D9-36F7-43E2-AB2F-B90AF26B5E84}">
      <p14:sectionLst xmlns:p14="http://schemas.microsoft.com/office/powerpoint/2010/main">
        <p14:section name="제목 없는 구역" id="{25A992EB-2417-49BA-A059-E60352786C7E}">
          <p14:sldIdLst>
            <p14:sldId id="10173"/>
            <p14:sldId id="3557"/>
            <p14:sldId id="10181"/>
            <p14:sldId id="10185"/>
            <p14:sldId id="10190"/>
            <p14:sldId id="10186"/>
            <p14:sldId id="10182"/>
          </p14:sldIdLst>
        </p14:section>
        <p14:section name="일반자료" id="{EF56D375-D493-468A-A513-DFF04F2E2024}">
          <p14:sldIdLst>
            <p14:sldId id="10188"/>
            <p14:sldId id="10187"/>
            <p14:sldId id="10189"/>
            <p14:sldId id="10183"/>
            <p14:sldId id="10036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4133" userDrawn="1">
          <p15:clr>
            <a:srgbClr val="A4A3A4"/>
          </p15:clr>
        </p15:guide>
        <p15:guide id="5" orient="horz" pos="5" userDrawn="1">
          <p15:clr>
            <a:srgbClr val="A4A3A4"/>
          </p15:clr>
        </p15:guide>
        <p15:guide id="6" orient="horz" pos="187" userDrawn="1">
          <p15:clr>
            <a:srgbClr val="A4A3A4"/>
          </p15:clr>
        </p15:guide>
        <p15:guide id="8" pos="6046" userDrawn="1">
          <p15:clr>
            <a:srgbClr val="A4A3A4"/>
          </p15:clr>
        </p15:guide>
        <p15:guide id="9" pos="3143" userDrawn="1">
          <p15:clr>
            <a:srgbClr val="A4A3A4"/>
          </p15:clr>
        </p15:guide>
        <p15:guide id="10" pos="149" userDrawn="1">
          <p15:clr>
            <a:srgbClr val="A4A3A4"/>
          </p15:clr>
        </p15:guide>
        <p15:guide id="14" pos="81" userDrawn="1">
          <p15:clr>
            <a:srgbClr val="A4A3A4"/>
          </p15:clr>
        </p15:guide>
        <p15:guide id="15" orient="horz" pos="618" userDrawn="1">
          <p15:clr>
            <a:srgbClr val="A4A3A4"/>
          </p15:clr>
        </p15:guide>
        <p15:guide id="16" orient="horz" pos="391" userDrawn="1">
          <p15:clr>
            <a:srgbClr val="A4A3A4"/>
          </p15:clr>
        </p15:guide>
        <p15:guide id="17" orient="horz" pos="3113" userDrawn="1">
          <p15:clr>
            <a:srgbClr val="A4A3A4"/>
          </p15:clr>
        </p15:guide>
        <p15:guide id="19" orient="horz" pos="2364" userDrawn="1">
          <p15:clr>
            <a:srgbClr val="A4A3A4"/>
          </p15:clr>
        </p15:guide>
        <p15:guide id="20" orient="horz" pos="323" userDrawn="1">
          <p15:clr>
            <a:srgbClr val="A4A3A4"/>
          </p15:clr>
        </p15:guide>
        <p15:guide id="22" pos="6136" userDrawn="1">
          <p15:clr>
            <a:srgbClr val="A4A3A4"/>
          </p15:clr>
        </p15:guide>
        <p15:guide id="23" pos="2893" userDrawn="1">
          <p15:clr>
            <a:srgbClr val="A4A3A4"/>
          </p15:clr>
        </p15:guide>
        <p15:guide id="24" orient="horz" pos="3997" userDrawn="1">
          <p15:clr>
            <a:srgbClr val="A4A3A4"/>
          </p15:clr>
        </p15:guide>
        <p15:guide id="25" orient="horz" pos="1457" userDrawn="1">
          <p15:clr>
            <a:srgbClr val="A4A3A4"/>
          </p15:clr>
        </p15:guide>
        <p15:guide id="26" pos="5411" userDrawn="1">
          <p15:clr>
            <a:srgbClr val="A4A3A4"/>
          </p15:clr>
        </p15:guide>
        <p15:guide id="27" pos="1737" userDrawn="1">
          <p15:clr>
            <a:srgbClr val="A4A3A4"/>
          </p15:clr>
        </p15:guide>
        <p15:guide id="28" pos="2417" userDrawn="1">
          <p15:clr>
            <a:srgbClr val="A4A3A4"/>
          </p15:clr>
        </p15:guide>
        <p15:guide id="29" orient="horz" pos="1049" userDrawn="1">
          <p15:clr>
            <a:srgbClr val="A4A3A4"/>
          </p15:clr>
        </p15:guide>
        <p15:guide id="30" orient="horz" pos="1117" userDrawn="1">
          <p15:clr>
            <a:srgbClr val="A4A3A4"/>
          </p15:clr>
        </p15:guide>
        <p15:guide id="31" pos="2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E7F6FF"/>
    <a:srgbClr val="FFFF99"/>
    <a:srgbClr val="00FF00"/>
    <a:srgbClr val="FF6600"/>
    <a:srgbClr val="F38F15"/>
    <a:srgbClr val="00CCFF"/>
    <a:srgbClr val="1F497B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1" autoAdjust="0"/>
    <p:restoredTop sz="96238" autoAdjust="0"/>
  </p:normalViewPr>
  <p:slideViewPr>
    <p:cSldViewPr snapToGrid="0" snapToObjects="1" showGuides="1">
      <p:cViewPr varScale="1">
        <p:scale>
          <a:sx n="107" d="100"/>
          <a:sy n="107" d="100"/>
        </p:scale>
        <p:origin x="820" y="60"/>
      </p:cViewPr>
      <p:guideLst>
        <p:guide orient="horz" pos="4133"/>
        <p:guide orient="horz" pos="5"/>
        <p:guide orient="horz" pos="187"/>
        <p:guide pos="6046"/>
        <p:guide pos="3143"/>
        <p:guide pos="149"/>
        <p:guide pos="81"/>
        <p:guide orient="horz" pos="618"/>
        <p:guide orient="horz" pos="391"/>
        <p:guide orient="horz" pos="3113"/>
        <p:guide orient="horz" pos="2364"/>
        <p:guide orient="horz" pos="323"/>
        <p:guide pos="6136"/>
        <p:guide pos="2893"/>
        <p:guide orient="horz" pos="3997"/>
        <p:guide orient="horz" pos="1457"/>
        <p:guide pos="5411"/>
        <p:guide pos="1737"/>
        <p:guide pos="2417"/>
        <p:guide orient="horz" pos="1049"/>
        <p:guide orient="horz" pos="1117"/>
        <p:guide pos="2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92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127"/>
        <p:guide pos="213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7" y="7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95" tIns="45798" rIns="91595" bIns="45798" numCol="1" anchor="t" anchorCtr="0" compatLnSpc="1">
            <a:prstTxWarp prst="textNoShape">
              <a:avLst/>
            </a:prstTxWarp>
          </a:bodyPr>
          <a:lstStyle>
            <a:lvl1pPr defTabSz="913889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771" y="7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95" tIns="45798" rIns="91595" bIns="45798" numCol="1" anchor="t" anchorCtr="0" compatLnSpc="1">
            <a:prstTxWarp prst="textNoShape">
              <a:avLst/>
            </a:prstTxWarp>
          </a:bodyPr>
          <a:lstStyle>
            <a:lvl1pPr algn="r" defTabSz="913889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7" y="9430309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95" tIns="45798" rIns="91595" bIns="45798" numCol="1" anchor="b" anchorCtr="0" compatLnSpc="1">
            <a:prstTxWarp prst="textNoShape">
              <a:avLst/>
            </a:prstTxWarp>
          </a:bodyPr>
          <a:lstStyle>
            <a:lvl1pPr defTabSz="913889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771" y="9430309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95" tIns="45798" rIns="91595" bIns="45798" numCol="1" anchor="b" anchorCtr="0" compatLnSpc="1">
            <a:prstTxWarp prst="textNoShape">
              <a:avLst/>
            </a:prstTxWarp>
          </a:bodyPr>
          <a:lstStyle>
            <a:lvl1pPr algn="r" defTabSz="913889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8659" tIns="44334" rIns="88659" bIns="44334" numCol="1" anchor="t" anchorCtr="0" compatLnSpc="1">
            <a:prstTxWarp prst="textNoShape">
              <a:avLst/>
            </a:prstTxWarp>
          </a:bodyPr>
          <a:lstStyle>
            <a:lvl1pPr defTabSz="884656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734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8659" tIns="44334" rIns="88659" bIns="44334" numCol="1" anchor="t" anchorCtr="0" compatLnSpc="1">
            <a:prstTxWarp prst="textNoShape">
              <a:avLst/>
            </a:prstTxWarp>
          </a:bodyPr>
          <a:lstStyle>
            <a:lvl1pPr algn="r" defTabSz="884656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4375" y="723900"/>
            <a:ext cx="5440363" cy="3767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234" y="4732654"/>
            <a:ext cx="5035493" cy="448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8659" tIns="44334" rIns="88659" bIns="443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460532"/>
            <a:ext cx="2918611" cy="480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8659" tIns="44334" rIns="88659" bIns="44334" numCol="1" anchor="b" anchorCtr="0" compatLnSpc="1">
            <a:prstTxWarp prst="textNoShape">
              <a:avLst/>
            </a:prstTxWarp>
          </a:bodyPr>
          <a:lstStyle>
            <a:lvl1pPr defTabSz="884656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734" y="9460532"/>
            <a:ext cx="2918611" cy="480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8659" tIns="44334" rIns="88659" bIns="44334" numCol="1" anchor="b" anchorCtr="0" compatLnSpc="1">
            <a:prstTxWarp prst="textNoShape">
              <a:avLst/>
            </a:prstTxWarp>
          </a:bodyPr>
          <a:lstStyle>
            <a:lvl1pPr algn="r" defTabSz="884656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285" y="6364091"/>
            <a:ext cx="1722052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8" descr="logo_goodmark_%5b245%5d">
            <a:extLst>
              <a:ext uri="{FF2B5EF4-FFF2-40B4-BE49-F238E27FC236}">
                <a16:creationId xmlns:a16="http://schemas.microsoft.com/office/drawing/2014/main" id="{1934DBAA-C187-4B71-BC05-DBE92E855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A8B6B62-1260-49DF-A155-60E561593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2054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EC38CF-E0DA-4E4F-8879-1DB4A59C6FEA}"/>
              </a:ext>
            </a:extLst>
          </p:cNvPr>
          <p:cNvSpPr txBox="1">
            <a:spLocks/>
          </p:cNvSpPr>
          <p:nvPr userDrawn="1"/>
        </p:nvSpPr>
        <p:spPr>
          <a:xfrm>
            <a:off x="554082" y="188574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  <a:cs typeface="한컴돋움" pitchFamily="18" charset="2"/>
              </a:rPr>
              <a:t>CONTENTS</a:t>
            </a:r>
            <a:endParaRPr lang="ko-KR" altLang="en-US" b="1" dirty="0">
              <a:solidFill>
                <a:schemeClr val="bg1"/>
              </a:solidFill>
              <a:latin typeface="+mn-ea"/>
              <a:cs typeface="한컴돋움" pitchFamily="18" charset="2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314B1-2864-4E0A-A4EA-09072E8A1F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22091" y="1997810"/>
            <a:ext cx="4733230" cy="3571718"/>
          </a:xfrm>
          <a:prstGeom prst="rect">
            <a:avLst/>
          </a:prstGeom>
        </p:spPr>
        <p:txBody>
          <a:bodyPr anchor="t"/>
          <a:lstStyle>
            <a:lvl1pPr marL="360363" indent="-360363" algn="l" rtl="0" fontAlgn="base" latinLnBrk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  <a:defRPr kumimoji="1" lang="ko-KR" altLang="en-US" sz="28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1028700" indent="-571500">
              <a:buFont typeface="+mj-lt"/>
              <a:buAutoNum type="romanUcPeriod"/>
              <a:defRPr/>
            </a:lvl2pPr>
            <a:lvl3pPr marL="1428750" indent="-514350">
              <a:buFont typeface="+mj-lt"/>
              <a:buAutoNum type="romanUcPeriod"/>
              <a:defRPr/>
            </a:lvl3pPr>
            <a:lvl4pPr marL="1885950" indent="-514350">
              <a:buFont typeface="+mj-lt"/>
              <a:buAutoNum type="romanUcPeriod"/>
              <a:defRPr/>
            </a:lvl4pPr>
            <a:lvl5pPr marL="2343150" indent="-514350">
              <a:buFont typeface="+mj-lt"/>
              <a:buAutoNum type="romanUcPeriod"/>
              <a:defRPr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2059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I</a:t>
            </a:r>
            <a:r>
              <a:rPr lang="en-US" altLang="ko-KR"/>
              <a:t>. 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3405" y="2295122"/>
            <a:ext cx="657011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6772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소주제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>
                <a:latin typeface="맑은 고딕"/>
                <a:ea typeface="맑은 고딕"/>
              </a:rPr>
              <a:t>Copyright 2026. 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0128D37-A361-89C1-A3C2-2EDD7FC9D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058" y="6588750"/>
            <a:ext cx="939299" cy="216000"/>
          </a:xfrm>
          <a:prstGeom prst="rect">
            <a:avLst/>
          </a:prstGeom>
        </p:spPr>
      </p:pic>
      <p:sp>
        <p:nvSpPr>
          <p:cNvPr id="4" name="텍스트 개체 틀 21">
            <a:extLst>
              <a:ext uri="{FF2B5EF4-FFF2-40B4-BE49-F238E27FC236}">
                <a16:creationId xmlns:a16="http://schemas.microsoft.com/office/drawing/2014/main" id="{BD78518C-834A-5AF2-4524-74D3FB2ACC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2309" y="989131"/>
            <a:ext cx="9287718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7151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>
                <a:latin typeface="맑은 고딕"/>
                <a:ea typeface="맑은 고딕"/>
              </a:rPr>
              <a:t>Copyright 2026. 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5309" y="603030"/>
            <a:ext cx="9454718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6F960B-CEE0-D95F-65F1-DB660F57F9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058" y="6588750"/>
            <a:ext cx="939299" cy="216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2376BEE-584E-E7FD-D0C2-C61C539AEA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sp>
        <p:nvSpPr>
          <p:cNvPr id="6" name="제목 9">
            <a:extLst>
              <a:ext uri="{FF2B5EF4-FFF2-40B4-BE49-F238E27FC236}">
                <a16:creationId xmlns:a16="http://schemas.microsoft.com/office/drawing/2014/main" id="{FC6B86DD-9A44-AC4F-FD5A-41A61F65D8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9E3C3F7A-F6D8-D82B-1D4F-ED65579C69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5996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733086" y="4536505"/>
            <a:ext cx="4056451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㈜이씨마이너</a:t>
            </a:r>
            <a:endParaRPr lang="en-US" altLang="ko-KR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en-US" altLang="ko-KR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서울특별시 </a:t>
            </a:r>
            <a:r>
              <a:rPr lang="ko-KR" altLang="en-US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강남구 논현로 </a:t>
            </a:r>
            <a:r>
              <a:rPr lang="en-US" altLang="ko-KR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54, </a:t>
            </a:r>
            <a:r>
              <a:rPr lang="ko-KR" altLang="en-US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덕원빌딩 </a:t>
            </a:r>
            <a:r>
              <a:rPr lang="en-US" altLang="ko-KR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  <a:endParaRPr lang="en-US" altLang="ko-KR" sz="1200" b="1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</a:t>
            </a:r>
            <a:r>
              <a:rPr lang="ko-KR" altLang="en-US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46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5"/>
          <p:cNvSpPr>
            <a:spLocks noGrp="1"/>
          </p:cNvSpPr>
          <p:nvPr>
            <p:ph type="body" sz="quarter" idx="14"/>
          </p:nvPr>
        </p:nvSpPr>
        <p:spPr>
          <a:xfrm>
            <a:off x="344489" y="6580398"/>
            <a:ext cx="4212468" cy="188913"/>
          </a:xfrm>
          <a:prstGeom prst="rect">
            <a:avLst/>
          </a:prstGeom>
          <a:noFill/>
        </p:spPr>
        <p:txBody>
          <a:bodyPr lIns="0" tIns="36000" rIns="0" bIns="0" anchor="t"/>
          <a:lstStyle>
            <a:lvl1pPr marL="171450" indent="-171450" algn="l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A61B38"/>
              </a:buClr>
              <a:buSzPct val="110000"/>
              <a:buFont typeface="Arial" panose="020B0604020202020204" pitchFamily="34" charset="0"/>
              <a:buNone/>
              <a:defRPr kumimoji="1" lang="ko-KR" altLang="en-US" sz="800" b="0" kern="1200" spc="0" dirty="0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/>
            <a:endParaRPr lang="ko-KR" altLang="en-US" dirty="0"/>
          </a:p>
        </p:txBody>
      </p:sp>
      <p:sp>
        <p:nvSpPr>
          <p:cNvPr id="16" name="직사각형 15"/>
          <p:cNvSpPr/>
          <p:nvPr userDrawn="1"/>
        </p:nvSpPr>
        <p:spPr bwMode="auto">
          <a:xfrm>
            <a:off x="0" y="0"/>
            <a:ext cx="9906000" cy="512676"/>
          </a:xfrm>
          <a:prstGeom prst="rect">
            <a:avLst/>
          </a:prstGeom>
          <a:solidFill>
            <a:srgbClr val="E8E8E8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200" b="0" kern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23" name="제목 1"/>
          <p:cNvSpPr>
            <a:spLocks noGrp="1"/>
          </p:cNvSpPr>
          <p:nvPr>
            <p:ph type="title"/>
          </p:nvPr>
        </p:nvSpPr>
        <p:spPr>
          <a:xfrm>
            <a:off x="956556" y="483948"/>
            <a:ext cx="8604958" cy="488564"/>
          </a:xfrm>
          <a:prstGeom prst="rect">
            <a:avLst/>
          </a:prstGeom>
        </p:spPr>
        <p:txBody>
          <a:bodyPr lIns="0" rIns="0"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0" lang="ko-KR" altLang="en-US" sz="2000" b="1" kern="0" dirty="0">
                <a:ln>
                  <a:solidFill>
                    <a:schemeClr val="tx1">
                      <a:lumMod val="95000"/>
                      <a:lumOff val="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26" name="오각형 25"/>
          <p:cNvSpPr/>
          <p:nvPr userDrawn="1"/>
        </p:nvSpPr>
        <p:spPr bwMode="auto">
          <a:xfrm>
            <a:off x="0" y="508594"/>
            <a:ext cx="884548" cy="399456"/>
          </a:xfrm>
          <a:prstGeom prst="homePlate">
            <a:avLst>
              <a:gd name="adj" fmla="val 38466"/>
            </a:avLst>
          </a:prstGeom>
          <a:solidFill>
            <a:srgbClr val="BD2227"/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200" b="1" kern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30" name="내용 개체 틀 15"/>
          <p:cNvSpPr>
            <a:spLocks noGrp="1"/>
          </p:cNvSpPr>
          <p:nvPr>
            <p:ph sz="quarter" idx="16" hasCustomPrompt="1"/>
          </p:nvPr>
        </p:nvSpPr>
        <p:spPr>
          <a:xfrm>
            <a:off x="344488" y="470322"/>
            <a:ext cx="423862" cy="488950"/>
          </a:xfrm>
          <a:prstGeom prst="rect">
            <a:avLst/>
          </a:prstGeom>
        </p:spPr>
        <p:txBody>
          <a:bodyPr wrap="none" lIns="0" anchor="ctr"/>
          <a:lstStyle>
            <a:lvl1pPr marL="0" indent="0" algn="ctr">
              <a:buNone/>
              <a:defRPr kumimoji="0" lang="ko-KR" altLang="en-US" sz="2600" b="1" kern="0" spc="-150" dirty="0">
                <a:ln>
                  <a:solidFill>
                    <a:schemeClr val="tx1">
                      <a:lumMod val="95000"/>
                      <a:lumOff val="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117475" lvl="0" indent="-117475">
              <a:spcBef>
                <a:spcPct val="0"/>
              </a:spcBef>
            </a:pPr>
            <a:r>
              <a:rPr lang="en-US" altLang="ko-KR" dirty="0"/>
              <a:t>0</a:t>
            </a:r>
            <a:endParaRPr lang="ko-KR" alt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0" y="901577"/>
            <a:ext cx="9906000" cy="0"/>
          </a:xfrm>
          <a:prstGeom prst="line">
            <a:avLst/>
          </a:prstGeom>
          <a:ln>
            <a:solidFill>
              <a:srgbClr val="BD2227">
                <a:alpha val="7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956556" y="902618"/>
            <a:ext cx="8604956" cy="450850"/>
          </a:xfrm>
          <a:prstGeom prst="rect">
            <a:avLst/>
          </a:prstGeom>
        </p:spPr>
        <p:txBody>
          <a:bodyPr lIns="0" rIns="0" anchor="t"/>
          <a:lstStyle>
            <a:lvl1pPr marL="0" indent="0">
              <a:lnSpc>
                <a:spcPct val="110000"/>
              </a:lnSpc>
              <a:buNone/>
              <a:defRPr kumimoji="0" lang="ko-KR" altLang="en-US" b="0" kern="0" dirty="0">
                <a:ln>
                  <a:solidFill>
                    <a:schemeClr val="tx1">
                      <a:lumMod val="95000"/>
                      <a:lumOff val="5000"/>
                      <a:alpha val="20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117475" lvl="0" indent="-117475" eaLnBrk="1" latinLnBrk="0" hangingPunct="1">
              <a:spcBef>
                <a:spcPct val="0"/>
              </a:spcBef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2779610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수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ChangeArrowheads="1"/>
          </p:cNvSpPr>
          <p:nvPr userDrawn="1"/>
        </p:nvSpPr>
        <p:spPr bwMode="auto">
          <a:xfrm>
            <a:off x="4797199" y="6525344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Text Box 1068"/>
          <p:cNvSpPr txBox="1">
            <a:spLocks noChangeArrowheads="1"/>
          </p:cNvSpPr>
          <p:nvPr userDrawn="1"/>
        </p:nvSpPr>
        <p:spPr bwMode="auto">
          <a:xfrm>
            <a:off x="-1513" y="6525344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Copyright © 2016 ECMiner.com.</a:t>
            </a:r>
            <a:r>
              <a:rPr kumimoji="0" lang="en-US" altLang="ko-KR" sz="700" b="0" i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kumimoji="0" lang="en-US" altLang="ko-KR" sz="7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All rights reserved   |  </a:t>
            </a: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9" name="Rectangle 10">
            <a:extLst>
              <a:ext uri="{FF2B5EF4-FFF2-40B4-BE49-F238E27FC236}">
                <a16:creationId xmlns:a16="http://schemas.microsoft.com/office/drawing/2014/main" id="{0D90DEB9-CEE6-44D9-AB70-4C975554255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108801" y="6579596"/>
            <a:ext cx="168316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fld id="{37F226AA-E3D9-4B58-9784-9482CB9E3ECA}" type="slidenum"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pPr algn="ctr" eaLnBrk="1" latinLnBrk="1" hangingPunct="1">
                <a:defRPr/>
              </a:pPr>
              <a:t>‹#›</a:t>
            </a:fld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971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2026.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22" y="6579514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59310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소주제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79158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358775" indent="-179388">
              <a:buFont typeface="Arial" panose="020B0604020202020204" pitchFamily="34" charset="0"/>
              <a:buChar char="•"/>
              <a:defRPr sz="1400"/>
            </a:lvl2pPr>
            <a:lvl3pPr marL="542925" indent="-180975">
              <a:buFont typeface="Wingdings" panose="05000000000000000000" pitchFamily="2" charset="2"/>
              <a:buChar char="Ø"/>
              <a:defRPr sz="1400"/>
            </a:lvl3pPr>
          </a:lstStyle>
          <a:p>
            <a:pPr lvl="0"/>
            <a:r>
              <a:rPr lang="ko-KR" altLang="en-US" dirty="0"/>
              <a:t>내용</a:t>
            </a:r>
            <a:r>
              <a:rPr lang="en-US" altLang="ko-KR" dirty="0"/>
              <a:t>1</a:t>
            </a:r>
          </a:p>
          <a:p>
            <a:pPr lvl="1"/>
            <a:r>
              <a:rPr lang="ko-KR" altLang="en-US" dirty="0"/>
              <a:t>내용</a:t>
            </a:r>
            <a:r>
              <a:rPr lang="en-US" altLang="ko-KR" dirty="0"/>
              <a:t>2</a:t>
            </a:r>
          </a:p>
          <a:p>
            <a:pPr lvl="2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</p:spTree>
    <p:extLst>
      <p:ext uri="{BB962C8B-B14F-4D97-AF65-F5344CB8AC3E}">
        <p14:creationId xmlns:p14="http://schemas.microsoft.com/office/powerpoint/2010/main" val="3209950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sp>
        <p:nvSpPr>
          <p:cNvPr id="4" name="Text Box 1068">
            <a:extLst>
              <a:ext uri="{FF2B5EF4-FFF2-40B4-BE49-F238E27FC236}">
                <a16:creationId xmlns:a16="http://schemas.microsoft.com/office/drawing/2014/main" id="{25138A44-918C-435C-B4DD-71A8F9B028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2022. </a:t>
            </a:r>
            <a:r>
              <a:rPr kumimoji="0" lang="en-US" altLang="ko-KR" sz="700" b="0" i="0" dirty="0" err="1">
                <a:latin typeface="맑은 고딕"/>
                <a:ea typeface="맑은 고딕"/>
              </a:rPr>
              <a:t>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402DD9E-BB0C-45F4-8FF7-F8F06A2D572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8D4D2EE-F1E5-4443-ACB4-D768977ACB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058" y="6588750"/>
            <a:ext cx="939299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43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32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118F44-3483-4930-89FE-C8D28C710C00}"/>
              </a:ext>
            </a:extLst>
          </p:cNvPr>
          <p:cNvSpPr txBox="1"/>
          <p:nvPr/>
        </p:nvSpPr>
        <p:spPr>
          <a:xfrm>
            <a:off x="282015" y="1397347"/>
            <a:ext cx="936046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ECMinerAI</a:t>
            </a:r>
            <a:r>
              <a:rPr lang="en-US" altLang="ko-KR" sz="4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™ AIDA </a:t>
            </a:r>
            <a:r>
              <a:rPr lang="ko-KR" altLang="en-US" sz="4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소개</a:t>
            </a:r>
            <a:endParaRPr lang="en-US" altLang="ko-KR" sz="4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(AIDA: Artificial Intelligence Data Analyzer)</a:t>
            </a:r>
            <a:endParaRPr lang="en-US" altLang="ko-KR" sz="4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055CC-78D2-49F1-AAB0-D46A7BA605A3}"/>
              </a:ext>
            </a:extLst>
          </p:cNvPr>
          <p:cNvSpPr txBox="1"/>
          <p:nvPr/>
        </p:nvSpPr>
        <p:spPr>
          <a:xfrm>
            <a:off x="7229125" y="450912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400" dirty="0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</a:rPr>
              <a:t>㈜</a:t>
            </a:r>
            <a:r>
              <a:rPr lang="ko-KR" altLang="en-US" sz="2400" dirty="0" err="1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</a:rPr>
              <a:t>이씨마이너</a:t>
            </a:r>
            <a:endParaRPr lang="en-US" altLang="ko-KR" sz="2400" dirty="0">
              <a:solidFill>
                <a:schemeClr val="bg1"/>
              </a:solidFill>
              <a:latin typeface="+mn-ea"/>
              <a:ea typeface="+mn-ea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148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2">
            <a:extLst>
              <a:ext uri="{FF2B5EF4-FFF2-40B4-BE49-F238E27FC236}">
                <a16:creationId xmlns:a16="http://schemas.microsoft.com/office/drawing/2014/main" id="{91FDD014-3091-4552-BF77-5AA953E95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288" y="654556"/>
            <a:ext cx="9358884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latinLnBrk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 charset="0"/>
              </a:defRPr>
            </a:lvl1pPr>
          </a:lstStyle>
          <a:p>
            <a:pPr latinLnBrk="0">
              <a:spcBef>
                <a:spcPct val="50000"/>
              </a:spcBef>
              <a:buClr>
                <a:srgbClr val="000000"/>
              </a:buClr>
              <a:buFont typeface="Wingdings" pitchFamily="2" charset="2"/>
              <a:buChar char="§"/>
            </a:pPr>
            <a:r>
              <a:rPr lang="en-US" altLang="ko-KR" sz="1600" b="1" dirty="0">
                <a:solidFill>
                  <a:srgbClr val="000000"/>
                </a:solidFill>
                <a:latin typeface="+mn-ea"/>
                <a:ea typeface="+mn-ea"/>
              </a:rPr>
              <a:t>ECMiner™: </a:t>
            </a:r>
            <a:r>
              <a:rPr lang="ko-KR" altLang="en-US" sz="1600" b="1" dirty="0">
                <a:solidFill>
                  <a:srgbClr val="000000"/>
                </a:solidFill>
                <a:latin typeface="+mn-ea"/>
                <a:ea typeface="+mn-ea"/>
              </a:rPr>
              <a:t>멀티미디어 데이터 융합 분석을 위한 통합 분석 플랫폼</a:t>
            </a:r>
            <a:endParaRPr lang="ko-KR" altLang="en-US" sz="1600" b="1" dirty="0">
              <a:solidFill>
                <a:srgbClr val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93E5699-EA4D-4DC7-B9EC-536D7F6680BA}"/>
              </a:ext>
            </a:extLst>
          </p:cNvPr>
          <p:cNvSpPr/>
          <p:nvPr/>
        </p:nvSpPr>
        <p:spPr>
          <a:xfrm>
            <a:off x="424163" y="972490"/>
            <a:ext cx="92160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spcBef>
                <a:spcPct val="20000"/>
              </a:spcBef>
            </a:pP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ECMiner™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은 수치</a:t>
            </a: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, 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텍스트</a:t>
            </a: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, 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이미지</a:t>
            </a: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, 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동영상의 멀티미디어 데이터를 입력으로 받아들여</a:t>
            </a: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, 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통계</a:t>
            </a: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, </a:t>
            </a:r>
            <a:r>
              <a:rPr lang="ko-KR" altLang="en-US" sz="14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데이터마이닝</a:t>
            </a: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, 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빅데이터</a:t>
            </a: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, 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인공지능 등의 </a:t>
            </a:r>
            <a:r>
              <a:rPr lang="ko-KR" altLang="en-US" sz="1400" b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알고리듬을</a:t>
            </a:r>
            <a:r>
              <a:rPr lang="ko-KR" altLang="en-US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활용하여 멀티미디어 데이터 융합 분석을 위한 통합 분석 플랫폼입니다</a:t>
            </a:r>
            <a:r>
              <a:rPr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.</a:t>
            </a:r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13FD2A2B-7A8C-4400-9D04-09B99FC79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81445"/>
            <a:ext cx="9450387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atinLnBrk="0">
              <a:spcBef>
                <a:spcPct val="50000"/>
              </a:spcBef>
              <a:buClr>
                <a:srgbClr val="4D4D4D"/>
              </a:buClr>
              <a:buFont typeface="Arial" charset="0"/>
              <a:buNone/>
            </a:pPr>
            <a:r>
              <a:rPr kumimoji="0" lang="en-US" altLang="ko-KR" sz="2000" dirty="0">
                <a:solidFill>
                  <a:schemeClr val="bg1"/>
                </a:solidFill>
                <a:latin typeface="+mj-lt"/>
                <a:ea typeface="+mn-ea"/>
                <a:cs typeface="Arial" charset="0"/>
              </a:rPr>
              <a:t>ECMiner™ </a:t>
            </a:r>
            <a:r>
              <a:rPr kumimoji="0" lang="ko-KR" altLang="en-US" sz="2000" dirty="0">
                <a:solidFill>
                  <a:schemeClr val="bg1"/>
                </a:solidFill>
                <a:latin typeface="+mj-lt"/>
                <a:ea typeface="+mn-ea"/>
                <a:cs typeface="Arial" charset="0"/>
              </a:rPr>
              <a:t>개요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5CD12EC5-5ECD-33A6-0E4A-29631DEF2ECD}"/>
              </a:ext>
            </a:extLst>
          </p:cNvPr>
          <p:cNvSpPr/>
          <p:nvPr/>
        </p:nvSpPr>
        <p:spPr bwMode="auto">
          <a:xfrm>
            <a:off x="7491631" y="2691073"/>
            <a:ext cx="189796" cy="1894007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AD12E475-A354-0CFB-6528-145F958080B5}"/>
              </a:ext>
            </a:extLst>
          </p:cNvPr>
          <p:cNvSpPr/>
          <p:nvPr/>
        </p:nvSpPr>
        <p:spPr bwMode="auto">
          <a:xfrm>
            <a:off x="1612242" y="2812253"/>
            <a:ext cx="238395" cy="1894007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749DDA6-8424-F78E-6401-B5439D25ABCB}"/>
              </a:ext>
            </a:extLst>
          </p:cNvPr>
          <p:cNvSpPr/>
          <p:nvPr/>
        </p:nvSpPr>
        <p:spPr bwMode="auto">
          <a:xfrm>
            <a:off x="7689303" y="1968077"/>
            <a:ext cx="2016224" cy="2320551"/>
          </a:xfrm>
          <a:prstGeom prst="rect">
            <a:avLst/>
          </a:prstGeom>
          <a:solidFill>
            <a:srgbClr val="1AA0CA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B75C8F97-D804-4D56-35B7-B165944F6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641" y="1922709"/>
            <a:ext cx="5650365" cy="3518576"/>
          </a:xfrm>
          <a:prstGeom prst="rect">
            <a:avLst/>
          </a:prstGeom>
        </p:spPr>
      </p:pic>
      <p:pic>
        <p:nvPicPr>
          <p:cNvPr id="49" name="Picture 3">
            <a:extLst>
              <a:ext uri="{FF2B5EF4-FFF2-40B4-BE49-F238E27FC236}">
                <a16:creationId xmlns:a16="http://schemas.microsoft.com/office/drawing/2014/main" id="{DCA50BD2-3631-3F19-4F32-CE819833336C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8727" y="2620391"/>
            <a:ext cx="1129374" cy="910846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B2FC5844-DA4D-BE66-EF42-0357EEF83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86" y="1752475"/>
            <a:ext cx="1129902" cy="7822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F8F62C06-9424-4443-4FB8-76E1C3FB027F}"/>
              </a:ext>
            </a:extLst>
          </p:cNvPr>
          <p:cNvSpPr txBox="1"/>
          <p:nvPr/>
        </p:nvSpPr>
        <p:spPr>
          <a:xfrm>
            <a:off x="193839" y="6320353"/>
            <a:ext cx="1537600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+mn-ea"/>
                <a:ea typeface="+mn-ea"/>
              </a:rPr>
              <a:t>정형</a:t>
            </a:r>
            <a:r>
              <a:rPr lang="en-US" altLang="ko-KR" sz="1200" b="1" dirty="0">
                <a:latin typeface="+mn-ea"/>
                <a:ea typeface="+mn-ea"/>
              </a:rPr>
              <a:t>/</a:t>
            </a:r>
            <a:r>
              <a:rPr lang="ko-KR" altLang="en-US" sz="1200" b="1" dirty="0">
                <a:latin typeface="+mn-ea"/>
                <a:ea typeface="+mn-ea"/>
              </a:rPr>
              <a:t>비정형 데이터</a:t>
            </a:r>
            <a:endParaRPr lang="en-US" altLang="ko-KR" sz="1200" b="1" dirty="0">
              <a:latin typeface="+mn-ea"/>
              <a:ea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869426-1D7A-8760-F3E6-CCD2D187E336}"/>
              </a:ext>
            </a:extLst>
          </p:cNvPr>
          <p:cNvSpPr txBox="1"/>
          <p:nvPr/>
        </p:nvSpPr>
        <p:spPr>
          <a:xfrm>
            <a:off x="1444073" y="2109416"/>
            <a:ext cx="546946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  <a:ea typeface="+mn-ea"/>
              </a:rPr>
              <a:t>수 치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8DF32D3-5C01-6A3D-5D5D-E5544DCEAC3F}"/>
              </a:ext>
            </a:extLst>
          </p:cNvPr>
          <p:cNvSpPr/>
          <p:nvPr/>
        </p:nvSpPr>
        <p:spPr bwMode="auto">
          <a:xfrm>
            <a:off x="7770168" y="2102666"/>
            <a:ext cx="1872208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400" b="1">
                <a:solidFill>
                  <a:schemeClr val="tx1"/>
                </a:solidFill>
                <a:latin typeface="+mn-ea"/>
              </a:rPr>
              <a:t>예측</a:t>
            </a:r>
            <a:endParaRPr lang="ko-KR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6402BFD-4844-E873-29C3-05FFA3700763}"/>
              </a:ext>
            </a:extLst>
          </p:cNvPr>
          <p:cNvSpPr/>
          <p:nvPr/>
        </p:nvSpPr>
        <p:spPr bwMode="auto">
          <a:xfrm>
            <a:off x="7770738" y="2534714"/>
            <a:ext cx="1872208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패턴인식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분류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군집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524A343-6553-7086-5084-6E7D3D74EFC5}"/>
              </a:ext>
            </a:extLst>
          </p:cNvPr>
          <p:cNvSpPr/>
          <p:nvPr/>
        </p:nvSpPr>
        <p:spPr bwMode="auto">
          <a:xfrm>
            <a:off x="7770738" y="2966762"/>
            <a:ext cx="1872208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연관규칙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CBABB29-A811-EAAD-EA20-0D139E970E43}"/>
              </a:ext>
            </a:extLst>
          </p:cNvPr>
          <p:cNvSpPr/>
          <p:nvPr/>
        </p:nvSpPr>
        <p:spPr bwMode="auto">
          <a:xfrm>
            <a:off x="7771308" y="3398810"/>
            <a:ext cx="1872208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자율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학습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081EEA27-FD48-E520-BC44-B339DE3D5185}"/>
              </a:ext>
            </a:extLst>
          </p:cNvPr>
          <p:cNvSpPr/>
          <p:nvPr/>
        </p:nvSpPr>
        <p:spPr bwMode="auto">
          <a:xfrm>
            <a:off x="7770738" y="3830858"/>
            <a:ext cx="1872208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가시화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정리</a:t>
            </a: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21478095-E40F-A380-B1C2-D62279A97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475" y="5456205"/>
            <a:ext cx="1178257" cy="785564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154775BF-FE28-66E8-D229-A2C1441848F0}"/>
              </a:ext>
            </a:extLst>
          </p:cNvPr>
          <p:cNvSpPr txBox="1"/>
          <p:nvPr/>
        </p:nvSpPr>
        <p:spPr>
          <a:xfrm>
            <a:off x="1424608" y="3094555"/>
            <a:ext cx="646331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  <a:ea typeface="+mn-ea"/>
              </a:rPr>
              <a:t>이미지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08F758FD-8B8B-EF3B-F730-F624EE700D34}"/>
              </a:ext>
            </a:extLst>
          </p:cNvPr>
          <p:cNvGrpSpPr/>
          <p:nvPr/>
        </p:nvGrpSpPr>
        <p:grpSpPr>
          <a:xfrm>
            <a:off x="262738" y="4467259"/>
            <a:ext cx="1790448" cy="805870"/>
            <a:chOff x="264067" y="3609164"/>
            <a:chExt cx="1790448" cy="805870"/>
          </a:xfrm>
        </p:grpSpPr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10A09319-2192-217B-8AEF-E1DE42DFF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4067" y="3609164"/>
              <a:ext cx="1164034" cy="80587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B36636E-D573-11F5-6E0A-9E79F5C74D88}"/>
                </a:ext>
              </a:extLst>
            </p:cNvPr>
            <p:cNvSpPr txBox="1"/>
            <p:nvPr/>
          </p:nvSpPr>
          <p:spPr>
            <a:xfrm>
              <a:off x="1408184" y="3925462"/>
              <a:ext cx="646331" cy="27699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텍스트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B940D2E1-8F18-C156-A8C7-3D15FA4E5867}"/>
              </a:ext>
            </a:extLst>
          </p:cNvPr>
          <p:cNvSpPr txBox="1"/>
          <p:nvPr/>
        </p:nvSpPr>
        <p:spPr>
          <a:xfrm>
            <a:off x="1424936" y="5645710"/>
            <a:ext cx="755335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  <a:ea typeface="+mn-ea"/>
              </a:rPr>
              <a:t>오디오</a:t>
            </a:r>
            <a:endParaRPr lang="en-US" altLang="ko-KR" sz="1200" dirty="0">
              <a:latin typeface="+mn-ea"/>
              <a:ea typeface="+mn-ea"/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1200" dirty="0" err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통합중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C4FFC7D3-BB02-0A21-B795-7782CA2D34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2157" y="5716548"/>
            <a:ext cx="560610" cy="502900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F83EF0B0-871C-BDB9-7997-6E62092F7F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2741" y="5701882"/>
            <a:ext cx="632172" cy="553151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7F8A2552-431A-18AE-3443-6C109A6F50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4316" y="5697389"/>
            <a:ext cx="1265866" cy="528574"/>
          </a:xfrm>
          <a:prstGeom prst="rect">
            <a:avLst/>
          </a:prstGeom>
        </p:spPr>
      </p:pic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70AC9373-9B6C-7099-0327-661B7B0C3C28}"/>
              </a:ext>
            </a:extLst>
          </p:cNvPr>
          <p:cNvCxnSpPr>
            <a:cxnSpLocks/>
          </p:cNvCxnSpPr>
          <p:nvPr/>
        </p:nvCxnSpPr>
        <p:spPr>
          <a:xfrm>
            <a:off x="3232905" y="5428128"/>
            <a:ext cx="1" cy="28106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5495494E-4769-96F4-69FC-14CCAF71239D}"/>
              </a:ext>
            </a:extLst>
          </p:cNvPr>
          <p:cNvCxnSpPr>
            <a:cxnSpLocks/>
          </p:cNvCxnSpPr>
          <p:nvPr/>
        </p:nvCxnSpPr>
        <p:spPr>
          <a:xfrm>
            <a:off x="4820682" y="5405547"/>
            <a:ext cx="1" cy="281068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93B78C4A-2A09-0F97-10FD-55B3D4E9C406}"/>
              </a:ext>
            </a:extLst>
          </p:cNvPr>
          <p:cNvCxnSpPr>
            <a:cxnSpLocks/>
          </p:cNvCxnSpPr>
          <p:nvPr/>
        </p:nvCxnSpPr>
        <p:spPr>
          <a:xfrm>
            <a:off x="6537249" y="5395583"/>
            <a:ext cx="1" cy="281068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4481AC0F-A2E2-962D-99AC-D1591BE237EC}"/>
              </a:ext>
            </a:extLst>
          </p:cNvPr>
          <p:cNvSpPr txBox="1"/>
          <p:nvPr/>
        </p:nvSpPr>
        <p:spPr>
          <a:xfrm>
            <a:off x="3296889" y="5424883"/>
            <a:ext cx="492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+mn-ea"/>
                <a:ea typeface="+mn-ea"/>
              </a:rPr>
              <a:t>연동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6925386-556A-A56B-8387-E22707B1A50D}"/>
              </a:ext>
            </a:extLst>
          </p:cNvPr>
          <p:cNvSpPr txBox="1"/>
          <p:nvPr/>
        </p:nvSpPr>
        <p:spPr>
          <a:xfrm>
            <a:off x="4898444" y="5430162"/>
            <a:ext cx="492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latin typeface="+mn-ea"/>
                <a:ea typeface="+mn-ea"/>
              </a:rPr>
              <a:t>연동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80BEF2F-467D-EE5D-3311-8C0442525DD6}"/>
              </a:ext>
            </a:extLst>
          </p:cNvPr>
          <p:cNvSpPr txBox="1"/>
          <p:nvPr/>
        </p:nvSpPr>
        <p:spPr>
          <a:xfrm>
            <a:off x="6687941" y="5432850"/>
            <a:ext cx="492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  <a:ea typeface="+mn-ea"/>
              </a:rPr>
              <a:t>연동</a:t>
            </a:r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E16981CF-10E5-008D-A15A-DA01DA3A0A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9303" y="4448419"/>
            <a:ext cx="2016225" cy="1114963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4B973F50-67D0-9BB5-5AB8-CCD91AA12AD8}"/>
              </a:ext>
            </a:extLst>
          </p:cNvPr>
          <p:cNvSpPr txBox="1"/>
          <p:nvPr/>
        </p:nvSpPr>
        <p:spPr>
          <a:xfrm>
            <a:off x="7523061" y="5654016"/>
            <a:ext cx="2348720" cy="461665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+mn-ea"/>
                <a:ea typeface="+mn-ea"/>
              </a:rPr>
              <a:t>실시간 지능형 모니터링 시스템</a:t>
            </a:r>
            <a:endParaRPr lang="en-US" altLang="ko-KR" sz="1200" b="1" dirty="0">
              <a:latin typeface="+mn-ea"/>
              <a:ea typeface="+mn-ea"/>
            </a:endParaRPr>
          </a:p>
          <a:p>
            <a:pPr algn="ctr"/>
            <a:r>
              <a:rPr lang="en-US" altLang="ko-KR" sz="1200" b="1" dirty="0" err="1">
                <a:latin typeface="+mn-ea"/>
                <a:ea typeface="+mn-ea"/>
              </a:rPr>
              <a:t>ECMinerIMS</a:t>
            </a:r>
            <a:r>
              <a:rPr lang="en-US" altLang="ko-KR" sz="1200" b="1" dirty="0">
                <a:latin typeface="+mn-ea"/>
                <a:ea typeface="+mn-ea"/>
              </a:rPr>
              <a:t>™ </a:t>
            </a:r>
            <a:r>
              <a:rPr lang="ko-KR" altLang="en-US" sz="1200" b="1" dirty="0">
                <a:latin typeface="+mn-ea"/>
                <a:ea typeface="+mn-ea"/>
              </a:rPr>
              <a:t>연동</a:t>
            </a:r>
            <a:endParaRPr lang="en-US" altLang="ko-KR" sz="1200" b="1" dirty="0">
              <a:latin typeface="+mn-ea"/>
              <a:ea typeface="+mn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066E9BD-6360-D9F6-8DD3-29CCE8A83E74}"/>
              </a:ext>
            </a:extLst>
          </p:cNvPr>
          <p:cNvSpPr txBox="1"/>
          <p:nvPr/>
        </p:nvSpPr>
        <p:spPr>
          <a:xfrm>
            <a:off x="4160912" y="6248345"/>
            <a:ext cx="14743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latin typeface="+mn-ea"/>
                <a:ea typeface="+mn-ea"/>
              </a:rPr>
              <a:t>Open source </a:t>
            </a:r>
            <a:r>
              <a:rPr lang="ko-KR" altLang="en-US" sz="1200" b="1" dirty="0">
                <a:latin typeface="+mn-ea"/>
                <a:ea typeface="+mn-ea"/>
              </a:rPr>
              <a:t>연동</a:t>
            </a:r>
            <a:endParaRPr lang="en-US" altLang="ko-KR" sz="1200" b="1" dirty="0">
              <a:latin typeface="+mn-ea"/>
              <a:ea typeface="+mn-ea"/>
            </a:endParaRPr>
          </a:p>
        </p:txBody>
      </p:sp>
      <p:pic>
        <p:nvPicPr>
          <p:cNvPr id="89" name="그림 88">
            <a:extLst>
              <a:ext uri="{FF2B5EF4-FFF2-40B4-BE49-F238E27FC236}">
                <a16:creationId xmlns:a16="http://schemas.microsoft.com/office/drawing/2014/main" id="{400C8141-BAF9-B6FA-EE09-FF078854574A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554" t="24091" r="37643" b="43367"/>
          <a:stretch/>
        </p:blipFill>
        <p:spPr>
          <a:xfrm>
            <a:off x="282670" y="3599911"/>
            <a:ext cx="1146253" cy="7822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FDFD048A-CA22-A378-420E-207C51B4386D}"/>
              </a:ext>
            </a:extLst>
          </p:cNvPr>
          <p:cNvSpPr txBox="1"/>
          <p:nvPr/>
        </p:nvSpPr>
        <p:spPr>
          <a:xfrm>
            <a:off x="1443376" y="3835896"/>
            <a:ext cx="646331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  <a:ea typeface="+mn-ea"/>
              </a:rPr>
              <a:t>동영상</a:t>
            </a:r>
          </a:p>
        </p:txBody>
      </p:sp>
    </p:spTree>
    <p:extLst>
      <p:ext uri="{BB962C8B-B14F-4D97-AF65-F5344CB8AC3E}">
        <p14:creationId xmlns:p14="http://schemas.microsoft.com/office/powerpoint/2010/main" val="1642931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B25A7-35E3-12EF-0E61-2FA0C9CB4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41DA4A3-12DF-BB7C-2B68-4B939E270E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AIDA: </a:t>
            </a:r>
            <a:r>
              <a:rPr lang="ko-KR" altLang="en-US" dirty="0"/>
              <a:t>인공지능 기반 자동 분석시스템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515E42-DCA1-DEAF-43CA-B1635EAB4F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AIDA</a:t>
            </a:r>
            <a:r>
              <a:rPr lang="ko-KR" altLang="en-US" dirty="0"/>
              <a:t>는 사용자가 글이나 음성으로 질문을 하면 사용자의 질문 의도를 이해하여 </a:t>
            </a:r>
            <a:r>
              <a:rPr lang="en-US" altLang="ko-KR" dirty="0"/>
              <a:t>1) </a:t>
            </a:r>
            <a:r>
              <a:rPr lang="ko-KR" altLang="en-US" dirty="0"/>
              <a:t>생성형 인공지능</a:t>
            </a:r>
            <a:r>
              <a:rPr lang="en-US" altLang="ko-KR" dirty="0"/>
              <a:t>(</a:t>
            </a:r>
            <a:r>
              <a:rPr lang="en-US" altLang="ko-KR" dirty="0" err="1"/>
              <a:t>sLLM</a:t>
            </a:r>
            <a:r>
              <a:rPr lang="en-US" altLang="ko-KR" dirty="0"/>
              <a:t> w/RAG) </a:t>
            </a:r>
            <a:r>
              <a:rPr lang="ko-KR" altLang="en-US" dirty="0"/>
              <a:t>시반 정성적 분석 결과와 </a:t>
            </a:r>
            <a:r>
              <a:rPr lang="en-US" altLang="ko-KR" dirty="0"/>
              <a:t>2) ECMiner™ </a:t>
            </a:r>
            <a:r>
              <a:rPr lang="ko-KR" altLang="en-US" dirty="0"/>
              <a:t>기반 정량적 분석 결과를 융합하여 답변을 제공하는 시스템입니다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9BDEADE-24CB-2ED2-FD59-70B829D96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 </a:t>
            </a:r>
            <a:r>
              <a:rPr lang="ko-KR" altLang="en-US" dirty="0"/>
              <a:t>개요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B4F4BEB-563A-A4F2-478D-FEE777B54D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09965C-9C74-F5DB-989E-A148C2ACC5E4}"/>
              </a:ext>
            </a:extLst>
          </p:cNvPr>
          <p:cNvSpPr/>
          <p:nvPr/>
        </p:nvSpPr>
        <p:spPr>
          <a:xfrm>
            <a:off x="3451826" y="4718427"/>
            <a:ext cx="3573080" cy="68624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B10621-08D6-2952-4EDD-7CC83426C50F}"/>
              </a:ext>
            </a:extLst>
          </p:cNvPr>
          <p:cNvSpPr/>
          <p:nvPr/>
        </p:nvSpPr>
        <p:spPr>
          <a:xfrm>
            <a:off x="3216828" y="1991262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B6FDEB-2F11-72DC-E43D-5EF3DDAB37D7}"/>
              </a:ext>
            </a:extLst>
          </p:cNvPr>
          <p:cNvSpPr/>
          <p:nvPr/>
        </p:nvSpPr>
        <p:spPr>
          <a:xfrm>
            <a:off x="5788151" y="1978137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pic>
        <p:nvPicPr>
          <p:cNvPr id="11" name="그림 10" descr="만화 영화, 소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1059D6-00DF-68C8-D56F-5F10CC884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19" y="2486708"/>
            <a:ext cx="877429" cy="1008109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BA5EBBC-F420-F509-330F-0A56FF489D01}"/>
              </a:ext>
            </a:extLst>
          </p:cNvPr>
          <p:cNvSpPr/>
          <p:nvPr/>
        </p:nvSpPr>
        <p:spPr>
          <a:xfrm>
            <a:off x="3728446" y="2363897"/>
            <a:ext cx="855694" cy="6480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24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맑은 고딕"/>
                <a:ea typeface="맑은 고딕"/>
              </a:rPr>
              <a:t>AI</a:t>
            </a:r>
            <a:endParaRPr lang="ko-KR" altLang="en-US" sz="24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맑은 고딕"/>
              <a:ea typeface="맑은 고딕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19A326D-8C28-54DC-3ED5-396B9EAFBF9A}"/>
              </a:ext>
            </a:extLst>
          </p:cNvPr>
          <p:cNvGrpSpPr/>
          <p:nvPr/>
        </p:nvGrpSpPr>
        <p:grpSpPr>
          <a:xfrm>
            <a:off x="1818171" y="2485755"/>
            <a:ext cx="1910275" cy="296721"/>
            <a:chOff x="1568281" y="2844247"/>
            <a:chExt cx="1599323" cy="296721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0A39F591-8B93-0F95-0047-5180A86361A5}"/>
                </a:ext>
              </a:extLst>
            </p:cNvPr>
            <p:cNvCxnSpPr>
              <a:cxnSpLocks/>
            </p:cNvCxnSpPr>
            <p:nvPr/>
          </p:nvCxnSpPr>
          <p:spPr>
            <a:xfrm>
              <a:off x="1568281" y="2844247"/>
              <a:ext cx="1599323" cy="9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67F595F8-8DBE-B13B-C632-D8D36BF17D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8281" y="3140968"/>
              <a:ext cx="15993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그림 28" descr="도표, 디자인, 일렉트릭 블루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5C7454-C1D3-7AD3-3C74-D2421AF15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171" y="2901045"/>
            <a:ext cx="485576" cy="57725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F335727-9B23-6E93-874B-646DD639A465}"/>
              </a:ext>
            </a:extLst>
          </p:cNvPr>
          <p:cNvSpPr txBox="1"/>
          <p:nvPr/>
        </p:nvSpPr>
        <p:spPr>
          <a:xfrm>
            <a:off x="2258897" y="2223239"/>
            <a:ext cx="441146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질의</a:t>
            </a:r>
          </a:p>
        </p:txBody>
      </p:sp>
      <p:pic>
        <p:nvPicPr>
          <p:cNvPr id="35" name="그림 34" descr="원, 도표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B4C0DA-E399-983D-02EE-3AEC396CF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802" y="3401565"/>
            <a:ext cx="946709" cy="8345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60D49D8-53C8-369C-A969-234941772958}"/>
              </a:ext>
            </a:extLst>
          </p:cNvPr>
          <p:cNvCxnSpPr>
            <a:cxnSpLocks/>
            <a:stCxn id="20" idx="2"/>
            <a:endCxn id="35" idx="0"/>
          </p:cNvCxnSpPr>
          <p:nvPr/>
        </p:nvCxnSpPr>
        <p:spPr>
          <a:xfrm>
            <a:off x="4156293" y="3011969"/>
            <a:ext cx="7864" cy="3895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그림 43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7F26CA-C0C7-CF96-1530-D0867AF56F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163"/>
          <a:stretch>
            <a:fillRect/>
          </a:stretch>
        </p:blipFill>
        <p:spPr>
          <a:xfrm>
            <a:off x="5981338" y="2795944"/>
            <a:ext cx="1440160" cy="781584"/>
          </a:xfrm>
          <a:prstGeom prst="rect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6E52C4EF-8FE0-8162-2C59-E896188820D6}"/>
              </a:ext>
            </a:extLst>
          </p:cNvPr>
          <p:cNvGrpSpPr/>
          <p:nvPr/>
        </p:nvGrpSpPr>
        <p:grpSpPr>
          <a:xfrm>
            <a:off x="6567632" y="6120185"/>
            <a:ext cx="243677" cy="40038"/>
            <a:chOff x="4377982" y="5768287"/>
            <a:chExt cx="224707" cy="40038"/>
          </a:xfrm>
        </p:grpSpPr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FAC1DDB6-6B23-C3A9-80F0-21245507CAB7}"/>
                </a:ext>
              </a:extLst>
            </p:cNvPr>
            <p:cNvSpPr/>
            <p:nvPr/>
          </p:nvSpPr>
          <p:spPr>
            <a:xfrm>
              <a:off x="4571251" y="5773585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F3F65AF0-ED2A-468E-94FE-6E63A6D42035}"/>
                </a:ext>
              </a:extLst>
            </p:cNvPr>
            <p:cNvSpPr/>
            <p:nvPr/>
          </p:nvSpPr>
          <p:spPr>
            <a:xfrm>
              <a:off x="4472220" y="5768287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1B8E7743-3CFC-0790-54E6-660258C97756}"/>
                </a:ext>
              </a:extLst>
            </p:cNvPr>
            <p:cNvSpPr/>
            <p:nvPr/>
          </p:nvSpPr>
          <p:spPr>
            <a:xfrm>
              <a:off x="4377982" y="5773180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650637A4-3010-13EF-9392-6B5EFC24FE97}"/>
              </a:ext>
            </a:extLst>
          </p:cNvPr>
          <p:cNvGrpSpPr/>
          <p:nvPr/>
        </p:nvGrpSpPr>
        <p:grpSpPr>
          <a:xfrm>
            <a:off x="4304928" y="5886646"/>
            <a:ext cx="895588" cy="538696"/>
            <a:chOff x="2477310" y="5534748"/>
            <a:chExt cx="825867" cy="538696"/>
          </a:xfrm>
        </p:grpSpPr>
        <p:sp>
          <p:nvSpPr>
            <p:cNvPr id="63" name="순서도: 자기 디스크 62">
              <a:extLst>
                <a:ext uri="{FF2B5EF4-FFF2-40B4-BE49-F238E27FC236}">
                  <a16:creationId xmlns:a16="http://schemas.microsoft.com/office/drawing/2014/main" id="{6A2F0F29-3F15-BE5A-4F91-5D9F45E89F98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5C1967A-D278-8989-76B7-FF6D84333B99}"/>
                </a:ext>
              </a:extLst>
            </p:cNvPr>
            <p:cNvSpPr txBox="1"/>
            <p:nvPr/>
          </p:nvSpPr>
          <p:spPr>
            <a:xfrm>
              <a:off x="2477310" y="5743608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운전 데이터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D3E1ACB8-7636-E0F5-4B89-8C368F8A8559}"/>
              </a:ext>
            </a:extLst>
          </p:cNvPr>
          <p:cNvGrpSpPr/>
          <p:nvPr/>
        </p:nvGrpSpPr>
        <p:grpSpPr>
          <a:xfrm>
            <a:off x="5659181" y="5886646"/>
            <a:ext cx="805440" cy="538696"/>
            <a:chOff x="3481903" y="5534748"/>
            <a:chExt cx="742737" cy="538696"/>
          </a:xfrm>
        </p:grpSpPr>
        <p:sp>
          <p:nvSpPr>
            <p:cNvPr id="66" name="순서도: 자기 디스크 65">
              <a:extLst>
                <a:ext uri="{FF2B5EF4-FFF2-40B4-BE49-F238E27FC236}">
                  <a16:creationId xmlns:a16="http://schemas.microsoft.com/office/drawing/2014/main" id="{81AA1437-3CF0-0AE3-A872-0EB4BF32152C}"/>
                </a:ext>
              </a:extLst>
            </p:cNvPr>
            <p:cNvSpPr/>
            <p:nvPr/>
          </p:nvSpPr>
          <p:spPr>
            <a:xfrm>
              <a:off x="3481903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DCEB471-BF83-BC5D-0710-7F6B86DB209D}"/>
                </a:ext>
              </a:extLst>
            </p:cNvPr>
            <p:cNvSpPr txBox="1"/>
            <p:nvPr/>
          </p:nvSpPr>
          <p:spPr>
            <a:xfrm>
              <a:off x="3648302" y="5743207"/>
              <a:ext cx="441146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품질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3BE2C0B-D28C-9D2B-BB4D-C012A0F7B06D}"/>
              </a:ext>
            </a:extLst>
          </p:cNvPr>
          <p:cNvGrpSpPr/>
          <p:nvPr/>
        </p:nvGrpSpPr>
        <p:grpSpPr>
          <a:xfrm>
            <a:off x="7024172" y="5892722"/>
            <a:ext cx="809148" cy="538696"/>
            <a:chOff x="4714022" y="5540824"/>
            <a:chExt cx="746156" cy="538696"/>
          </a:xfrm>
        </p:grpSpPr>
        <p:sp>
          <p:nvSpPr>
            <p:cNvPr id="71" name="순서도: 자기 디스크 70">
              <a:extLst>
                <a:ext uri="{FF2B5EF4-FFF2-40B4-BE49-F238E27FC236}">
                  <a16:creationId xmlns:a16="http://schemas.microsoft.com/office/drawing/2014/main" id="{5E3E4392-976D-C311-2237-4057F989F3D8}"/>
                </a:ext>
              </a:extLst>
            </p:cNvPr>
            <p:cNvSpPr/>
            <p:nvPr/>
          </p:nvSpPr>
          <p:spPr>
            <a:xfrm>
              <a:off x="4714022" y="5540824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84C2D3A-E2A8-9750-6C6C-2765E065B889}"/>
                </a:ext>
              </a:extLst>
            </p:cNvPr>
            <p:cNvSpPr txBox="1"/>
            <p:nvPr/>
          </p:nvSpPr>
          <p:spPr>
            <a:xfrm>
              <a:off x="4717667" y="5745944"/>
              <a:ext cx="742511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이력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F9E939AD-21D1-59CA-8F45-EC5C3879F506}"/>
              </a:ext>
            </a:extLst>
          </p:cNvPr>
          <p:cNvGrpSpPr/>
          <p:nvPr/>
        </p:nvGrpSpPr>
        <p:grpSpPr>
          <a:xfrm>
            <a:off x="3794259" y="4811438"/>
            <a:ext cx="742737" cy="539860"/>
            <a:chOff x="6454142" y="5520816"/>
            <a:chExt cx="742737" cy="539860"/>
          </a:xfrm>
        </p:grpSpPr>
        <p:sp>
          <p:nvSpPr>
            <p:cNvPr id="75" name="순서도: 자기 디스크 74">
              <a:extLst>
                <a:ext uri="{FF2B5EF4-FFF2-40B4-BE49-F238E27FC236}">
                  <a16:creationId xmlns:a16="http://schemas.microsoft.com/office/drawing/2014/main" id="{3F030BEE-AAA8-5503-729A-A83C15CFA3C3}"/>
                </a:ext>
              </a:extLst>
            </p:cNvPr>
            <p:cNvSpPr/>
            <p:nvPr/>
          </p:nvSpPr>
          <p:spPr>
            <a:xfrm>
              <a:off x="6454142" y="552081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06D9B7B-926D-0597-4CED-3465BAE46A89}"/>
                </a:ext>
              </a:extLst>
            </p:cNvPr>
            <p:cNvSpPr txBox="1"/>
            <p:nvPr/>
          </p:nvSpPr>
          <p:spPr>
            <a:xfrm>
              <a:off x="6499252" y="5660566"/>
              <a:ext cx="69762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온톨로지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000" dirty="0">
                  <a:latin typeface="+mn-ea"/>
                  <a:ea typeface="+mn-ea"/>
                </a:rPr>
                <a:t>DB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</p:grp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D1BA3A90-D055-1186-6F87-4C81B76D7FBB}"/>
              </a:ext>
            </a:extLst>
          </p:cNvPr>
          <p:cNvSpPr/>
          <p:nvPr/>
        </p:nvSpPr>
        <p:spPr>
          <a:xfrm>
            <a:off x="5981340" y="2219334"/>
            <a:ext cx="1440159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4C908A90-CC5C-A7A5-F566-2BB8DDBE1865}"/>
              </a:ext>
            </a:extLst>
          </p:cNvPr>
          <p:cNvSpPr/>
          <p:nvPr/>
        </p:nvSpPr>
        <p:spPr>
          <a:xfrm>
            <a:off x="5981340" y="3734107"/>
            <a:ext cx="1440158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41B4FBF-841F-E42F-D1C1-8A9820240E26}"/>
              </a:ext>
            </a:extLst>
          </p:cNvPr>
          <p:cNvSpPr txBox="1"/>
          <p:nvPr/>
        </p:nvSpPr>
        <p:spPr>
          <a:xfrm>
            <a:off x="6091299" y="2239342"/>
            <a:ext cx="122180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자동분석 </a:t>
            </a:r>
            <a:r>
              <a:rPr lang="ko-KR" altLang="en-US" sz="1100" b="0" dirty="0" err="1">
                <a:latin typeface="+mn-ea"/>
                <a:ea typeface="+mn-ea"/>
              </a:rPr>
              <a:t>생성기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2AA3D8A3-A564-1705-0A82-546BED948414}"/>
              </a:ext>
            </a:extLst>
          </p:cNvPr>
          <p:cNvCxnSpPr>
            <a:cxnSpLocks/>
            <a:stCxn id="80" idx="2"/>
            <a:endCxn id="44" idx="0"/>
          </p:cNvCxnSpPr>
          <p:nvPr/>
        </p:nvCxnSpPr>
        <p:spPr>
          <a:xfrm flipH="1">
            <a:off x="6701418" y="2500678"/>
            <a:ext cx="2" cy="295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6E008BA7-C466-8FB8-D918-8ACADB5A317E}"/>
              </a:ext>
            </a:extLst>
          </p:cNvPr>
          <p:cNvCxnSpPr>
            <a:cxnSpLocks/>
            <a:stCxn id="44" idx="2"/>
            <a:endCxn id="82" idx="0"/>
          </p:cNvCxnSpPr>
          <p:nvPr/>
        </p:nvCxnSpPr>
        <p:spPr>
          <a:xfrm>
            <a:off x="6701418" y="3577528"/>
            <a:ext cx="1" cy="15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54AA62C-B03F-4A44-B318-EA40E166D41C}"/>
              </a:ext>
            </a:extLst>
          </p:cNvPr>
          <p:cNvSpPr txBox="1"/>
          <p:nvPr/>
        </p:nvSpPr>
        <p:spPr>
          <a:xfrm>
            <a:off x="6182945" y="3753841"/>
            <a:ext cx="1040670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데이터 </a:t>
            </a:r>
            <a:r>
              <a:rPr lang="en-US" altLang="ko-KR" sz="1100" b="0" dirty="0">
                <a:latin typeface="+mn-ea"/>
                <a:ea typeface="+mn-ea"/>
              </a:rPr>
              <a:t>Agent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0C3C0C4C-3DBB-ED99-2FE2-BA2FA9246984}"/>
              </a:ext>
            </a:extLst>
          </p:cNvPr>
          <p:cNvCxnSpPr>
            <a:cxnSpLocks/>
          </p:cNvCxnSpPr>
          <p:nvPr/>
        </p:nvCxnSpPr>
        <p:spPr>
          <a:xfrm>
            <a:off x="4584140" y="2441147"/>
            <a:ext cx="1181922" cy="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그림 89" descr="스크린샷, 도표, 라인이(가) 표시된 사진">
            <a:extLst>
              <a:ext uri="{FF2B5EF4-FFF2-40B4-BE49-F238E27FC236}">
                <a16:creationId xmlns:a16="http://schemas.microsoft.com/office/drawing/2014/main" id="{9C42076F-4644-F313-8910-57BF843B7E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040" y="3727139"/>
            <a:ext cx="647928" cy="4300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1" name="그림 9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A189A5-9189-0220-F059-59A392E02E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3391" y="2845657"/>
            <a:ext cx="601588" cy="40011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8BF377EE-C4C1-7A8A-BAF8-DB20AA962AAD}"/>
              </a:ext>
            </a:extLst>
          </p:cNvPr>
          <p:cNvSpPr txBox="1"/>
          <p:nvPr/>
        </p:nvSpPr>
        <p:spPr>
          <a:xfrm>
            <a:off x="1847978" y="3428834"/>
            <a:ext cx="56938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답변서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6ED925F-56C9-CFAB-574F-78D561250076}"/>
              </a:ext>
            </a:extLst>
          </p:cNvPr>
          <p:cNvSpPr txBox="1"/>
          <p:nvPr/>
        </p:nvSpPr>
        <p:spPr>
          <a:xfrm>
            <a:off x="1797326" y="4194356"/>
            <a:ext cx="69762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분석파일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A10D397-153E-7607-607F-E43A8D01EAD8}"/>
              </a:ext>
            </a:extLst>
          </p:cNvPr>
          <p:cNvSpPr txBox="1"/>
          <p:nvPr/>
        </p:nvSpPr>
        <p:spPr>
          <a:xfrm>
            <a:off x="5117713" y="3265768"/>
            <a:ext cx="631904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자동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분석</a:t>
            </a:r>
            <a:endParaRPr lang="en-US" altLang="ko-KR" sz="800" dirty="0">
              <a:latin typeface="+mn-ea"/>
              <a:ea typeface="+mn-ea"/>
            </a:endParaRPr>
          </a:p>
          <a:p>
            <a:pPr algn="ctr"/>
            <a:r>
              <a:rPr lang="ko-KR" altLang="en-US" sz="800" dirty="0">
                <a:latin typeface="+mn-ea"/>
                <a:ea typeface="+mn-ea"/>
              </a:rPr>
              <a:t>보고서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D3132AFD-B9A8-DFAC-1325-3D974721C99C}"/>
              </a:ext>
            </a:extLst>
          </p:cNvPr>
          <p:cNvSpPr/>
          <p:nvPr/>
        </p:nvSpPr>
        <p:spPr>
          <a:xfrm>
            <a:off x="3546706" y="1846372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 err="1">
                <a:solidFill>
                  <a:schemeClr val="tx1"/>
                </a:solidFill>
                <a:latin typeface="맑은 고딕"/>
                <a:ea typeface="맑은 고딕"/>
              </a:rPr>
              <a:t>sLLM</a:t>
            </a:r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 w/RAG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2C278F90-04E7-9375-06C4-B2E894B9F5DA}"/>
              </a:ext>
            </a:extLst>
          </p:cNvPr>
          <p:cNvSpPr/>
          <p:nvPr/>
        </p:nvSpPr>
        <p:spPr>
          <a:xfrm>
            <a:off x="6054621" y="1819568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자동분석시스템</a:t>
            </a:r>
          </a:p>
        </p:txBody>
      </p: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D971731F-F33E-3E36-136C-450A79104037}"/>
              </a:ext>
            </a:extLst>
          </p:cNvPr>
          <p:cNvCxnSpPr/>
          <p:nvPr/>
        </p:nvCxnSpPr>
        <p:spPr>
          <a:xfrm rot="10800000" flipV="1">
            <a:off x="4323764" y="2725230"/>
            <a:ext cx="1442298" cy="659122"/>
          </a:xfrm>
          <a:prstGeom prst="bentConnector3">
            <a:avLst>
              <a:gd name="adj1" fmla="val 99756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CE3A0C00-CFDB-EBC7-02EB-009CF6E77609}"/>
              </a:ext>
            </a:extLst>
          </p:cNvPr>
          <p:cNvSpPr txBox="1"/>
          <p:nvPr/>
        </p:nvSpPr>
        <p:spPr>
          <a:xfrm>
            <a:off x="6202325" y="2748809"/>
            <a:ext cx="1039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ECMiner</a:t>
            </a:r>
            <a:r>
              <a:rPr lang="en-US" altLang="ko-KR" sz="1200" dirty="0">
                <a:latin typeface="+mn-ea"/>
                <a:ea typeface="+mn-ea"/>
              </a:rPr>
              <a:t>™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740B28D-9387-9A97-B5A2-9F7848858781}"/>
              </a:ext>
            </a:extLst>
          </p:cNvPr>
          <p:cNvSpPr/>
          <p:nvPr/>
        </p:nvSpPr>
        <p:spPr>
          <a:xfrm>
            <a:off x="1643437" y="6008093"/>
            <a:ext cx="1129871" cy="195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원천 데이터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E0946A3C-4477-27D5-692F-774F18004A16}"/>
              </a:ext>
            </a:extLst>
          </p:cNvPr>
          <p:cNvSpPr/>
          <p:nvPr/>
        </p:nvSpPr>
        <p:spPr>
          <a:xfrm>
            <a:off x="7482996" y="4874204"/>
            <a:ext cx="1195817" cy="374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AIDA:</a:t>
            </a:r>
          </a:p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Ontology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7D29A824-7DB2-86B1-18D4-FEF5E4E0D110}"/>
              </a:ext>
            </a:extLst>
          </p:cNvPr>
          <p:cNvGrpSpPr/>
          <p:nvPr/>
        </p:nvGrpSpPr>
        <p:grpSpPr>
          <a:xfrm>
            <a:off x="4953000" y="4805816"/>
            <a:ext cx="859488" cy="573643"/>
            <a:chOff x="5430768" y="4809446"/>
            <a:chExt cx="859488" cy="573643"/>
          </a:xfrm>
        </p:grpSpPr>
        <p:sp>
          <p:nvSpPr>
            <p:cNvPr id="104" name="순서도: 자기 디스크 103">
              <a:extLst>
                <a:ext uri="{FF2B5EF4-FFF2-40B4-BE49-F238E27FC236}">
                  <a16:creationId xmlns:a16="http://schemas.microsoft.com/office/drawing/2014/main" id="{2D09E028-4713-66CB-DAE5-5396CABFF3FA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E6FC881-9066-9F9E-71BF-DBD1E10B78E0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메타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CEB3ABDE-E9D2-5E58-25BB-FE884813A175}"/>
              </a:ext>
            </a:extLst>
          </p:cNvPr>
          <p:cNvCxnSpPr>
            <a:cxnSpLocks/>
            <a:stCxn id="71" idx="1"/>
            <a:endCxn id="7" idx="2"/>
          </p:cNvCxnSpPr>
          <p:nvPr/>
        </p:nvCxnSpPr>
        <p:spPr>
          <a:xfrm rot="16200000" flipV="1">
            <a:off x="6088605" y="4554435"/>
            <a:ext cx="488049" cy="21885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0BB4B347-39A5-75A6-0F18-A8B2D3C7A04A}"/>
              </a:ext>
            </a:extLst>
          </p:cNvPr>
          <p:cNvGrpSpPr/>
          <p:nvPr/>
        </p:nvGrpSpPr>
        <p:grpSpPr>
          <a:xfrm>
            <a:off x="3008784" y="5868207"/>
            <a:ext cx="895588" cy="538696"/>
            <a:chOff x="2467152" y="5534748"/>
            <a:chExt cx="825867" cy="538696"/>
          </a:xfrm>
        </p:grpSpPr>
        <p:sp>
          <p:nvSpPr>
            <p:cNvPr id="112" name="순서도: 자기 디스크 111">
              <a:extLst>
                <a:ext uri="{FF2B5EF4-FFF2-40B4-BE49-F238E27FC236}">
                  <a16:creationId xmlns:a16="http://schemas.microsoft.com/office/drawing/2014/main" id="{B15C0610-9438-4AF6-20CA-E02BA3C718C2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016F7C1-AB1D-43F4-5A7E-60BCAFAE2453}"/>
                </a:ext>
              </a:extLst>
            </p:cNvPr>
            <p:cNvSpPr txBox="1"/>
            <p:nvPr/>
          </p:nvSpPr>
          <p:spPr>
            <a:xfrm>
              <a:off x="2467152" y="5721576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문서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3BA36441-E44C-D027-D06C-85956730F801}"/>
              </a:ext>
            </a:extLst>
          </p:cNvPr>
          <p:cNvGrpSpPr/>
          <p:nvPr/>
        </p:nvGrpSpPr>
        <p:grpSpPr>
          <a:xfrm>
            <a:off x="6056088" y="4805816"/>
            <a:ext cx="859488" cy="573643"/>
            <a:chOff x="5430768" y="4809446"/>
            <a:chExt cx="859488" cy="573643"/>
          </a:xfrm>
        </p:grpSpPr>
        <p:sp>
          <p:nvSpPr>
            <p:cNvPr id="119" name="순서도: 자기 디스크 118">
              <a:extLst>
                <a:ext uri="{FF2B5EF4-FFF2-40B4-BE49-F238E27FC236}">
                  <a16:creationId xmlns:a16="http://schemas.microsoft.com/office/drawing/2014/main" id="{1575A88A-102A-10A2-B949-9368B076A913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15841EB-756E-9B4C-89D0-3FE5E128CCDF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분석용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123" name="연결선: 꺾임 122">
            <a:extLst>
              <a:ext uri="{FF2B5EF4-FFF2-40B4-BE49-F238E27FC236}">
                <a16:creationId xmlns:a16="http://schemas.microsoft.com/office/drawing/2014/main" id="{8E0D83D7-DA38-BBC9-99A2-4B3E97F52170}"/>
              </a:ext>
            </a:extLst>
          </p:cNvPr>
          <p:cNvCxnSpPr>
            <a:cxnSpLocks/>
            <a:stCxn id="112" idx="1"/>
            <a:endCxn id="7" idx="2"/>
          </p:cNvCxnSpPr>
          <p:nvPr/>
        </p:nvCxnSpPr>
        <p:spPr>
          <a:xfrm rot="5400000" flipH="1" flipV="1">
            <a:off x="4113328" y="4743170"/>
            <a:ext cx="463534" cy="17865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4E41AD7C-9C4A-C392-F732-EF87413004A6}"/>
              </a:ext>
            </a:extLst>
          </p:cNvPr>
          <p:cNvCxnSpPr>
            <a:cxnSpLocks/>
          </p:cNvCxnSpPr>
          <p:nvPr/>
        </p:nvCxnSpPr>
        <p:spPr>
          <a:xfrm>
            <a:off x="7223615" y="4015451"/>
            <a:ext cx="18490" cy="1585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0E53ADBC-3208-4774-E0BD-A9A814486296}"/>
              </a:ext>
            </a:extLst>
          </p:cNvPr>
          <p:cNvCxnSpPr>
            <a:cxnSpLocks/>
            <a:stCxn id="75" idx="1"/>
            <a:endCxn id="35" idx="2"/>
          </p:cNvCxnSpPr>
          <p:nvPr/>
        </p:nvCxnSpPr>
        <p:spPr>
          <a:xfrm flipH="1" flipV="1">
            <a:off x="4164157" y="4236105"/>
            <a:ext cx="1471" cy="5753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2A1E1025-A7F1-3E90-6C03-989F9A180DAB}"/>
              </a:ext>
            </a:extLst>
          </p:cNvPr>
          <p:cNvCxnSpPr/>
          <p:nvPr/>
        </p:nvCxnSpPr>
        <p:spPr>
          <a:xfrm>
            <a:off x="6393160" y="4015451"/>
            <a:ext cx="0" cy="6850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3F8B728B-FEFA-F03F-F976-A30D70DC4B8B}"/>
              </a:ext>
            </a:extLst>
          </p:cNvPr>
          <p:cNvCxnSpPr>
            <a:cxnSpLocks/>
            <a:stCxn id="75" idx="4"/>
            <a:endCxn id="104" idx="2"/>
          </p:cNvCxnSpPr>
          <p:nvPr/>
        </p:nvCxnSpPr>
        <p:spPr>
          <a:xfrm flipV="1">
            <a:off x="4536996" y="5075164"/>
            <a:ext cx="458090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4D4DEBC3-097C-C640-E0A1-58B62B97A2A2}"/>
              </a:ext>
            </a:extLst>
          </p:cNvPr>
          <p:cNvCxnSpPr>
            <a:stCxn id="104" idx="4"/>
          </p:cNvCxnSpPr>
          <p:nvPr/>
        </p:nvCxnSpPr>
        <p:spPr>
          <a:xfrm>
            <a:off x="5737823" y="5075164"/>
            <a:ext cx="353476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363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5C6D2-43D3-5AB9-8F02-FE211B702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직사각형 80">
            <a:extLst>
              <a:ext uri="{FF2B5EF4-FFF2-40B4-BE49-F238E27FC236}">
                <a16:creationId xmlns:a16="http://schemas.microsoft.com/office/drawing/2014/main" id="{FAF99521-F519-1C34-AD3D-473BB3DFCF4E}"/>
              </a:ext>
            </a:extLst>
          </p:cNvPr>
          <p:cNvSpPr/>
          <p:nvPr/>
        </p:nvSpPr>
        <p:spPr>
          <a:xfrm>
            <a:off x="3451826" y="4718427"/>
            <a:ext cx="3573080" cy="68624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B543E01F-F362-B13E-74E9-B46F4B96C31D}"/>
              </a:ext>
            </a:extLst>
          </p:cNvPr>
          <p:cNvSpPr/>
          <p:nvPr/>
        </p:nvSpPr>
        <p:spPr>
          <a:xfrm>
            <a:off x="3216828" y="1991262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D23BA82-8AB6-958F-177C-F0BB004D9806}"/>
              </a:ext>
            </a:extLst>
          </p:cNvPr>
          <p:cNvSpPr/>
          <p:nvPr/>
        </p:nvSpPr>
        <p:spPr>
          <a:xfrm>
            <a:off x="5788151" y="1978137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18CD5DB-EBA0-8A9C-445D-D5286F4024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AIDA: </a:t>
            </a:r>
            <a:r>
              <a:rPr lang="en-US" altLang="ko-KR" dirty="0" err="1"/>
              <a:t>sLLM</a:t>
            </a:r>
            <a:r>
              <a:rPr lang="en-US" altLang="ko-KR" dirty="0"/>
              <a:t> w/RAG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C45354-FBEE-02B0-0DF8-EDB16BE8CD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79158"/>
            <a:ext cx="9482335" cy="708950"/>
          </a:xfrm>
        </p:spPr>
        <p:txBody>
          <a:bodyPr/>
          <a:lstStyle/>
          <a:p>
            <a:r>
              <a:rPr lang="en-US" altLang="ko-KR" dirty="0"/>
              <a:t>AIDA</a:t>
            </a:r>
            <a:r>
              <a:rPr lang="ko-KR" altLang="en-US" dirty="0"/>
              <a:t>의 </a:t>
            </a:r>
            <a:r>
              <a:rPr lang="en-US" altLang="ko-KR" dirty="0" err="1"/>
              <a:t>sLLM</a:t>
            </a:r>
            <a:r>
              <a:rPr lang="en-US" altLang="ko-KR" dirty="0"/>
              <a:t> w/RAG</a:t>
            </a:r>
            <a:r>
              <a:rPr lang="ko-KR" altLang="en-US" dirty="0"/>
              <a:t>는 </a:t>
            </a:r>
            <a:r>
              <a:rPr lang="en-US" altLang="ko-KR" dirty="0"/>
              <a:t>1) </a:t>
            </a:r>
            <a:r>
              <a:rPr lang="ko-KR" altLang="en-US" dirty="0"/>
              <a:t>사용자가 직접 도메인 데이터를 구축</a:t>
            </a:r>
            <a:r>
              <a:rPr lang="en-US" altLang="ko-KR" dirty="0"/>
              <a:t>(</a:t>
            </a:r>
            <a:r>
              <a:rPr lang="ko-KR" altLang="en-US" dirty="0"/>
              <a:t>지식 컨텐츠 저장소</a:t>
            </a:r>
            <a:r>
              <a:rPr lang="en-US" altLang="ko-KR" dirty="0"/>
              <a:t>)</a:t>
            </a:r>
            <a:r>
              <a:rPr lang="ko-KR" altLang="en-US" dirty="0"/>
              <a:t>하고</a:t>
            </a:r>
            <a:r>
              <a:rPr lang="en-US" altLang="ko-KR" dirty="0"/>
              <a:t>, 2) On-Premise </a:t>
            </a:r>
            <a:r>
              <a:rPr lang="en-US" altLang="ko-KR" dirty="0" err="1"/>
              <a:t>sLLM</a:t>
            </a:r>
            <a:r>
              <a:rPr lang="en-US" altLang="ko-KR" dirty="0"/>
              <a:t>(Llama, Mistral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을 선택할 수 있도록 지원합니다</a:t>
            </a:r>
            <a:r>
              <a:rPr lang="en-US" altLang="ko-KR" dirty="0"/>
              <a:t>. </a:t>
            </a: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확장형 구조로 외부 </a:t>
            </a:r>
            <a:r>
              <a:rPr lang="en-US" altLang="ko-KR" dirty="0"/>
              <a:t>API </a:t>
            </a:r>
            <a:r>
              <a:rPr lang="ko-KR" altLang="en-US" dirty="0"/>
              <a:t>기반 모델까지 유연하게 활용할 수 있습니다</a:t>
            </a:r>
            <a:r>
              <a:rPr lang="en-US" altLang="ko-KR" dirty="0"/>
              <a:t>. </a:t>
            </a:r>
            <a:r>
              <a:rPr lang="ko-KR" altLang="en-US" dirty="0"/>
              <a:t>이를 통해 각 </a:t>
            </a:r>
            <a:r>
              <a:rPr lang="ko-KR" altLang="en-US" b="1" dirty="0">
                <a:solidFill>
                  <a:srgbClr val="C00000"/>
                </a:solidFill>
              </a:rPr>
              <a:t>도메인에 최적화된 맞춤형 </a:t>
            </a:r>
            <a:r>
              <a:rPr lang="en-US" altLang="ko-KR" b="1" dirty="0">
                <a:solidFill>
                  <a:srgbClr val="C00000"/>
                </a:solidFill>
              </a:rPr>
              <a:t>AI </a:t>
            </a:r>
            <a:r>
              <a:rPr lang="ko-KR" altLang="en-US" b="1" dirty="0">
                <a:solidFill>
                  <a:srgbClr val="C00000"/>
                </a:solidFill>
              </a:rPr>
              <a:t>서비스를 제공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C765542-8FD0-F17F-D501-E397179A5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 </a:t>
            </a:r>
            <a:r>
              <a:rPr lang="ko-KR" altLang="en-US" dirty="0"/>
              <a:t>기능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CF420-86C5-4201-B3E1-64F001EED3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 descr="만화 영화, 소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7F80D9-C89B-2E05-0923-80A145E08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19" y="2486708"/>
            <a:ext cx="877429" cy="1008109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5E50F4A-8161-8602-19BC-54CA87EEBC8F}"/>
              </a:ext>
            </a:extLst>
          </p:cNvPr>
          <p:cNvSpPr/>
          <p:nvPr/>
        </p:nvSpPr>
        <p:spPr>
          <a:xfrm>
            <a:off x="3728446" y="2363897"/>
            <a:ext cx="855694" cy="6480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24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맑은 고딕"/>
                <a:ea typeface="맑은 고딕"/>
              </a:rPr>
              <a:t>AI</a:t>
            </a:r>
            <a:endParaRPr lang="ko-KR" altLang="en-US" sz="24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맑은 고딕"/>
              <a:ea typeface="맑은 고딕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80F120C6-DAA6-DD31-F558-06EFC1820F89}"/>
              </a:ext>
            </a:extLst>
          </p:cNvPr>
          <p:cNvGrpSpPr/>
          <p:nvPr/>
        </p:nvGrpSpPr>
        <p:grpSpPr>
          <a:xfrm>
            <a:off x="1818171" y="2485755"/>
            <a:ext cx="1910275" cy="296721"/>
            <a:chOff x="1568281" y="2844247"/>
            <a:chExt cx="1599323" cy="296721"/>
          </a:xfrm>
        </p:grpSpPr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CBE1CC87-DCF0-ABFA-10C6-519464D9A391}"/>
                </a:ext>
              </a:extLst>
            </p:cNvPr>
            <p:cNvCxnSpPr>
              <a:cxnSpLocks/>
            </p:cNvCxnSpPr>
            <p:nvPr/>
          </p:nvCxnSpPr>
          <p:spPr>
            <a:xfrm>
              <a:off x="1568281" y="2844247"/>
              <a:ext cx="1599323" cy="9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A314AFCC-135E-8E81-2C03-75C5E3EFD3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8281" y="3140968"/>
              <a:ext cx="15993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그림 35" descr="도표, 디자인, 일렉트릭 블루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9FFF3D-0311-8142-FE75-9E1DA4F98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171" y="2901045"/>
            <a:ext cx="485576" cy="57725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F880846-2293-4924-23DF-97D04342B4B2}"/>
              </a:ext>
            </a:extLst>
          </p:cNvPr>
          <p:cNvSpPr txBox="1"/>
          <p:nvPr/>
        </p:nvSpPr>
        <p:spPr>
          <a:xfrm>
            <a:off x="2258897" y="2223239"/>
            <a:ext cx="441146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질의</a:t>
            </a:r>
          </a:p>
        </p:txBody>
      </p:sp>
      <p:pic>
        <p:nvPicPr>
          <p:cNvPr id="40" name="그림 39" descr="원, 도표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C81D8F-FBAA-5727-B719-EE7BE3989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802" y="3401565"/>
            <a:ext cx="946709" cy="8345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D381434-ECA2-0D3E-ACC2-C3BA8EB4CDFD}"/>
              </a:ext>
            </a:extLst>
          </p:cNvPr>
          <p:cNvCxnSpPr>
            <a:cxnSpLocks/>
            <a:stCxn id="30" idx="2"/>
            <a:endCxn id="40" idx="0"/>
          </p:cNvCxnSpPr>
          <p:nvPr/>
        </p:nvCxnSpPr>
        <p:spPr>
          <a:xfrm>
            <a:off x="4156293" y="3011969"/>
            <a:ext cx="7864" cy="3895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그림 44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7B8D65-C097-A2AE-70B3-434E9F8609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163"/>
          <a:stretch>
            <a:fillRect/>
          </a:stretch>
        </p:blipFill>
        <p:spPr>
          <a:xfrm>
            <a:off x="5981338" y="2795944"/>
            <a:ext cx="1440160" cy="781584"/>
          </a:xfrm>
          <a:prstGeom prst="rect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EAE8E2BE-E0EE-6C32-70F3-C7EF1B6521D9}"/>
              </a:ext>
            </a:extLst>
          </p:cNvPr>
          <p:cNvGrpSpPr/>
          <p:nvPr/>
        </p:nvGrpSpPr>
        <p:grpSpPr>
          <a:xfrm>
            <a:off x="6567632" y="6120185"/>
            <a:ext cx="243677" cy="40038"/>
            <a:chOff x="4377982" y="5768287"/>
            <a:chExt cx="224707" cy="40038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5C42BCB-BC98-58F1-44BC-F316AA96D49C}"/>
                </a:ext>
              </a:extLst>
            </p:cNvPr>
            <p:cNvSpPr/>
            <p:nvPr/>
          </p:nvSpPr>
          <p:spPr>
            <a:xfrm>
              <a:off x="4571251" y="5773585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CFCB658-2CE4-1DD7-73AA-FBF7BBD1902C}"/>
                </a:ext>
              </a:extLst>
            </p:cNvPr>
            <p:cNvSpPr/>
            <p:nvPr/>
          </p:nvSpPr>
          <p:spPr>
            <a:xfrm>
              <a:off x="4472220" y="5768287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7AFF3E87-696C-1F42-78B3-E4DD5B5FC4CD}"/>
                </a:ext>
              </a:extLst>
            </p:cNvPr>
            <p:cNvSpPr/>
            <p:nvPr/>
          </p:nvSpPr>
          <p:spPr>
            <a:xfrm>
              <a:off x="4377982" y="5773180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E463EC8-B274-4E7F-9E61-97B276F587BB}"/>
              </a:ext>
            </a:extLst>
          </p:cNvPr>
          <p:cNvGrpSpPr/>
          <p:nvPr/>
        </p:nvGrpSpPr>
        <p:grpSpPr>
          <a:xfrm>
            <a:off x="4304928" y="5886646"/>
            <a:ext cx="895588" cy="538696"/>
            <a:chOff x="2477310" y="5534748"/>
            <a:chExt cx="825867" cy="538696"/>
          </a:xfrm>
        </p:grpSpPr>
        <p:sp>
          <p:nvSpPr>
            <p:cNvPr id="15" name="순서도: 자기 디스크 14">
              <a:extLst>
                <a:ext uri="{FF2B5EF4-FFF2-40B4-BE49-F238E27FC236}">
                  <a16:creationId xmlns:a16="http://schemas.microsoft.com/office/drawing/2014/main" id="{D12D651C-38BC-AD0C-FE1E-72C0E55C1BD8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1935989-3945-43EF-FB02-89BD58266ABC}"/>
                </a:ext>
              </a:extLst>
            </p:cNvPr>
            <p:cNvSpPr txBox="1"/>
            <p:nvPr/>
          </p:nvSpPr>
          <p:spPr>
            <a:xfrm>
              <a:off x="2477310" y="5743608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운전 데이터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3153725-19BB-EB2D-0CE0-30EC62F12D26}"/>
              </a:ext>
            </a:extLst>
          </p:cNvPr>
          <p:cNvGrpSpPr/>
          <p:nvPr/>
        </p:nvGrpSpPr>
        <p:grpSpPr>
          <a:xfrm>
            <a:off x="5659181" y="5886646"/>
            <a:ext cx="805440" cy="538696"/>
            <a:chOff x="3481903" y="5534748"/>
            <a:chExt cx="742737" cy="538696"/>
          </a:xfrm>
        </p:grpSpPr>
        <p:sp>
          <p:nvSpPr>
            <p:cNvPr id="8" name="순서도: 자기 디스크 7">
              <a:extLst>
                <a:ext uri="{FF2B5EF4-FFF2-40B4-BE49-F238E27FC236}">
                  <a16:creationId xmlns:a16="http://schemas.microsoft.com/office/drawing/2014/main" id="{EE900C30-E379-3F6E-FA22-F994EA81F574}"/>
                </a:ext>
              </a:extLst>
            </p:cNvPr>
            <p:cNvSpPr/>
            <p:nvPr/>
          </p:nvSpPr>
          <p:spPr>
            <a:xfrm>
              <a:off x="3481903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A18F389-9125-1D97-E0DD-D847D5CB9F24}"/>
                </a:ext>
              </a:extLst>
            </p:cNvPr>
            <p:cNvSpPr txBox="1"/>
            <p:nvPr/>
          </p:nvSpPr>
          <p:spPr>
            <a:xfrm>
              <a:off x="3648302" y="5743207"/>
              <a:ext cx="441146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품질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358ED4D-E99E-ACA4-129B-7DEC7D582DAE}"/>
              </a:ext>
            </a:extLst>
          </p:cNvPr>
          <p:cNvGrpSpPr/>
          <p:nvPr/>
        </p:nvGrpSpPr>
        <p:grpSpPr>
          <a:xfrm>
            <a:off x="7024172" y="5892722"/>
            <a:ext cx="809148" cy="538696"/>
            <a:chOff x="4714022" y="5540824"/>
            <a:chExt cx="746156" cy="538696"/>
          </a:xfrm>
        </p:grpSpPr>
        <p:sp>
          <p:nvSpPr>
            <p:cNvPr id="14" name="순서도: 자기 디스크 13">
              <a:extLst>
                <a:ext uri="{FF2B5EF4-FFF2-40B4-BE49-F238E27FC236}">
                  <a16:creationId xmlns:a16="http://schemas.microsoft.com/office/drawing/2014/main" id="{0B637A14-5C22-5FE0-F049-BC90EF0F6FD1}"/>
                </a:ext>
              </a:extLst>
            </p:cNvPr>
            <p:cNvSpPr/>
            <p:nvPr/>
          </p:nvSpPr>
          <p:spPr>
            <a:xfrm>
              <a:off x="4714022" y="5540824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24F7528-BC9E-3EB3-6460-D49B6A3C6191}"/>
                </a:ext>
              </a:extLst>
            </p:cNvPr>
            <p:cNvSpPr txBox="1"/>
            <p:nvPr/>
          </p:nvSpPr>
          <p:spPr>
            <a:xfrm>
              <a:off x="4717667" y="5745944"/>
              <a:ext cx="742511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이력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0560FD3-D975-A4A8-B473-748AFD85B635}"/>
              </a:ext>
            </a:extLst>
          </p:cNvPr>
          <p:cNvGrpSpPr/>
          <p:nvPr/>
        </p:nvGrpSpPr>
        <p:grpSpPr>
          <a:xfrm>
            <a:off x="3794259" y="4811438"/>
            <a:ext cx="742737" cy="539860"/>
            <a:chOff x="6454142" y="5520816"/>
            <a:chExt cx="742737" cy="539860"/>
          </a:xfrm>
        </p:grpSpPr>
        <p:sp>
          <p:nvSpPr>
            <p:cNvPr id="16" name="순서도: 자기 디스크 15">
              <a:extLst>
                <a:ext uri="{FF2B5EF4-FFF2-40B4-BE49-F238E27FC236}">
                  <a16:creationId xmlns:a16="http://schemas.microsoft.com/office/drawing/2014/main" id="{F9B4D406-B7BF-E95E-9AFB-7E9F57E05E73}"/>
                </a:ext>
              </a:extLst>
            </p:cNvPr>
            <p:cNvSpPr/>
            <p:nvPr/>
          </p:nvSpPr>
          <p:spPr>
            <a:xfrm>
              <a:off x="6454142" y="552081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89ECB2C-997D-9152-56F2-1B51B7E1A3FD}"/>
                </a:ext>
              </a:extLst>
            </p:cNvPr>
            <p:cNvSpPr txBox="1"/>
            <p:nvPr/>
          </p:nvSpPr>
          <p:spPr>
            <a:xfrm>
              <a:off x="6499252" y="5660566"/>
              <a:ext cx="69762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온톨로지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000" dirty="0">
                  <a:latin typeface="+mn-ea"/>
                  <a:ea typeface="+mn-ea"/>
                </a:rPr>
                <a:t>DB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</p:grp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36C111E-B21D-17BA-D256-5B1E0CE027EC}"/>
              </a:ext>
            </a:extLst>
          </p:cNvPr>
          <p:cNvSpPr/>
          <p:nvPr/>
        </p:nvSpPr>
        <p:spPr>
          <a:xfrm>
            <a:off x="5981340" y="2219334"/>
            <a:ext cx="1440159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B279CFA-6FA1-1998-07C4-0762F8058A21}"/>
              </a:ext>
            </a:extLst>
          </p:cNvPr>
          <p:cNvSpPr/>
          <p:nvPr/>
        </p:nvSpPr>
        <p:spPr>
          <a:xfrm>
            <a:off x="5981340" y="3734107"/>
            <a:ext cx="1440158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3B986D-5B28-5055-3397-B534AB0AB31E}"/>
              </a:ext>
            </a:extLst>
          </p:cNvPr>
          <p:cNvSpPr txBox="1"/>
          <p:nvPr/>
        </p:nvSpPr>
        <p:spPr>
          <a:xfrm>
            <a:off x="6091299" y="2239342"/>
            <a:ext cx="122180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자동분석 </a:t>
            </a:r>
            <a:r>
              <a:rPr lang="ko-KR" altLang="en-US" sz="1100" b="0" dirty="0" err="1">
                <a:latin typeface="+mn-ea"/>
                <a:ea typeface="+mn-ea"/>
              </a:rPr>
              <a:t>생성기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3F20E0CE-F3B2-0086-D294-8E7A2C1A72CC}"/>
              </a:ext>
            </a:extLst>
          </p:cNvPr>
          <p:cNvCxnSpPr>
            <a:cxnSpLocks/>
            <a:stCxn id="52" idx="2"/>
            <a:endCxn id="45" idx="0"/>
          </p:cNvCxnSpPr>
          <p:nvPr/>
        </p:nvCxnSpPr>
        <p:spPr>
          <a:xfrm flipH="1">
            <a:off x="6701418" y="2500678"/>
            <a:ext cx="2" cy="295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1F93F2DD-5D84-57B7-9F4D-8C6136CDA0A4}"/>
              </a:ext>
            </a:extLst>
          </p:cNvPr>
          <p:cNvCxnSpPr>
            <a:cxnSpLocks/>
            <a:stCxn id="45" idx="2"/>
            <a:endCxn id="53" idx="0"/>
          </p:cNvCxnSpPr>
          <p:nvPr/>
        </p:nvCxnSpPr>
        <p:spPr>
          <a:xfrm>
            <a:off x="6701418" y="3577528"/>
            <a:ext cx="1" cy="15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9B183D9-4E8F-7FEC-0AD5-02FB21BAC0C5}"/>
              </a:ext>
            </a:extLst>
          </p:cNvPr>
          <p:cNvSpPr txBox="1"/>
          <p:nvPr/>
        </p:nvSpPr>
        <p:spPr>
          <a:xfrm>
            <a:off x="6182945" y="3753841"/>
            <a:ext cx="1040670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데이터 </a:t>
            </a:r>
            <a:r>
              <a:rPr lang="en-US" altLang="ko-KR" sz="1100" b="0" dirty="0">
                <a:latin typeface="+mn-ea"/>
                <a:ea typeface="+mn-ea"/>
              </a:rPr>
              <a:t>Agent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0F8AA677-F687-222D-8A3B-1FD92A91ACE9}"/>
              </a:ext>
            </a:extLst>
          </p:cNvPr>
          <p:cNvCxnSpPr>
            <a:cxnSpLocks/>
          </p:cNvCxnSpPr>
          <p:nvPr/>
        </p:nvCxnSpPr>
        <p:spPr>
          <a:xfrm>
            <a:off x="4584140" y="2441147"/>
            <a:ext cx="1181922" cy="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그림 104" descr="스크린샷, 도표, 라인이(가) 표시된 사진">
            <a:extLst>
              <a:ext uri="{FF2B5EF4-FFF2-40B4-BE49-F238E27FC236}">
                <a16:creationId xmlns:a16="http://schemas.microsoft.com/office/drawing/2014/main" id="{01E36231-092C-5D30-ADD2-C52059C35D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040" y="3727139"/>
            <a:ext cx="647928" cy="4300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1" name="그림 11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83B93D-1B80-B420-E347-1EBD852CB8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3391" y="2845657"/>
            <a:ext cx="601588" cy="40011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3D08EB2A-C468-59E0-D210-9204F504E1B6}"/>
              </a:ext>
            </a:extLst>
          </p:cNvPr>
          <p:cNvSpPr txBox="1"/>
          <p:nvPr/>
        </p:nvSpPr>
        <p:spPr>
          <a:xfrm>
            <a:off x="1847978" y="3428834"/>
            <a:ext cx="56938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답변서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68AFB6E-6ACF-7A1F-D0F1-4ED1D8A1F81D}"/>
              </a:ext>
            </a:extLst>
          </p:cNvPr>
          <p:cNvSpPr txBox="1"/>
          <p:nvPr/>
        </p:nvSpPr>
        <p:spPr>
          <a:xfrm>
            <a:off x="1797326" y="4194356"/>
            <a:ext cx="69762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분석파일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BD1364D-2091-3868-575A-5B4601164048}"/>
              </a:ext>
            </a:extLst>
          </p:cNvPr>
          <p:cNvSpPr txBox="1"/>
          <p:nvPr/>
        </p:nvSpPr>
        <p:spPr>
          <a:xfrm>
            <a:off x="5117713" y="3265768"/>
            <a:ext cx="631904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자동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분석</a:t>
            </a:r>
            <a:endParaRPr lang="en-US" altLang="ko-KR" sz="800" dirty="0">
              <a:latin typeface="+mn-ea"/>
              <a:ea typeface="+mn-ea"/>
            </a:endParaRPr>
          </a:p>
          <a:p>
            <a:pPr algn="ctr"/>
            <a:r>
              <a:rPr lang="ko-KR" altLang="en-US" sz="800" dirty="0">
                <a:latin typeface="+mn-ea"/>
                <a:ea typeface="+mn-ea"/>
              </a:rPr>
              <a:t>보고서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BE87DBD9-F3FF-6F8B-4CD4-2B36B92B8253}"/>
              </a:ext>
            </a:extLst>
          </p:cNvPr>
          <p:cNvSpPr/>
          <p:nvPr/>
        </p:nvSpPr>
        <p:spPr>
          <a:xfrm>
            <a:off x="3546706" y="1846372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 err="1">
                <a:solidFill>
                  <a:schemeClr val="tx1"/>
                </a:solidFill>
                <a:latin typeface="맑은 고딕"/>
                <a:ea typeface="맑은 고딕"/>
              </a:rPr>
              <a:t>sLLM</a:t>
            </a:r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 w/RAG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7D3E8B28-5662-7E23-CE04-9CE8A852F355}"/>
              </a:ext>
            </a:extLst>
          </p:cNvPr>
          <p:cNvSpPr/>
          <p:nvPr/>
        </p:nvSpPr>
        <p:spPr>
          <a:xfrm>
            <a:off x="6054621" y="1819568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자동분석시스템</a:t>
            </a:r>
          </a:p>
        </p:txBody>
      </p:sp>
      <p:cxnSp>
        <p:nvCxnSpPr>
          <p:cNvPr id="132" name="연결선: 꺾임 131">
            <a:extLst>
              <a:ext uri="{FF2B5EF4-FFF2-40B4-BE49-F238E27FC236}">
                <a16:creationId xmlns:a16="http://schemas.microsoft.com/office/drawing/2014/main" id="{DEA5477A-1D44-D96F-7CA7-FE754ED7A34C}"/>
              </a:ext>
            </a:extLst>
          </p:cNvPr>
          <p:cNvCxnSpPr/>
          <p:nvPr/>
        </p:nvCxnSpPr>
        <p:spPr>
          <a:xfrm rot="10800000" flipV="1">
            <a:off x="4323764" y="2725230"/>
            <a:ext cx="1442298" cy="659122"/>
          </a:xfrm>
          <a:prstGeom prst="bentConnector3">
            <a:avLst>
              <a:gd name="adj1" fmla="val 99756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E396C3F2-7B5E-3480-FB01-DB2802B20594}"/>
              </a:ext>
            </a:extLst>
          </p:cNvPr>
          <p:cNvSpPr txBox="1"/>
          <p:nvPr/>
        </p:nvSpPr>
        <p:spPr>
          <a:xfrm>
            <a:off x="6202325" y="2748809"/>
            <a:ext cx="1039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ECMiner</a:t>
            </a:r>
            <a:r>
              <a:rPr lang="en-US" altLang="ko-KR" sz="1200" dirty="0">
                <a:latin typeface="+mn-ea"/>
                <a:ea typeface="+mn-ea"/>
              </a:rPr>
              <a:t>™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79548D-C01B-F3D7-288E-166F6B5DA7D4}"/>
              </a:ext>
            </a:extLst>
          </p:cNvPr>
          <p:cNvSpPr/>
          <p:nvPr/>
        </p:nvSpPr>
        <p:spPr>
          <a:xfrm>
            <a:off x="1643437" y="6008093"/>
            <a:ext cx="1129871" cy="195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원천 데이터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28CF658-99EC-E71B-2A79-B2AAA0770932}"/>
              </a:ext>
            </a:extLst>
          </p:cNvPr>
          <p:cNvGrpSpPr/>
          <p:nvPr/>
        </p:nvGrpSpPr>
        <p:grpSpPr>
          <a:xfrm>
            <a:off x="4953000" y="4805816"/>
            <a:ext cx="859488" cy="573643"/>
            <a:chOff x="5430768" y="4809446"/>
            <a:chExt cx="859488" cy="573643"/>
          </a:xfrm>
        </p:grpSpPr>
        <p:sp>
          <p:nvSpPr>
            <p:cNvPr id="38" name="순서도: 자기 디스크 37">
              <a:extLst>
                <a:ext uri="{FF2B5EF4-FFF2-40B4-BE49-F238E27FC236}">
                  <a16:creationId xmlns:a16="http://schemas.microsoft.com/office/drawing/2014/main" id="{1354D432-1A8A-A47D-A731-77BA4E7BE89D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09C0F26-20C4-7D2F-BA13-94D95C52AC37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메타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2F514DD1-621E-694B-3AB2-0ED1299C85E9}"/>
              </a:ext>
            </a:extLst>
          </p:cNvPr>
          <p:cNvCxnSpPr>
            <a:cxnSpLocks/>
            <a:stCxn id="14" idx="1"/>
            <a:endCxn id="81" idx="2"/>
          </p:cNvCxnSpPr>
          <p:nvPr/>
        </p:nvCxnSpPr>
        <p:spPr>
          <a:xfrm rot="16200000" flipV="1">
            <a:off x="6088605" y="4554435"/>
            <a:ext cx="488049" cy="21885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B2AEA8A2-E3F4-0FE8-6B86-95296B644C09}"/>
              </a:ext>
            </a:extLst>
          </p:cNvPr>
          <p:cNvGrpSpPr/>
          <p:nvPr/>
        </p:nvGrpSpPr>
        <p:grpSpPr>
          <a:xfrm>
            <a:off x="3008784" y="5868207"/>
            <a:ext cx="895588" cy="538696"/>
            <a:chOff x="2467152" y="5534748"/>
            <a:chExt cx="825867" cy="538696"/>
          </a:xfrm>
        </p:grpSpPr>
        <p:sp>
          <p:nvSpPr>
            <p:cNvPr id="70" name="순서도: 자기 디스크 69">
              <a:extLst>
                <a:ext uri="{FF2B5EF4-FFF2-40B4-BE49-F238E27FC236}">
                  <a16:creationId xmlns:a16="http://schemas.microsoft.com/office/drawing/2014/main" id="{8586022A-2656-65C4-B72E-ECC57D321DC0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074DEBE-D5E6-6A5A-5732-86423466B7D8}"/>
                </a:ext>
              </a:extLst>
            </p:cNvPr>
            <p:cNvSpPr txBox="1"/>
            <p:nvPr/>
          </p:nvSpPr>
          <p:spPr>
            <a:xfrm>
              <a:off x="2467152" y="5721576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문서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E1BE05B-E8DE-C2B4-FB70-27595B3F7234}"/>
              </a:ext>
            </a:extLst>
          </p:cNvPr>
          <p:cNvGrpSpPr/>
          <p:nvPr/>
        </p:nvGrpSpPr>
        <p:grpSpPr>
          <a:xfrm>
            <a:off x="6056088" y="4805816"/>
            <a:ext cx="859488" cy="573643"/>
            <a:chOff x="5430768" y="4809446"/>
            <a:chExt cx="859488" cy="573643"/>
          </a:xfrm>
        </p:grpSpPr>
        <p:sp>
          <p:nvSpPr>
            <p:cNvPr id="78" name="순서도: 자기 디스크 77">
              <a:extLst>
                <a:ext uri="{FF2B5EF4-FFF2-40B4-BE49-F238E27FC236}">
                  <a16:creationId xmlns:a16="http://schemas.microsoft.com/office/drawing/2014/main" id="{66DAEBFD-197F-1C98-8FE2-6903DDA7584A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99451EC-7AE8-1B99-6513-C6F0D1CBF67B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분석용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333F8CA0-7592-E30A-DCBF-330D85253BEA}"/>
              </a:ext>
            </a:extLst>
          </p:cNvPr>
          <p:cNvCxnSpPr>
            <a:cxnSpLocks/>
            <a:stCxn id="70" idx="1"/>
            <a:endCxn id="81" idx="2"/>
          </p:cNvCxnSpPr>
          <p:nvPr/>
        </p:nvCxnSpPr>
        <p:spPr>
          <a:xfrm rot="5400000" flipH="1" flipV="1">
            <a:off x="4113328" y="4743170"/>
            <a:ext cx="463534" cy="17865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BD577CBB-6248-6C51-A095-1A8588BFEE7D}"/>
              </a:ext>
            </a:extLst>
          </p:cNvPr>
          <p:cNvCxnSpPr>
            <a:cxnSpLocks/>
          </p:cNvCxnSpPr>
          <p:nvPr/>
        </p:nvCxnSpPr>
        <p:spPr>
          <a:xfrm>
            <a:off x="7223615" y="4015451"/>
            <a:ext cx="18490" cy="1585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F76F0F0F-E216-E437-24D9-4428F31F4D22}"/>
              </a:ext>
            </a:extLst>
          </p:cNvPr>
          <p:cNvCxnSpPr>
            <a:cxnSpLocks/>
            <a:stCxn id="16" idx="1"/>
            <a:endCxn id="40" idx="2"/>
          </p:cNvCxnSpPr>
          <p:nvPr/>
        </p:nvCxnSpPr>
        <p:spPr>
          <a:xfrm flipH="1" flipV="1">
            <a:off x="4164157" y="4236105"/>
            <a:ext cx="1471" cy="5753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667F5857-7872-21F1-8916-2088F278BF4F}"/>
              </a:ext>
            </a:extLst>
          </p:cNvPr>
          <p:cNvCxnSpPr/>
          <p:nvPr/>
        </p:nvCxnSpPr>
        <p:spPr>
          <a:xfrm>
            <a:off x="6393160" y="4015451"/>
            <a:ext cx="0" cy="6850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5AD62007-F8F4-DC9D-94A0-0554C42A7A3C}"/>
              </a:ext>
            </a:extLst>
          </p:cNvPr>
          <p:cNvCxnSpPr>
            <a:cxnSpLocks/>
            <a:stCxn id="16" idx="4"/>
            <a:endCxn id="38" idx="2"/>
          </p:cNvCxnSpPr>
          <p:nvPr/>
        </p:nvCxnSpPr>
        <p:spPr>
          <a:xfrm flipV="1">
            <a:off x="4536996" y="5075164"/>
            <a:ext cx="458090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4896A157-09E3-158B-136E-06B040F417F4}"/>
              </a:ext>
            </a:extLst>
          </p:cNvPr>
          <p:cNvCxnSpPr>
            <a:stCxn id="38" idx="4"/>
          </p:cNvCxnSpPr>
          <p:nvPr/>
        </p:nvCxnSpPr>
        <p:spPr>
          <a:xfrm>
            <a:off x="5737823" y="5075164"/>
            <a:ext cx="353476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0BEA81-654E-C72C-1F31-F8C31C13F873}"/>
              </a:ext>
            </a:extLst>
          </p:cNvPr>
          <p:cNvSpPr/>
          <p:nvPr/>
        </p:nvSpPr>
        <p:spPr bwMode="auto">
          <a:xfrm>
            <a:off x="3066919" y="1751618"/>
            <a:ext cx="2127356" cy="280796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C30675-B0C3-4890-B6CE-1A65CA178703}"/>
              </a:ext>
            </a:extLst>
          </p:cNvPr>
          <p:cNvSpPr/>
          <p:nvPr/>
        </p:nvSpPr>
        <p:spPr>
          <a:xfrm>
            <a:off x="7482996" y="4874204"/>
            <a:ext cx="1195817" cy="374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AIDA:</a:t>
            </a:r>
          </a:p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Ontology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20665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FF8C6-FDA2-B420-297E-E35587C4C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직사각형 80">
            <a:extLst>
              <a:ext uri="{FF2B5EF4-FFF2-40B4-BE49-F238E27FC236}">
                <a16:creationId xmlns:a16="http://schemas.microsoft.com/office/drawing/2014/main" id="{38EEE9F4-58DB-D032-A0C1-D94E7858C0FD}"/>
              </a:ext>
            </a:extLst>
          </p:cNvPr>
          <p:cNvSpPr/>
          <p:nvPr/>
        </p:nvSpPr>
        <p:spPr>
          <a:xfrm>
            <a:off x="3451826" y="4718427"/>
            <a:ext cx="3573080" cy="68624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C8DE877E-0C8B-B184-82F2-664C6C7BA8B3}"/>
              </a:ext>
            </a:extLst>
          </p:cNvPr>
          <p:cNvSpPr/>
          <p:nvPr/>
        </p:nvSpPr>
        <p:spPr>
          <a:xfrm>
            <a:off x="3216828" y="1991262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B935E3D-09C7-8E53-47C7-0CACCC4FA106}"/>
              </a:ext>
            </a:extLst>
          </p:cNvPr>
          <p:cNvSpPr/>
          <p:nvPr/>
        </p:nvSpPr>
        <p:spPr>
          <a:xfrm>
            <a:off x="5788151" y="1978137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F6515C9-9A1B-3F7E-3E79-C6DB0F842B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AIDA: </a:t>
            </a:r>
            <a:r>
              <a:rPr lang="ko-KR" altLang="en-US" dirty="0"/>
              <a:t>자동분석시스템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145533-7858-BEAD-8B96-18017BE3F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79158"/>
            <a:ext cx="9482335" cy="708950"/>
          </a:xfrm>
        </p:spPr>
        <p:txBody>
          <a:bodyPr/>
          <a:lstStyle/>
          <a:p>
            <a:r>
              <a:rPr lang="en-US" altLang="ko-KR" dirty="0"/>
              <a:t>AIDA</a:t>
            </a:r>
            <a:r>
              <a:rPr lang="ko-KR" altLang="en-US" dirty="0"/>
              <a:t>의 자동분석시스템은 </a:t>
            </a:r>
            <a:r>
              <a:rPr lang="en-US" altLang="ko-KR" dirty="0"/>
              <a:t>1) </a:t>
            </a:r>
            <a:r>
              <a:rPr lang="ko-KR" altLang="en-US" dirty="0"/>
              <a:t>자동분석 생성기를 통해 데이터를 이해하여 사용자 의도에 맞는 분석 프로세스를 생성합니다</a:t>
            </a:r>
            <a:r>
              <a:rPr lang="en-US" altLang="ko-KR" dirty="0"/>
              <a:t>. </a:t>
            </a:r>
            <a:r>
              <a:rPr lang="ko-KR" altLang="en-US" dirty="0"/>
              <a:t>이를 기반으로 </a:t>
            </a:r>
            <a:r>
              <a:rPr lang="en-US" altLang="ko-KR" dirty="0"/>
              <a:t>2) </a:t>
            </a:r>
            <a:r>
              <a:rPr lang="ko-KR" altLang="en-US" dirty="0"/>
              <a:t>데이터 </a:t>
            </a:r>
            <a:r>
              <a:rPr lang="en-US" altLang="ko-KR" dirty="0"/>
              <a:t>Agent</a:t>
            </a:r>
            <a:r>
              <a:rPr lang="ko-KR" altLang="en-US" dirty="0"/>
              <a:t>는 분석용 데이터를 수집하여 </a:t>
            </a:r>
            <a:r>
              <a:rPr lang="en-US" altLang="ko-KR" dirty="0"/>
              <a:t>3) ECMiner™</a:t>
            </a:r>
            <a:r>
              <a:rPr lang="ko-KR" altLang="en-US" dirty="0"/>
              <a:t>에서 탐색적 분석</a:t>
            </a:r>
            <a:r>
              <a:rPr lang="en-US" altLang="ko-KR" dirty="0"/>
              <a:t>, </a:t>
            </a:r>
            <a:r>
              <a:rPr lang="ko-KR" altLang="en-US" dirty="0"/>
              <a:t>시각화</a:t>
            </a:r>
            <a:r>
              <a:rPr lang="en-US" altLang="ko-KR" dirty="0"/>
              <a:t>, </a:t>
            </a:r>
            <a:r>
              <a:rPr lang="ko-KR" altLang="en-US" dirty="0"/>
              <a:t>모델링까지 </a:t>
            </a:r>
            <a:r>
              <a:rPr lang="ko-KR" altLang="en-US" b="1" dirty="0">
                <a:solidFill>
                  <a:srgbClr val="C00000"/>
                </a:solidFill>
              </a:rPr>
              <a:t>수행하고</a:t>
            </a:r>
            <a:r>
              <a:rPr lang="en-US" altLang="ko-KR" b="1" dirty="0">
                <a:solidFill>
                  <a:srgbClr val="C00000"/>
                </a:solidFill>
              </a:rPr>
              <a:t>, </a:t>
            </a:r>
            <a:r>
              <a:rPr lang="ko-KR" altLang="en-US" b="1" dirty="0">
                <a:solidFill>
                  <a:srgbClr val="C00000"/>
                </a:solidFill>
              </a:rPr>
              <a:t>최종적으로 분석 보고서를 제공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8902C75-1269-3B75-DB45-35448C29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 </a:t>
            </a:r>
            <a:r>
              <a:rPr lang="ko-KR" altLang="en-US" dirty="0"/>
              <a:t>기능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E9AD78-E602-E83E-891F-DEA0F2F5F9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 descr="만화 영화, 소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AF397A-CFF2-F918-C60D-BE8E898F2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19" y="2486708"/>
            <a:ext cx="877429" cy="1008109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F361544-AA46-8BBC-BC70-7E35A7A24B04}"/>
              </a:ext>
            </a:extLst>
          </p:cNvPr>
          <p:cNvSpPr/>
          <p:nvPr/>
        </p:nvSpPr>
        <p:spPr>
          <a:xfrm>
            <a:off x="3728446" y="2363897"/>
            <a:ext cx="855694" cy="6480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24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맑은 고딕"/>
                <a:ea typeface="맑은 고딕"/>
              </a:rPr>
              <a:t>AI</a:t>
            </a:r>
            <a:endParaRPr lang="ko-KR" altLang="en-US" sz="24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맑은 고딕"/>
              <a:ea typeface="맑은 고딕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AE494EE7-1618-C8E7-C8DD-9870216CB67A}"/>
              </a:ext>
            </a:extLst>
          </p:cNvPr>
          <p:cNvGrpSpPr/>
          <p:nvPr/>
        </p:nvGrpSpPr>
        <p:grpSpPr>
          <a:xfrm>
            <a:off x="1818171" y="2485755"/>
            <a:ext cx="1910275" cy="296721"/>
            <a:chOff x="1568281" y="2844247"/>
            <a:chExt cx="1599323" cy="296721"/>
          </a:xfrm>
        </p:grpSpPr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59DC32B3-18DD-B5E3-9207-E14175432C72}"/>
                </a:ext>
              </a:extLst>
            </p:cNvPr>
            <p:cNvCxnSpPr>
              <a:cxnSpLocks/>
            </p:cNvCxnSpPr>
            <p:nvPr/>
          </p:nvCxnSpPr>
          <p:spPr>
            <a:xfrm>
              <a:off x="1568281" y="2844247"/>
              <a:ext cx="1599323" cy="9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EE944836-EA05-A466-FD29-AEE7EEF5FB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8281" y="3140968"/>
              <a:ext cx="15993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그림 35" descr="도표, 디자인, 일렉트릭 블루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2ADA94-276A-447F-61CF-A082817FD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171" y="2901045"/>
            <a:ext cx="485576" cy="57725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A68DA3A-14FF-D8B4-220A-52EA07E5DCF2}"/>
              </a:ext>
            </a:extLst>
          </p:cNvPr>
          <p:cNvSpPr txBox="1"/>
          <p:nvPr/>
        </p:nvSpPr>
        <p:spPr>
          <a:xfrm>
            <a:off x="2258897" y="2223239"/>
            <a:ext cx="441146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질의</a:t>
            </a:r>
          </a:p>
        </p:txBody>
      </p:sp>
      <p:pic>
        <p:nvPicPr>
          <p:cNvPr id="40" name="그림 39" descr="원, 도표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7BE218-CCD6-0605-28F2-EA61EA9B1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802" y="3401565"/>
            <a:ext cx="946709" cy="8345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EAEEF25-ED63-EEC7-588C-9757A64B7776}"/>
              </a:ext>
            </a:extLst>
          </p:cNvPr>
          <p:cNvCxnSpPr>
            <a:cxnSpLocks/>
            <a:stCxn id="30" idx="2"/>
            <a:endCxn id="40" idx="0"/>
          </p:cNvCxnSpPr>
          <p:nvPr/>
        </p:nvCxnSpPr>
        <p:spPr>
          <a:xfrm>
            <a:off x="4156293" y="3011969"/>
            <a:ext cx="7864" cy="3895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그림 44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5D7A6C-24A9-D0F3-7B9D-04754AB696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163"/>
          <a:stretch>
            <a:fillRect/>
          </a:stretch>
        </p:blipFill>
        <p:spPr>
          <a:xfrm>
            <a:off x="5981338" y="2795944"/>
            <a:ext cx="1440160" cy="781584"/>
          </a:xfrm>
          <a:prstGeom prst="rect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0BCD9083-4BF5-7A4D-7CD2-44870CBA498D}"/>
              </a:ext>
            </a:extLst>
          </p:cNvPr>
          <p:cNvGrpSpPr/>
          <p:nvPr/>
        </p:nvGrpSpPr>
        <p:grpSpPr>
          <a:xfrm>
            <a:off x="6567632" y="6120185"/>
            <a:ext cx="243677" cy="40038"/>
            <a:chOff x="4377982" y="5768287"/>
            <a:chExt cx="224707" cy="40038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76BD8A6-2784-7F90-41DE-ABD8FCE9404A}"/>
                </a:ext>
              </a:extLst>
            </p:cNvPr>
            <p:cNvSpPr/>
            <p:nvPr/>
          </p:nvSpPr>
          <p:spPr>
            <a:xfrm>
              <a:off x="4571251" y="5773585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D470BA8-C9C6-7604-0110-85C80CF32D3B}"/>
                </a:ext>
              </a:extLst>
            </p:cNvPr>
            <p:cNvSpPr/>
            <p:nvPr/>
          </p:nvSpPr>
          <p:spPr>
            <a:xfrm>
              <a:off x="4472220" y="5768287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2AF8C48C-21A9-04C3-CAD6-65C8C9B13CC6}"/>
                </a:ext>
              </a:extLst>
            </p:cNvPr>
            <p:cNvSpPr/>
            <p:nvPr/>
          </p:nvSpPr>
          <p:spPr>
            <a:xfrm>
              <a:off x="4377982" y="5773180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D3BA6A9-3F33-E59A-0E48-71FC6AFDD495}"/>
              </a:ext>
            </a:extLst>
          </p:cNvPr>
          <p:cNvGrpSpPr/>
          <p:nvPr/>
        </p:nvGrpSpPr>
        <p:grpSpPr>
          <a:xfrm>
            <a:off x="4304928" y="5886646"/>
            <a:ext cx="895588" cy="538696"/>
            <a:chOff x="2477310" y="5534748"/>
            <a:chExt cx="825867" cy="538696"/>
          </a:xfrm>
        </p:grpSpPr>
        <p:sp>
          <p:nvSpPr>
            <p:cNvPr id="15" name="순서도: 자기 디스크 14">
              <a:extLst>
                <a:ext uri="{FF2B5EF4-FFF2-40B4-BE49-F238E27FC236}">
                  <a16:creationId xmlns:a16="http://schemas.microsoft.com/office/drawing/2014/main" id="{D89B6D32-FDEF-EEFA-DF67-CAD289A6396B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FD504A6-40AC-B26B-6A77-26530271729A}"/>
                </a:ext>
              </a:extLst>
            </p:cNvPr>
            <p:cNvSpPr txBox="1"/>
            <p:nvPr/>
          </p:nvSpPr>
          <p:spPr>
            <a:xfrm>
              <a:off x="2477310" y="5743608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운전 데이터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7E941D1-6CEA-DBC9-8F30-C6ED214E1610}"/>
              </a:ext>
            </a:extLst>
          </p:cNvPr>
          <p:cNvGrpSpPr/>
          <p:nvPr/>
        </p:nvGrpSpPr>
        <p:grpSpPr>
          <a:xfrm>
            <a:off x="5659181" y="5886646"/>
            <a:ext cx="805440" cy="538696"/>
            <a:chOff x="3481903" y="5534748"/>
            <a:chExt cx="742737" cy="538696"/>
          </a:xfrm>
        </p:grpSpPr>
        <p:sp>
          <p:nvSpPr>
            <p:cNvPr id="8" name="순서도: 자기 디스크 7">
              <a:extLst>
                <a:ext uri="{FF2B5EF4-FFF2-40B4-BE49-F238E27FC236}">
                  <a16:creationId xmlns:a16="http://schemas.microsoft.com/office/drawing/2014/main" id="{1C491D54-B972-FAC6-D26F-44762F373EF8}"/>
                </a:ext>
              </a:extLst>
            </p:cNvPr>
            <p:cNvSpPr/>
            <p:nvPr/>
          </p:nvSpPr>
          <p:spPr>
            <a:xfrm>
              <a:off x="3481903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5A3A827-32EF-90E8-2A70-E316BB350752}"/>
                </a:ext>
              </a:extLst>
            </p:cNvPr>
            <p:cNvSpPr txBox="1"/>
            <p:nvPr/>
          </p:nvSpPr>
          <p:spPr>
            <a:xfrm>
              <a:off x="3648302" y="5743207"/>
              <a:ext cx="441146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품질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024BB2D-8565-FF76-2A13-3D5CB040CFD3}"/>
              </a:ext>
            </a:extLst>
          </p:cNvPr>
          <p:cNvGrpSpPr/>
          <p:nvPr/>
        </p:nvGrpSpPr>
        <p:grpSpPr>
          <a:xfrm>
            <a:off x="7024172" y="5892722"/>
            <a:ext cx="809148" cy="538696"/>
            <a:chOff x="4714022" y="5540824"/>
            <a:chExt cx="746156" cy="538696"/>
          </a:xfrm>
        </p:grpSpPr>
        <p:sp>
          <p:nvSpPr>
            <p:cNvPr id="14" name="순서도: 자기 디스크 13">
              <a:extLst>
                <a:ext uri="{FF2B5EF4-FFF2-40B4-BE49-F238E27FC236}">
                  <a16:creationId xmlns:a16="http://schemas.microsoft.com/office/drawing/2014/main" id="{3A96FD7C-C293-52B3-6CA1-F9C88073464A}"/>
                </a:ext>
              </a:extLst>
            </p:cNvPr>
            <p:cNvSpPr/>
            <p:nvPr/>
          </p:nvSpPr>
          <p:spPr>
            <a:xfrm>
              <a:off x="4714022" y="5540824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DE9820-20A6-BB13-08E6-05B3F54A37BE}"/>
                </a:ext>
              </a:extLst>
            </p:cNvPr>
            <p:cNvSpPr txBox="1"/>
            <p:nvPr/>
          </p:nvSpPr>
          <p:spPr>
            <a:xfrm>
              <a:off x="4717667" y="5745944"/>
              <a:ext cx="742511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이력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C95A79B-A732-1E86-3E67-0B81BC0DFA28}"/>
              </a:ext>
            </a:extLst>
          </p:cNvPr>
          <p:cNvGrpSpPr/>
          <p:nvPr/>
        </p:nvGrpSpPr>
        <p:grpSpPr>
          <a:xfrm>
            <a:off x="3794259" y="4811438"/>
            <a:ext cx="742737" cy="539860"/>
            <a:chOff x="6454142" y="5520816"/>
            <a:chExt cx="742737" cy="539860"/>
          </a:xfrm>
        </p:grpSpPr>
        <p:sp>
          <p:nvSpPr>
            <p:cNvPr id="16" name="순서도: 자기 디스크 15">
              <a:extLst>
                <a:ext uri="{FF2B5EF4-FFF2-40B4-BE49-F238E27FC236}">
                  <a16:creationId xmlns:a16="http://schemas.microsoft.com/office/drawing/2014/main" id="{1118E9DE-9314-FB5E-B1DA-A28588812208}"/>
                </a:ext>
              </a:extLst>
            </p:cNvPr>
            <p:cNvSpPr/>
            <p:nvPr/>
          </p:nvSpPr>
          <p:spPr>
            <a:xfrm>
              <a:off x="6454142" y="552081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7326BC0-8E95-D736-93FF-882212DDFF93}"/>
                </a:ext>
              </a:extLst>
            </p:cNvPr>
            <p:cNvSpPr txBox="1"/>
            <p:nvPr/>
          </p:nvSpPr>
          <p:spPr>
            <a:xfrm>
              <a:off x="6499252" y="5660566"/>
              <a:ext cx="69762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온톨로지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000" dirty="0">
                  <a:latin typeface="+mn-ea"/>
                  <a:ea typeface="+mn-ea"/>
                </a:rPr>
                <a:t>DB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</p:grp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0CC5D52-D8F2-F0F2-E0CA-261BC5407CA0}"/>
              </a:ext>
            </a:extLst>
          </p:cNvPr>
          <p:cNvSpPr/>
          <p:nvPr/>
        </p:nvSpPr>
        <p:spPr>
          <a:xfrm>
            <a:off x="5981340" y="2219334"/>
            <a:ext cx="1440159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0C55B55-84BD-0C8A-7D08-7FFE7549D714}"/>
              </a:ext>
            </a:extLst>
          </p:cNvPr>
          <p:cNvSpPr/>
          <p:nvPr/>
        </p:nvSpPr>
        <p:spPr>
          <a:xfrm>
            <a:off x="5981340" y="3823177"/>
            <a:ext cx="1440158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1DC779-AFFD-4DCA-1EF2-0FC0E6F3F47E}"/>
              </a:ext>
            </a:extLst>
          </p:cNvPr>
          <p:cNvSpPr txBox="1"/>
          <p:nvPr/>
        </p:nvSpPr>
        <p:spPr>
          <a:xfrm>
            <a:off x="6091299" y="2239342"/>
            <a:ext cx="122180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자동분석 </a:t>
            </a:r>
            <a:r>
              <a:rPr lang="ko-KR" altLang="en-US" sz="1100" b="0" dirty="0" err="1">
                <a:latin typeface="+mn-ea"/>
                <a:ea typeface="+mn-ea"/>
              </a:rPr>
              <a:t>생성기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151D284-D1BF-7F43-004C-C6BF7AB4A0E7}"/>
              </a:ext>
            </a:extLst>
          </p:cNvPr>
          <p:cNvCxnSpPr>
            <a:cxnSpLocks/>
            <a:stCxn id="52" idx="2"/>
            <a:endCxn id="45" idx="0"/>
          </p:cNvCxnSpPr>
          <p:nvPr/>
        </p:nvCxnSpPr>
        <p:spPr>
          <a:xfrm flipH="1">
            <a:off x="6701418" y="2500678"/>
            <a:ext cx="2" cy="295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8825F7E-0E8D-F3C3-7FD4-9B8C25A71CE8}"/>
              </a:ext>
            </a:extLst>
          </p:cNvPr>
          <p:cNvCxnSpPr>
            <a:cxnSpLocks/>
            <a:stCxn id="45" idx="2"/>
            <a:endCxn id="53" idx="0"/>
          </p:cNvCxnSpPr>
          <p:nvPr/>
        </p:nvCxnSpPr>
        <p:spPr>
          <a:xfrm>
            <a:off x="6701418" y="3577528"/>
            <a:ext cx="1" cy="24564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6AEF4D1-79CA-1859-25CB-4D3370A41DD5}"/>
              </a:ext>
            </a:extLst>
          </p:cNvPr>
          <p:cNvSpPr txBox="1"/>
          <p:nvPr/>
        </p:nvSpPr>
        <p:spPr>
          <a:xfrm>
            <a:off x="6182945" y="3825097"/>
            <a:ext cx="1040670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데이터 </a:t>
            </a:r>
            <a:r>
              <a:rPr lang="en-US" altLang="ko-KR" sz="1100" b="0" dirty="0">
                <a:latin typeface="+mn-ea"/>
                <a:ea typeface="+mn-ea"/>
              </a:rPr>
              <a:t>Agent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2CADA812-D978-54A1-81D4-0E9B3582A299}"/>
              </a:ext>
            </a:extLst>
          </p:cNvPr>
          <p:cNvCxnSpPr>
            <a:cxnSpLocks/>
          </p:cNvCxnSpPr>
          <p:nvPr/>
        </p:nvCxnSpPr>
        <p:spPr>
          <a:xfrm>
            <a:off x="4584140" y="2441147"/>
            <a:ext cx="1181922" cy="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그림 104" descr="스크린샷, 도표, 라인이(가) 표시된 사진">
            <a:extLst>
              <a:ext uri="{FF2B5EF4-FFF2-40B4-BE49-F238E27FC236}">
                <a16:creationId xmlns:a16="http://schemas.microsoft.com/office/drawing/2014/main" id="{50547564-13F8-420C-0D27-20EEBBA849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040" y="3727139"/>
            <a:ext cx="647928" cy="4300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1" name="그림 11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0D4EE9-AA67-D9F3-630C-3496C769FD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3391" y="2845657"/>
            <a:ext cx="601588" cy="40011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4F89F4F5-ED0D-96CA-04A0-87C54204EB45}"/>
              </a:ext>
            </a:extLst>
          </p:cNvPr>
          <p:cNvSpPr txBox="1"/>
          <p:nvPr/>
        </p:nvSpPr>
        <p:spPr>
          <a:xfrm>
            <a:off x="1847978" y="3428834"/>
            <a:ext cx="56938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답변서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387501F-FE0C-91B5-7804-3CC222631A0E}"/>
              </a:ext>
            </a:extLst>
          </p:cNvPr>
          <p:cNvSpPr txBox="1"/>
          <p:nvPr/>
        </p:nvSpPr>
        <p:spPr>
          <a:xfrm>
            <a:off x="1797326" y="4194356"/>
            <a:ext cx="69762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분석파일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73BEF9F-4206-C6E8-EFB1-047BDCAA9C7C}"/>
              </a:ext>
            </a:extLst>
          </p:cNvPr>
          <p:cNvSpPr txBox="1"/>
          <p:nvPr/>
        </p:nvSpPr>
        <p:spPr>
          <a:xfrm>
            <a:off x="5117713" y="3265768"/>
            <a:ext cx="631904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자동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분석</a:t>
            </a:r>
            <a:endParaRPr lang="en-US" altLang="ko-KR" sz="800" dirty="0">
              <a:latin typeface="+mn-ea"/>
              <a:ea typeface="+mn-ea"/>
            </a:endParaRPr>
          </a:p>
          <a:p>
            <a:pPr algn="ctr"/>
            <a:r>
              <a:rPr lang="ko-KR" altLang="en-US" sz="800" dirty="0">
                <a:latin typeface="+mn-ea"/>
                <a:ea typeface="+mn-ea"/>
              </a:rPr>
              <a:t>보고서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2BAB1FC2-83E5-96B3-C148-60A2A704E626}"/>
              </a:ext>
            </a:extLst>
          </p:cNvPr>
          <p:cNvSpPr/>
          <p:nvPr/>
        </p:nvSpPr>
        <p:spPr>
          <a:xfrm>
            <a:off x="3546706" y="1846372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 err="1">
                <a:solidFill>
                  <a:schemeClr val="tx1"/>
                </a:solidFill>
                <a:latin typeface="맑은 고딕"/>
                <a:ea typeface="맑은 고딕"/>
              </a:rPr>
              <a:t>sLLM</a:t>
            </a:r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 w/RAG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4BA020FB-E7CA-DF4D-3DEE-9185DEAA3986}"/>
              </a:ext>
            </a:extLst>
          </p:cNvPr>
          <p:cNvSpPr/>
          <p:nvPr/>
        </p:nvSpPr>
        <p:spPr>
          <a:xfrm>
            <a:off x="6054621" y="1819568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자동분석시스템</a:t>
            </a:r>
          </a:p>
        </p:txBody>
      </p:sp>
      <p:cxnSp>
        <p:nvCxnSpPr>
          <p:cNvPr id="132" name="연결선: 꺾임 131">
            <a:extLst>
              <a:ext uri="{FF2B5EF4-FFF2-40B4-BE49-F238E27FC236}">
                <a16:creationId xmlns:a16="http://schemas.microsoft.com/office/drawing/2014/main" id="{AFD60FA2-A064-675A-7DA1-E999227443D7}"/>
              </a:ext>
            </a:extLst>
          </p:cNvPr>
          <p:cNvCxnSpPr/>
          <p:nvPr/>
        </p:nvCxnSpPr>
        <p:spPr>
          <a:xfrm rot="10800000" flipV="1">
            <a:off x="4323764" y="2725230"/>
            <a:ext cx="1442298" cy="659122"/>
          </a:xfrm>
          <a:prstGeom prst="bentConnector3">
            <a:avLst>
              <a:gd name="adj1" fmla="val 99756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E9BBED05-3130-120E-F54D-39A4ACEDA181}"/>
              </a:ext>
            </a:extLst>
          </p:cNvPr>
          <p:cNvSpPr txBox="1"/>
          <p:nvPr/>
        </p:nvSpPr>
        <p:spPr>
          <a:xfrm>
            <a:off x="6202325" y="2748809"/>
            <a:ext cx="1039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ECMiner</a:t>
            </a:r>
            <a:r>
              <a:rPr lang="en-US" altLang="ko-KR" sz="1200" dirty="0">
                <a:latin typeface="+mn-ea"/>
                <a:ea typeface="+mn-ea"/>
              </a:rPr>
              <a:t>™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539136-F41D-8334-5DC7-523773C67A0C}"/>
              </a:ext>
            </a:extLst>
          </p:cNvPr>
          <p:cNvSpPr/>
          <p:nvPr/>
        </p:nvSpPr>
        <p:spPr>
          <a:xfrm>
            <a:off x="1643437" y="6008093"/>
            <a:ext cx="1129871" cy="195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원천 데이터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46728BC-CA39-BDAF-3A6E-FEC02F8D66B0}"/>
              </a:ext>
            </a:extLst>
          </p:cNvPr>
          <p:cNvGrpSpPr/>
          <p:nvPr/>
        </p:nvGrpSpPr>
        <p:grpSpPr>
          <a:xfrm>
            <a:off x="4953000" y="4805816"/>
            <a:ext cx="859488" cy="573643"/>
            <a:chOff x="5430768" y="4809446"/>
            <a:chExt cx="859488" cy="573643"/>
          </a:xfrm>
        </p:grpSpPr>
        <p:sp>
          <p:nvSpPr>
            <p:cNvPr id="38" name="순서도: 자기 디스크 37">
              <a:extLst>
                <a:ext uri="{FF2B5EF4-FFF2-40B4-BE49-F238E27FC236}">
                  <a16:creationId xmlns:a16="http://schemas.microsoft.com/office/drawing/2014/main" id="{2A15407D-712E-4CA6-1F21-6701A549B9C0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1C4B850-8AF8-C66E-CAFE-E92969A46085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메타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571C2FF8-9E77-9066-B5DA-565004ACF47E}"/>
              </a:ext>
            </a:extLst>
          </p:cNvPr>
          <p:cNvCxnSpPr>
            <a:cxnSpLocks/>
            <a:stCxn id="14" idx="1"/>
            <a:endCxn id="81" idx="2"/>
          </p:cNvCxnSpPr>
          <p:nvPr/>
        </p:nvCxnSpPr>
        <p:spPr>
          <a:xfrm rot="16200000" flipV="1">
            <a:off x="6088605" y="4554435"/>
            <a:ext cx="488049" cy="21885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25E3F583-B98A-A5CC-3581-0A494C23A4C6}"/>
              </a:ext>
            </a:extLst>
          </p:cNvPr>
          <p:cNvGrpSpPr/>
          <p:nvPr/>
        </p:nvGrpSpPr>
        <p:grpSpPr>
          <a:xfrm>
            <a:off x="3008784" y="5868207"/>
            <a:ext cx="895588" cy="538696"/>
            <a:chOff x="2467152" y="5534748"/>
            <a:chExt cx="825867" cy="538696"/>
          </a:xfrm>
        </p:grpSpPr>
        <p:sp>
          <p:nvSpPr>
            <p:cNvPr id="70" name="순서도: 자기 디스크 69">
              <a:extLst>
                <a:ext uri="{FF2B5EF4-FFF2-40B4-BE49-F238E27FC236}">
                  <a16:creationId xmlns:a16="http://schemas.microsoft.com/office/drawing/2014/main" id="{4919E219-BC3E-1B04-0C18-BCB195176E87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07B3B84-E914-6ADA-A264-6C838BBC679D}"/>
                </a:ext>
              </a:extLst>
            </p:cNvPr>
            <p:cNvSpPr txBox="1"/>
            <p:nvPr/>
          </p:nvSpPr>
          <p:spPr>
            <a:xfrm>
              <a:off x="2467152" y="5721576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문서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2BB099-3754-4362-E675-2CA7EE9663C4}"/>
              </a:ext>
            </a:extLst>
          </p:cNvPr>
          <p:cNvGrpSpPr/>
          <p:nvPr/>
        </p:nvGrpSpPr>
        <p:grpSpPr>
          <a:xfrm>
            <a:off x="6056088" y="4805816"/>
            <a:ext cx="859488" cy="573643"/>
            <a:chOff x="5430768" y="4809446"/>
            <a:chExt cx="859488" cy="573643"/>
          </a:xfrm>
        </p:grpSpPr>
        <p:sp>
          <p:nvSpPr>
            <p:cNvPr id="78" name="순서도: 자기 디스크 77">
              <a:extLst>
                <a:ext uri="{FF2B5EF4-FFF2-40B4-BE49-F238E27FC236}">
                  <a16:creationId xmlns:a16="http://schemas.microsoft.com/office/drawing/2014/main" id="{DB05CA66-303C-8273-3ACF-ED6501CDCA98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C1BC779-9A71-F29C-DF00-52FF3E8373FA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분석용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5238945F-C5C0-9FA9-BCAA-806FA4D1B817}"/>
              </a:ext>
            </a:extLst>
          </p:cNvPr>
          <p:cNvCxnSpPr>
            <a:cxnSpLocks/>
            <a:stCxn id="70" idx="1"/>
            <a:endCxn id="81" idx="2"/>
          </p:cNvCxnSpPr>
          <p:nvPr/>
        </p:nvCxnSpPr>
        <p:spPr>
          <a:xfrm rot="5400000" flipH="1" flipV="1">
            <a:off x="4113328" y="4743170"/>
            <a:ext cx="463534" cy="17865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4140FEC8-4600-1E1E-1809-CDACA9C3BD39}"/>
              </a:ext>
            </a:extLst>
          </p:cNvPr>
          <p:cNvCxnSpPr>
            <a:cxnSpLocks/>
          </p:cNvCxnSpPr>
          <p:nvPr/>
        </p:nvCxnSpPr>
        <p:spPr>
          <a:xfrm>
            <a:off x="7242105" y="4104521"/>
            <a:ext cx="0" cy="1496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62E09250-CA5A-93F5-6707-A9829F375DB8}"/>
              </a:ext>
            </a:extLst>
          </p:cNvPr>
          <p:cNvCxnSpPr>
            <a:cxnSpLocks/>
            <a:stCxn id="16" idx="1"/>
            <a:endCxn id="40" idx="2"/>
          </p:cNvCxnSpPr>
          <p:nvPr/>
        </p:nvCxnSpPr>
        <p:spPr>
          <a:xfrm flipH="1" flipV="1">
            <a:off x="4164157" y="4236105"/>
            <a:ext cx="1471" cy="5753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7DFB1A6E-8587-0720-A570-F82D2B58D0FD}"/>
              </a:ext>
            </a:extLst>
          </p:cNvPr>
          <p:cNvCxnSpPr>
            <a:cxnSpLocks/>
          </p:cNvCxnSpPr>
          <p:nvPr/>
        </p:nvCxnSpPr>
        <p:spPr>
          <a:xfrm>
            <a:off x="6393160" y="4104521"/>
            <a:ext cx="0" cy="5959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98308124-2562-AE4E-BD2C-1DC58A092E9F}"/>
              </a:ext>
            </a:extLst>
          </p:cNvPr>
          <p:cNvCxnSpPr>
            <a:cxnSpLocks/>
            <a:stCxn id="16" idx="4"/>
            <a:endCxn id="38" idx="2"/>
          </p:cNvCxnSpPr>
          <p:nvPr/>
        </p:nvCxnSpPr>
        <p:spPr>
          <a:xfrm flipV="1">
            <a:off x="4536996" y="5075164"/>
            <a:ext cx="458090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D5B31ECB-E991-850E-4F86-C926E446AE2E}"/>
              </a:ext>
            </a:extLst>
          </p:cNvPr>
          <p:cNvCxnSpPr>
            <a:stCxn id="38" idx="4"/>
          </p:cNvCxnSpPr>
          <p:nvPr/>
        </p:nvCxnSpPr>
        <p:spPr>
          <a:xfrm>
            <a:off x="5737823" y="5075164"/>
            <a:ext cx="353476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D675CB81-84D0-617D-84E9-2F71D9306B4E}"/>
              </a:ext>
            </a:extLst>
          </p:cNvPr>
          <p:cNvSpPr/>
          <p:nvPr/>
        </p:nvSpPr>
        <p:spPr bwMode="auto">
          <a:xfrm>
            <a:off x="5088577" y="1715802"/>
            <a:ext cx="2662801" cy="280796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8C81D8-AD15-FCCC-9A45-69F2A3981E56}"/>
              </a:ext>
            </a:extLst>
          </p:cNvPr>
          <p:cNvSpPr/>
          <p:nvPr/>
        </p:nvSpPr>
        <p:spPr>
          <a:xfrm>
            <a:off x="7482996" y="4874204"/>
            <a:ext cx="1195817" cy="374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AIDA:</a:t>
            </a:r>
          </a:p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Ontology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10F95D9-98AC-E286-FEC0-93B468880C73}"/>
              </a:ext>
            </a:extLst>
          </p:cNvPr>
          <p:cNvSpPr/>
          <p:nvPr/>
        </p:nvSpPr>
        <p:spPr bwMode="auto">
          <a:xfrm>
            <a:off x="7263607" y="2106984"/>
            <a:ext cx="326571" cy="32657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BD32BDF-8065-D2F2-C677-EAE472232AA5}"/>
              </a:ext>
            </a:extLst>
          </p:cNvPr>
          <p:cNvSpPr/>
          <p:nvPr/>
        </p:nvSpPr>
        <p:spPr bwMode="auto">
          <a:xfrm>
            <a:off x="7183062" y="3690595"/>
            <a:ext cx="326571" cy="32657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393FB82-85CE-3E71-EEB3-B51BA7C1EC62}"/>
              </a:ext>
            </a:extLst>
          </p:cNvPr>
          <p:cNvSpPr/>
          <p:nvPr/>
        </p:nvSpPr>
        <p:spPr bwMode="auto">
          <a:xfrm>
            <a:off x="7149821" y="2691221"/>
            <a:ext cx="326571" cy="32657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40046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9D7FD-4C12-C7AD-D503-3E82C8BF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직사각형 80">
            <a:extLst>
              <a:ext uri="{FF2B5EF4-FFF2-40B4-BE49-F238E27FC236}">
                <a16:creationId xmlns:a16="http://schemas.microsoft.com/office/drawing/2014/main" id="{B37344E5-E1D3-F7AC-BCF1-F962E82104EB}"/>
              </a:ext>
            </a:extLst>
          </p:cNvPr>
          <p:cNvSpPr/>
          <p:nvPr/>
        </p:nvSpPr>
        <p:spPr>
          <a:xfrm>
            <a:off x="3451826" y="4718427"/>
            <a:ext cx="3573080" cy="68624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0087307C-BDA7-3BF1-6BDF-E245B3173ED0}"/>
              </a:ext>
            </a:extLst>
          </p:cNvPr>
          <p:cNvSpPr/>
          <p:nvPr/>
        </p:nvSpPr>
        <p:spPr>
          <a:xfrm>
            <a:off x="3216828" y="1991262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80D2397-62FA-668D-CF05-394BF4B2D292}"/>
              </a:ext>
            </a:extLst>
          </p:cNvPr>
          <p:cNvSpPr/>
          <p:nvPr/>
        </p:nvSpPr>
        <p:spPr>
          <a:xfrm>
            <a:off x="5788151" y="1978137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4C46709-1E6B-5487-A8EA-578A8E1E7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AIDA: </a:t>
            </a:r>
            <a:r>
              <a:rPr lang="ko-KR" altLang="en-US" dirty="0"/>
              <a:t>자동분석시스템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B99C92-A99B-3050-CBA0-A3EE1012E1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79158"/>
            <a:ext cx="9482335" cy="708950"/>
          </a:xfrm>
        </p:spPr>
        <p:txBody>
          <a:bodyPr/>
          <a:lstStyle/>
          <a:p>
            <a:r>
              <a:rPr lang="en-US" altLang="ko-KR" dirty="0"/>
              <a:t>AIDA</a:t>
            </a:r>
            <a:r>
              <a:rPr lang="ko-KR" altLang="en-US" dirty="0"/>
              <a:t>의 자동분석시스템에서 수행된 분석을 기반으로 추가 분석이 필요한 경우</a:t>
            </a:r>
            <a:r>
              <a:rPr lang="en-US" altLang="ko-KR"/>
              <a:t>, </a:t>
            </a:r>
            <a:r>
              <a:rPr lang="ko-KR" altLang="en-US" b="1">
                <a:solidFill>
                  <a:srgbClr val="C00000"/>
                </a:solidFill>
              </a:rPr>
              <a:t>자동분석 생성기가 생성한 분석 절차를 담은 </a:t>
            </a:r>
            <a:r>
              <a:rPr lang="en-US" altLang="ko-KR" b="1">
                <a:solidFill>
                  <a:srgbClr val="C00000"/>
                </a:solidFill>
              </a:rPr>
              <a:t>ECM </a:t>
            </a:r>
            <a:r>
              <a:rPr lang="ko-KR" altLang="en-US" b="1">
                <a:solidFill>
                  <a:srgbClr val="C00000"/>
                </a:solidFill>
              </a:rPr>
              <a:t>프로젝트 파일을 제공</a:t>
            </a:r>
            <a:r>
              <a:rPr lang="ko-KR" altLang="en-US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해당 파일은 </a:t>
            </a:r>
            <a:r>
              <a:rPr lang="en-US" altLang="ko-KR" dirty="0"/>
              <a:t>ECMiner™</a:t>
            </a:r>
            <a:r>
              <a:rPr lang="ko-KR" altLang="en-US" dirty="0"/>
              <a:t>에서 직접 실행 및 수정할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44340DD-6FB4-D67A-18D5-C49680D4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 </a:t>
            </a:r>
            <a:r>
              <a:rPr lang="ko-KR" altLang="en-US" dirty="0"/>
              <a:t>기능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2EC3AC-9984-C2C8-DDC7-46781426BC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 descr="만화 영화, 소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714108-3E32-A628-CCE3-2E6CA4ABB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19" y="2486708"/>
            <a:ext cx="877429" cy="1008109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9A467A4-3A22-A89E-E400-FA72A1DC8D91}"/>
              </a:ext>
            </a:extLst>
          </p:cNvPr>
          <p:cNvSpPr/>
          <p:nvPr/>
        </p:nvSpPr>
        <p:spPr>
          <a:xfrm>
            <a:off x="3728446" y="2363897"/>
            <a:ext cx="855694" cy="6480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24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맑은 고딕"/>
                <a:ea typeface="맑은 고딕"/>
              </a:rPr>
              <a:t>AI</a:t>
            </a:r>
            <a:endParaRPr lang="ko-KR" altLang="en-US" sz="24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맑은 고딕"/>
              <a:ea typeface="맑은 고딕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C845D71B-F7D4-CEDF-7FE2-E58BF055F12E}"/>
              </a:ext>
            </a:extLst>
          </p:cNvPr>
          <p:cNvGrpSpPr/>
          <p:nvPr/>
        </p:nvGrpSpPr>
        <p:grpSpPr>
          <a:xfrm>
            <a:off x="1818171" y="2485755"/>
            <a:ext cx="1910275" cy="296721"/>
            <a:chOff x="1568281" y="2844247"/>
            <a:chExt cx="1599323" cy="296721"/>
          </a:xfrm>
        </p:grpSpPr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13D6AF58-3FC6-B5CC-6F50-A0EDC46D535C}"/>
                </a:ext>
              </a:extLst>
            </p:cNvPr>
            <p:cNvCxnSpPr>
              <a:cxnSpLocks/>
            </p:cNvCxnSpPr>
            <p:nvPr/>
          </p:nvCxnSpPr>
          <p:spPr>
            <a:xfrm>
              <a:off x="1568281" y="2844247"/>
              <a:ext cx="1599323" cy="9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DE42D041-D43E-8B7A-F734-526EE5862D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8281" y="3140968"/>
              <a:ext cx="15993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그림 35" descr="도표, 디자인, 일렉트릭 블루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A87849-3ACA-D744-A3DB-B1B918696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171" y="2901045"/>
            <a:ext cx="485576" cy="57725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FC80453-B7B6-2FF2-1491-F0D36B7A267C}"/>
              </a:ext>
            </a:extLst>
          </p:cNvPr>
          <p:cNvSpPr txBox="1"/>
          <p:nvPr/>
        </p:nvSpPr>
        <p:spPr>
          <a:xfrm>
            <a:off x="2258897" y="2223239"/>
            <a:ext cx="441146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질의</a:t>
            </a:r>
          </a:p>
        </p:txBody>
      </p:sp>
      <p:pic>
        <p:nvPicPr>
          <p:cNvPr id="40" name="그림 39" descr="원, 도표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AADC49-3052-D068-7615-2F80C0768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802" y="3401565"/>
            <a:ext cx="946709" cy="8345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8D75B72-937D-DC20-FBA8-54A5FB443B73}"/>
              </a:ext>
            </a:extLst>
          </p:cNvPr>
          <p:cNvCxnSpPr>
            <a:cxnSpLocks/>
            <a:stCxn id="30" idx="2"/>
            <a:endCxn id="40" idx="0"/>
          </p:cNvCxnSpPr>
          <p:nvPr/>
        </p:nvCxnSpPr>
        <p:spPr>
          <a:xfrm>
            <a:off x="4156293" y="3011969"/>
            <a:ext cx="7864" cy="3895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그림 44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9BA6CC-683F-2575-1342-F916BB7ECF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163"/>
          <a:stretch>
            <a:fillRect/>
          </a:stretch>
        </p:blipFill>
        <p:spPr>
          <a:xfrm>
            <a:off x="5981338" y="2795944"/>
            <a:ext cx="1440160" cy="781584"/>
          </a:xfrm>
          <a:prstGeom prst="rect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79E33E97-70C1-6F16-15F4-366D512BAE1A}"/>
              </a:ext>
            </a:extLst>
          </p:cNvPr>
          <p:cNvGrpSpPr/>
          <p:nvPr/>
        </p:nvGrpSpPr>
        <p:grpSpPr>
          <a:xfrm>
            <a:off x="6567632" y="6120185"/>
            <a:ext cx="243677" cy="40038"/>
            <a:chOff x="4377982" y="5768287"/>
            <a:chExt cx="224707" cy="40038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5329B11-FFE1-F483-FD90-8110AAA92533}"/>
                </a:ext>
              </a:extLst>
            </p:cNvPr>
            <p:cNvSpPr/>
            <p:nvPr/>
          </p:nvSpPr>
          <p:spPr>
            <a:xfrm>
              <a:off x="4571251" y="5773585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BA59F45-F7F0-D627-8099-B0447DAC1DE4}"/>
                </a:ext>
              </a:extLst>
            </p:cNvPr>
            <p:cNvSpPr/>
            <p:nvPr/>
          </p:nvSpPr>
          <p:spPr>
            <a:xfrm>
              <a:off x="4472220" y="5768287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DDF62C2-C3DC-F2C0-4854-E03F1229328D}"/>
                </a:ext>
              </a:extLst>
            </p:cNvPr>
            <p:cNvSpPr/>
            <p:nvPr/>
          </p:nvSpPr>
          <p:spPr>
            <a:xfrm>
              <a:off x="4377982" y="5773180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CE50E04-7E4E-FF40-A29D-2B771F3635AC}"/>
              </a:ext>
            </a:extLst>
          </p:cNvPr>
          <p:cNvGrpSpPr/>
          <p:nvPr/>
        </p:nvGrpSpPr>
        <p:grpSpPr>
          <a:xfrm>
            <a:off x="4304928" y="5886646"/>
            <a:ext cx="895588" cy="538696"/>
            <a:chOff x="2477310" y="5534748"/>
            <a:chExt cx="825867" cy="538696"/>
          </a:xfrm>
        </p:grpSpPr>
        <p:sp>
          <p:nvSpPr>
            <p:cNvPr id="15" name="순서도: 자기 디스크 14">
              <a:extLst>
                <a:ext uri="{FF2B5EF4-FFF2-40B4-BE49-F238E27FC236}">
                  <a16:creationId xmlns:a16="http://schemas.microsoft.com/office/drawing/2014/main" id="{1896ADD9-9114-A2D0-A1A4-9D804D7C5D84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161A089-7C64-5B8F-39F9-C31B32451195}"/>
                </a:ext>
              </a:extLst>
            </p:cNvPr>
            <p:cNvSpPr txBox="1"/>
            <p:nvPr/>
          </p:nvSpPr>
          <p:spPr>
            <a:xfrm>
              <a:off x="2477310" y="5743608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운전 데이터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E37144B-2DCE-B4F2-1AE8-4CEF7EC73FB8}"/>
              </a:ext>
            </a:extLst>
          </p:cNvPr>
          <p:cNvGrpSpPr/>
          <p:nvPr/>
        </p:nvGrpSpPr>
        <p:grpSpPr>
          <a:xfrm>
            <a:off x="5659181" y="5886646"/>
            <a:ext cx="805440" cy="538696"/>
            <a:chOff x="3481903" y="5534748"/>
            <a:chExt cx="742737" cy="538696"/>
          </a:xfrm>
        </p:grpSpPr>
        <p:sp>
          <p:nvSpPr>
            <p:cNvPr id="8" name="순서도: 자기 디스크 7">
              <a:extLst>
                <a:ext uri="{FF2B5EF4-FFF2-40B4-BE49-F238E27FC236}">
                  <a16:creationId xmlns:a16="http://schemas.microsoft.com/office/drawing/2014/main" id="{A4798ABD-CCE3-BA4E-C34D-6311F0CE043A}"/>
                </a:ext>
              </a:extLst>
            </p:cNvPr>
            <p:cNvSpPr/>
            <p:nvPr/>
          </p:nvSpPr>
          <p:spPr>
            <a:xfrm>
              <a:off x="3481903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03A7F2-715A-1449-6F34-49DA2B1DC2BC}"/>
                </a:ext>
              </a:extLst>
            </p:cNvPr>
            <p:cNvSpPr txBox="1"/>
            <p:nvPr/>
          </p:nvSpPr>
          <p:spPr>
            <a:xfrm>
              <a:off x="3648302" y="5743207"/>
              <a:ext cx="441146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품질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8155713-6870-D9CE-2149-AB5186389668}"/>
              </a:ext>
            </a:extLst>
          </p:cNvPr>
          <p:cNvGrpSpPr/>
          <p:nvPr/>
        </p:nvGrpSpPr>
        <p:grpSpPr>
          <a:xfrm>
            <a:off x="7024172" y="5892722"/>
            <a:ext cx="809148" cy="538696"/>
            <a:chOff x="4714022" y="5540824"/>
            <a:chExt cx="746156" cy="538696"/>
          </a:xfrm>
        </p:grpSpPr>
        <p:sp>
          <p:nvSpPr>
            <p:cNvPr id="14" name="순서도: 자기 디스크 13">
              <a:extLst>
                <a:ext uri="{FF2B5EF4-FFF2-40B4-BE49-F238E27FC236}">
                  <a16:creationId xmlns:a16="http://schemas.microsoft.com/office/drawing/2014/main" id="{68BC577F-491D-F606-2E4D-1D82D666AA35}"/>
                </a:ext>
              </a:extLst>
            </p:cNvPr>
            <p:cNvSpPr/>
            <p:nvPr/>
          </p:nvSpPr>
          <p:spPr>
            <a:xfrm>
              <a:off x="4714022" y="5540824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7D72CDD-14FD-5ECE-DC88-276F638D8E53}"/>
                </a:ext>
              </a:extLst>
            </p:cNvPr>
            <p:cNvSpPr txBox="1"/>
            <p:nvPr/>
          </p:nvSpPr>
          <p:spPr>
            <a:xfrm>
              <a:off x="4717667" y="5745944"/>
              <a:ext cx="742511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이력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F3BD773-396D-8D46-E428-E38961D2059E}"/>
              </a:ext>
            </a:extLst>
          </p:cNvPr>
          <p:cNvGrpSpPr/>
          <p:nvPr/>
        </p:nvGrpSpPr>
        <p:grpSpPr>
          <a:xfrm>
            <a:off x="3794259" y="4811438"/>
            <a:ext cx="742737" cy="539860"/>
            <a:chOff x="6454142" y="5520816"/>
            <a:chExt cx="742737" cy="539860"/>
          </a:xfrm>
        </p:grpSpPr>
        <p:sp>
          <p:nvSpPr>
            <p:cNvPr id="16" name="순서도: 자기 디스크 15">
              <a:extLst>
                <a:ext uri="{FF2B5EF4-FFF2-40B4-BE49-F238E27FC236}">
                  <a16:creationId xmlns:a16="http://schemas.microsoft.com/office/drawing/2014/main" id="{D48D0EA9-5346-9D6B-8197-3A8A5EE9DAA0}"/>
                </a:ext>
              </a:extLst>
            </p:cNvPr>
            <p:cNvSpPr/>
            <p:nvPr/>
          </p:nvSpPr>
          <p:spPr>
            <a:xfrm>
              <a:off x="6454142" y="552081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CC3606B-7025-8445-56FE-8E40F1991802}"/>
                </a:ext>
              </a:extLst>
            </p:cNvPr>
            <p:cNvSpPr txBox="1"/>
            <p:nvPr/>
          </p:nvSpPr>
          <p:spPr>
            <a:xfrm>
              <a:off x="6499252" y="5660566"/>
              <a:ext cx="69762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온톨로지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000" dirty="0">
                  <a:latin typeface="+mn-ea"/>
                  <a:ea typeface="+mn-ea"/>
                </a:rPr>
                <a:t>DB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</p:grp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70CDA894-FDC4-ACC8-DCD3-DCEF02679972}"/>
              </a:ext>
            </a:extLst>
          </p:cNvPr>
          <p:cNvSpPr/>
          <p:nvPr/>
        </p:nvSpPr>
        <p:spPr>
          <a:xfrm>
            <a:off x="5981340" y="2219334"/>
            <a:ext cx="1440159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3EDDA2E-09A3-8EBC-D4FB-5AD53C8422B5}"/>
              </a:ext>
            </a:extLst>
          </p:cNvPr>
          <p:cNvSpPr/>
          <p:nvPr/>
        </p:nvSpPr>
        <p:spPr>
          <a:xfrm>
            <a:off x="5981340" y="3734107"/>
            <a:ext cx="1440158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D8D3B8-C6B5-83DC-7AB5-D92286CBBF4D}"/>
              </a:ext>
            </a:extLst>
          </p:cNvPr>
          <p:cNvSpPr txBox="1"/>
          <p:nvPr/>
        </p:nvSpPr>
        <p:spPr>
          <a:xfrm>
            <a:off x="6091299" y="2239342"/>
            <a:ext cx="122180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자동분석 </a:t>
            </a:r>
            <a:r>
              <a:rPr lang="ko-KR" altLang="en-US" sz="1100" b="0" dirty="0" err="1">
                <a:latin typeface="+mn-ea"/>
                <a:ea typeface="+mn-ea"/>
              </a:rPr>
              <a:t>생성기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01E286A-F8D6-6868-E720-8808B4B5F940}"/>
              </a:ext>
            </a:extLst>
          </p:cNvPr>
          <p:cNvCxnSpPr>
            <a:cxnSpLocks/>
            <a:stCxn id="52" idx="2"/>
            <a:endCxn id="45" idx="0"/>
          </p:cNvCxnSpPr>
          <p:nvPr/>
        </p:nvCxnSpPr>
        <p:spPr>
          <a:xfrm flipH="1">
            <a:off x="6701418" y="2500678"/>
            <a:ext cx="2" cy="295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1FF372F-D0EE-0C64-D4A4-D6D4EF6D058A}"/>
              </a:ext>
            </a:extLst>
          </p:cNvPr>
          <p:cNvCxnSpPr>
            <a:cxnSpLocks/>
            <a:stCxn id="45" idx="2"/>
            <a:endCxn id="53" idx="0"/>
          </p:cNvCxnSpPr>
          <p:nvPr/>
        </p:nvCxnSpPr>
        <p:spPr>
          <a:xfrm>
            <a:off x="6701418" y="3577528"/>
            <a:ext cx="1" cy="15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4CF588F-3C3F-906B-6552-B6EE5EB1B13C}"/>
              </a:ext>
            </a:extLst>
          </p:cNvPr>
          <p:cNvSpPr txBox="1"/>
          <p:nvPr/>
        </p:nvSpPr>
        <p:spPr>
          <a:xfrm>
            <a:off x="6182945" y="3753841"/>
            <a:ext cx="1040670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데이터 </a:t>
            </a:r>
            <a:r>
              <a:rPr lang="en-US" altLang="ko-KR" sz="1100" b="0" dirty="0">
                <a:latin typeface="+mn-ea"/>
                <a:ea typeface="+mn-ea"/>
              </a:rPr>
              <a:t>Agent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5C9D4FA-7444-7BE9-5595-092457BCC3FC}"/>
              </a:ext>
            </a:extLst>
          </p:cNvPr>
          <p:cNvCxnSpPr>
            <a:cxnSpLocks/>
          </p:cNvCxnSpPr>
          <p:nvPr/>
        </p:nvCxnSpPr>
        <p:spPr>
          <a:xfrm>
            <a:off x="4584140" y="2441147"/>
            <a:ext cx="1181922" cy="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그림 104" descr="스크린샷, 도표, 라인이(가) 표시된 사진">
            <a:extLst>
              <a:ext uri="{FF2B5EF4-FFF2-40B4-BE49-F238E27FC236}">
                <a16:creationId xmlns:a16="http://schemas.microsoft.com/office/drawing/2014/main" id="{D5331A2A-AC90-9C6E-C284-EC193FA98C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040" y="3727139"/>
            <a:ext cx="647928" cy="4300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1" name="그림 11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BA798E-FCAC-D084-4AF8-1F7DE7C5AD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3391" y="2845657"/>
            <a:ext cx="601588" cy="40011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30A24D75-1F9F-0B7F-A929-3F82D990A066}"/>
              </a:ext>
            </a:extLst>
          </p:cNvPr>
          <p:cNvSpPr txBox="1"/>
          <p:nvPr/>
        </p:nvSpPr>
        <p:spPr>
          <a:xfrm>
            <a:off x="1847978" y="3428834"/>
            <a:ext cx="56938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답변서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4DE05AA-76C7-08DC-5332-5DEE418A1283}"/>
              </a:ext>
            </a:extLst>
          </p:cNvPr>
          <p:cNvSpPr txBox="1"/>
          <p:nvPr/>
        </p:nvSpPr>
        <p:spPr>
          <a:xfrm>
            <a:off x="1797326" y="4194356"/>
            <a:ext cx="69762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분석파일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37D7C4C-5E27-46BA-4172-B99CD2EF2C2F}"/>
              </a:ext>
            </a:extLst>
          </p:cNvPr>
          <p:cNvSpPr txBox="1"/>
          <p:nvPr/>
        </p:nvSpPr>
        <p:spPr>
          <a:xfrm>
            <a:off x="5117713" y="3265768"/>
            <a:ext cx="631904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자동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분석</a:t>
            </a:r>
            <a:endParaRPr lang="en-US" altLang="ko-KR" sz="800" dirty="0">
              <a:latin typeface="+mn-ea"/>
              <a:ea typeface="+mn-ea"/>
            </a:endParaRPr>
          </a:p>
          <a:p>
            <a:pPr algn="ctr"/>
            <a:r>
              <a:rPr lang="ko-KR" altLang="en-US" sz="800" dirty="0">
                <a:latin typeface="+mn-ea"/>
                <a:ea typeface="+mn-ea"/>
              </a:rPr>
              <a:t>보고서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C17A73C-D4C0-FABF-7DE4-DD1E0AF335B1}"/>
              </a:ext>
            </a:extLst>
          </p:cNvPr>
          <p:cNvSpPr/>
          <p:nvPr/>
        </p:nvSpPr>
        <p:spPr>
          <a:xfrm>
            <a:off x="3546706" y="1846372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 err="1">
                <a:solidFill>
                  <a:schemeClr val="tx1"/>
                </a:solidFill>
                <a:latin typeface="맑은 고딕"/>
                <a:ea typeface="맑은 고딕"/>
              </a:rPr>
              <a:t>sLLM</a:t>
            </a:r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 w/RAG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EC9BFD1B-124A-0A8C-2F3F-A4CC5986BDE8}"/>
              </a:ext>
            </a:extLst>
          </p:cNvPr>
          <p:cNvSpPr/>
          <p:nvPr/>
        </p:nvSpPr>
        <p:spPr>
          <a:xfrm>
            <a:off x="6054621" y="1819568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자동분석시스템</a:t>
            </a:r>
          </a:p>
        </p:txBody>
      </p:sp>
      <p:cxnSp>
        <p:nvCxnSpPr>
          <p:cNvPr id="132" name="연결선: 꺾임 131">
            <a:extLst>
              <a:ext uri="{FF2B5EF4-FFF2-40B4-BE49-F238E27FC236}">
                <a16:creationId xmlns:a16="http://schemas.microsoft.com/office/drawing/2014/main" id="{67ABD084-A9D5-F3FF-1D92-E6A1A0DD169B}"/>
              </a:ext>
            </a:extLst>
          </p:cNvPr>
          <p:cNvCxnSpPr/>
          <p:nvPr/>
        </p:nvCxnSpPr>
        <p:spPr>
          <a:xfrm rot="10800000" flipV="1">
            <a:off x="4323764" y="2725230"/>
            <a:ext cx="1442298" cy="659122"/>
          </a:xfrm>
          <a:prstGeom prst="bentConnector3">
            <a:avLst>
              <a:gd name="adj1" fmla="val 99756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7713FE3A-89FC-0831-52E7-8F50D0C27A28}"/>
              </a:ext>
            </a:extLst>
          </p:cNvPr>
          <p:cNvSpPr txBox="1"/>
          <p:nvPr/>
        </p:nvSpPr>
        <p:spPr>
          <a:xfrm>
            <a:off x="6202325" y="2748809"/>
            <a:ext cx="1039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ECMiner</a:t>
            </a:r>
            <a:r>
              <a:rPr lang="en-US" altLang="ko-KR" sz="1200" dirty="0">
                <a:latin typeface="+mn-ea"/>
                <a:ea typeface="+mn-ea"/>
              </a:rPr>
              <a:t>™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CD6D09-F80B-4398-B131-060A1B60A91C}"/>
              </a:ext>
            </a:extLst>
          </p:cNvPr>
          <p:cNvSpPr/>
          <p:nvPr/>
        </p:nvSpPr>
        <p:spPr>
          <a:xfrm>
            <a:off x="1643437" y="6008093"/>
            <a:ext cx="1129871" cy="195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원천 데이터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70D514F-EC1A-C0F9-2035-4D7F8A7B6CEF}"/>
              </a:ext>
            </a:extLst>
          </p:cNvPr>
          <p:cNvGrpSpPr/>
          <p:nvPr/>
        </p:nvGrpSpPr>
        <p:grpSpPr>
          <a:xfrm>
            <a:off x="4953000" y="4805816"/>
            <a:ext cx="859488" cy="573643"/>
            <a:chOff x="5430768" y="4809446"/>
            <a:chExt cx="859488" cy="573643"/>
          </a:xfrm>
        </p:grpSpPr>
        <p:sp>
          <p:nvSpPr>
            <p:cNvPr id="38" name="순서도: 자기 디스크 37">
              <a:extLst>
                <a:ext uri="{FF2B5EF4-FFF2-40B4-BE49-F238E27FC236}">
                  <a16:creationId xmlns:a16="http://schemas.microsoft.com/office/drawing/2014/main" id="{0D4B6A51-D688-671E-AECC-BD29673F6A9A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31B1E84-99BC-A366-9FCD-AC25B281F729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메타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173A71D6-6FFB-BAD0-6D7B-AAF3FD0EC793}"/>
              </a:ext>
            </a:extLst>
          </p:cNvPr>
          <p:cNvCxnSpPr>
            <a:cxnSpLocks/>
            <a:stCxn id="14" idx="1"/>
            <a:endCxn id="81" idx="2"/>
          </p:cNvCxnSpPr>
          <p:nvPr/>
        </p:nvCxnSpPr>
        <p:spPr>
          <a:xfrm rot="16200000" flipV="1">
            <a:off x="6088605" y="4554435"/>
            <a:ext cx="488049" cy="21885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CBFC4C3-A719-66ED-54B7-F002F65398D8}"/>
              </a:ext>
            </a:extLst>
          </p:cNvPr>
          <p:cNvGrpSpPr/>
          <p:nvPr/>
        </p:nvGrpSpPr>
        <p:grpSpPr>
          <a:xfrm>
            <a:off x="3008784" y="5868207"/>
            <a:ext cx="895588" cy="538696"/>
            <a:chOff x="2467152" y="5534748"/>
            <a:chExt cx="825867" cy="538696"/>
          </a:xfrm>
        </p:grpSpPr>
        <p:sp>
          <p:nvSpPr>
            <p:cNvPr id="70" name="순서도: 자기 디스크 69">
              <a:extLst>
                <a:ext uri="{FF2B5EF4-FFF2-40B4-BE49-F238E27FC236}">
                  <a16:creationId xmlns:a16="http://schemas.microsoft.com/office/drawing/2014/main" id="{E11848D2-4D64-39A0-632D-384AE1B2D2E0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862841C-8E96-3874-AB3E-ACECB7113BAF}"/>
                </a:ext>
              </a:extLst>
            </p:cNvPr>
            <p:cNvSpPr txBox="1"/>
            <p:nvPr/>
          </p:nvSpPr>
          <p:spPr>
            <a:xfrm>
              <a:off x="2467152" y="5721576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문서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7F33161D-549D-87F3-B565-C9B5396ED71A}"/>
              </a:ext>
            </a:extLst>
          </p:cNvPr>
          <p:cNvGrpSpPr/>
          <p:nvPr/>
        </p:nvGrpSpPr>
        <p:grpSpPr>
          <a:xfrm>
            <a:off x="6056088" y="4805816"/>
            <a:ext cx="859488" cy="573643"/>
            <a:chOff x="5430768" y="4809446"/>
            <a:chExt cx="859488" cy="573643"/>
          </a:xfrm>
        </p:grpSpPr>
        <p:sp>
          <p:nvSpPr>
            <p:cNvPr id="78" name="순서도: 자기 디스크 77">
              <a:extLst>
                <a:ext uri="{FF2B5EF4-FFF2-40B4-BE49-F238E27FC236}">
                  <a16:creationId xmlns:a16="http://schemas.microsoft.com/office/drawing/2014/main" id="{A20F0FCB-DC5B-1BDD-AF11-E720C57A5741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2CD5B85-AFBD-8CB4-AED7-0FC34AD59B92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분석용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5A7CBFB7-14F2-FCEC-C04F-C6A89AF727DB}"/>
              </a:ext>
            </a:extLst>
          </p:cNvPr>
          <p:cNvCxnSpPr>
            <a:cxnSpLocks/>
            <a:stCxn id="70" idx="1"/>
            <a:endCxn id="81" idx="2"/>
          </p:cNvCxnSpPr>
          <p:nvPr/>
        </p:nvCxnSpPr>
        <p:spPr>
          <a:xfrm rot="5400000" flipH="1" flipV="1">
            <a:off x="4113328" y="4743170"/>
            <a:ext cx="463534" cy="17865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CB926B65-96FD-7439-75CF-54B7A7F2BB5A}"/>
              </a:ext>
            </a:extLst>
          </p:cNvPr>
          <p:cNvCxnSpPr>
            <a:cxnSpLocks/>
          </p:cNvCxnSpPr>
          <p:nvPr/>
        </p:nvCxnSpPr>
        <p:spPr>
          <a:xfrm>
            <a:off x="7223615" y="4015451"/>
            <a:ext cx="18490" cy="1585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71BA0343-F8DB-D3A4-AB13-C7B668FB47D1}"/>
              </a:ext>
            </a:extLst>
          </p:cNvPr>
          <p:cNvCxnSpPr>
            <a:cxnSpLocks/>
            <a:stCxn id="16" idx="1"/>
            <a:endCxn id="40" idx="2"/>
          </p:cNvCxnSpPr>
          <p:nvPr/>
        </p:nvCxnSpPr>
        <p:spPr>
          <a:xfrm flipH="1" flipV="1">
            <a:off x="4164157" y="4236105"/>
            <a:ext cx="1471" cy="5753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3F486697-32B4-F6C3-E89C-0DA1A302DC49}"/>
              </a:ext>
            </a:extLst>
          </p:cNvPr>
          <p:cNvCxnSpPr/>
          <p:nvPr/>
        </p:nvCxnSpPr>
        <p:spPr>
          <a:xfrm>
            <a:off x="6393160" y="4015451"/>
            <a:ext cx="0" cy="6850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D99836B7-F209-2DA6-FD05-9B1ED4453AE9}"/>
              </a:ext>
            </a:extLst>
          </p:cNvPr>
          <p:cNvCxnSpPr>
            <a:cxnSpLocks/>
            <a:stCxn id="16" idx="4"/>
            <a:endCxn id="38" idx="2"/>
          </p:cNvCxnSpPr>
          <p:nvPr/>
        </p:nvCxnSpPr>
        <p:spPr>
          <a:xfrm flipV="1">
            <a:off x="4536996" y="5075164"/>
            <a:ext cx="458090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4642E674-057B-DC4E-4479-3F14EDB319E3}"/>
              </a:ext>
            </a:extLst>
          </p:cNvPr>
          <p:cNvCxnSpPr>
            <a:stCxn id="38" idx="4"/>
          </p:cNvCxnSpPr>
          <p:nvPr/>
        </p:nvCxnSpPr>
        <p:spPr>
          <a:xfrm>
            <a:off x="5737823" y="5075164"/>
            <a:ext cx="353476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6C2B29-D5AB-D9E0-55C9-9F4EDBEE8755}"/>
              </a:ext>
            </a:extLst>
          </p:cNvPr>
          <p:cNvSpPr/>
          <p:nvPr/>
        </p:nvSpPr>
        <p:spPr bwMode="auto">
          <a:xfrm>
            <a:off x="1719843" y="3631148"/>
            <a:ext cx="875958" cy="821306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4925D1-0126-C4E5-37A7-591885A5610A}"/>
              </a:ext>
            </a:extLst>
          </p:cNvPr>
          <p:cNvSpPr/>
          <p:nvPr/>
        </p:nvSpPr>
        <p:spPr>
          <a:xfrm>
            <a:off x="7482996" y="4874204"/>
            <a:ext cx="1195817" cy="374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AIDA:</a:t>
            </a:r>
          </a:p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Ontology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56866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9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D9771F5-40FF-C6DE-9D39-E7E57D8511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2847" b="55775"/>
          <a:stretch>
            <a:fillRect/>
          </a:stretch>
        </p:blipFill>
        <p:spPr>
          <a:xfrm>
            <a:off x="0" y="472678"/>
            <a:ext cx="2689761" cy="261490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993EFAD-23ED-BF5F-EF7D-37250FFE42EC}"/>
              </a:ext>
            </a:extLst>
          </p:cNvPr>
          <p:cNvSpPr/>
          <p:nvPr/>
        </p:nvSpPr>
        <p:spPr bwMode="auto">
          <a:xfrm>
            <a:off x="0" y="2028269"/>
            <a:ext cx="1288473" cy="649617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0C42DC-8962-FB65-F535-2810AD42AD91}"/>
              </a:ext>
            </a:extLst>
          </p:cNvPr>
          <p:cNvSpPr/>
          <p:nvPr/>
        </p:nvSpPr>
        <p:spPr bwMode="auto">
          <a:xfrm>
            <a:off x="1702131" y="987199"/>
            <a:ext cx="803564" cy="319087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DFF6525-4D97-A790-50AC-E761B1ED847F}"/>
              </a:ext>
            </a:extLst>
          </p:cNvPr>
          <p:cNvSpPr/>
          <p:nvPr/>
        </p:nvSpPr>
        <p:spPr bwMode="auto">
          <a:xfrm>
            <a:off x="7732816" y="2353077"/>
            <a:ext cx="2173183" cy="2533619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5802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F94E-DC47-DE1E-D7CE-88A922D9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직사각형 80">
            <a:extLst>
              <a:ext uri="{FF2B5EF4-FFF2-40B4-BE49-F238E27FC236}">
                <a16:creationId xmlns:a16="http://schemas.microsoft.com/office/drawing/2014/main" id="{01730EF0-352E-177E-56E7-9DEB46596266}"/>
              </a:ext>
            </a:extLst>
          </p:cNvPr>
          <p:cNvSpPr/>
          <p:nvPr/>
        </p:nvSpPr>
        <p:spPr>
          <a:xfrm>
            <a:off x="3451826" y="4718427"/>
            <a:ext cx="3573080" cy="68624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4AE2F702-8EBE-F774-3C39-D3E587AE768B}"/>
              </a:ext>
            </a:extLst>
          </p:cNvPr>
          <p:cNvSpPr/>
          <p:nvPr/>
        </p:nvSpPr>
        <p:spPr>
          <a:xfrm>
            <a:off x="3216828" y="1991262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D418FBF-D9D8-6D44-B6D5-4DAC21CD2471}"/>
              </a:ext>
            </a:extLst>
          </p:cNvPr>
          <p:cNvSpPr/>
          <p:nvPr/>
        </p:nvSpPr>
        <p:spPr>
          <a:xfrm>
            <a:off x="5788151" y="1978137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3BCCB20-592D-1528-0EFC-ECF8784588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AIDA: Ontology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D1F608-9050-DF8E-E6B5-B0CB1190C6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79158"/>
            <a:ext cx="9482335" cy="708950"/>
          </a:xfrm>
        </p:spPr>
        <p:txBody>
          <a:bodyPr/>
          <a:lstStyle/>
          <a:p>
            <a:r>
              <a:rPr lang="en-US" altLang="ko-KR" dirty="0"/>
              <a:t>AIDA</a:t>
            </a:r>
            <a:r>
              <a:rPr lang="ko-KR" altLang="en-US" dirty="0"/>
              <a:t>는 도메인 데이터를 </a:t>
            </a:r>
            <a:r>
              <a:rPr lang="en-US" altLang="ko-KR" dirty="0"/>
              <a:t>Ontology </a:t>
            </a:r>
            <a:r>
              <a:rPr lang="ko-KR" altLang="en-US" dirty="0"/>
              <a:t>기반으로 </a:t>
            </a:r>
            <a:r>
              <a:rPr lang="en-US" altLang="ko-KR" dirty="0" err="1"/>
              <a:t>GraphDB</a:t>
            </a:r>
            <a:r>
              <a:rPr lang="ko-KR" altLang="en-US" dirty="0"/>
              <a:t>를 생성하여</a:t>
            </a:r>
            <a:r>
              <a:rPr lang="en-US" altLang="ko-KR" dirty="0"/>
              <a:t>, </a:t>
            </a:r>
            <a:r>
              <a:rPr lang="ko-KR" altLang="en-US" b="1" dirty="0">
                <a:solidFill>
                  <a:srgbClr val="0000FF"/>
                </a:solidFill>
              </a:rPr>
              <a:t>데이터 </a:t>
            </a:r>
            <a:r>
              <a:rPr lang="en-US" altLang="ko-KR" b="1" dirty="0">
                <a:solidFill>
                  <a:srgbClr val="0000FF"/>
                </a:solidFill>
              </a:rPr>
              <a:t>Agent</a:t>
            </a:r>
            <a:r>
              <a:rPr lang="ko-KR" altLang="en-US" b="1" dirty="0">
                <a:solidFill>
                  <a:srgbClr val="0000FF"/>
                </a:solidFill>
              </a:rPr>
              <a:t>가 관계형 데이터를 탐색</a:t>
            </a:r>
            <a:r>
              <a:rPr lang="ko-KR" altLang="en-US" dirty="0"/>
              <a:t>할 수 있도록 지원합니다</a:t>
            </a:r>
            <a:r>
              <a:rPr lang="en-US" altLang="ko-KR" dirty="0"/>
              <a:t>. </a:t>
            </a: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원천 </a:t>
            </a:r>
            <a:r>
              <a:rPr lang="ko-KR" altLang="en-US" dirty="0" err="1"/>
              <a:t>데이를</a:t>
            </a:r>
            <a:r>
              <a:rPr lang="ko-KR" altLang="en-US" dirty="0"/>
              <a:t> 기반으로 고객의 니즈에 부합하는 </a:t>
            </a:r>
            <a:r>
              <a:rPr lang="en-US" altLang="ko-KR" dirty="0"/>
              <a:t>Ontology</a:t>
            </a:r>
            <a:r>
              <a:rPr lang="ko-KR" altLang="en-US" dirty="0"/>
              <a:t>를 자동 생성하여</a:t>
            </a:r>
            <a:r>
              <a:rPr lang="en-US" altLang="ko-KR" dirty="0"/>
              <a:t>, </a:t>
            </a:r>
            <a:r>
              <a:rPr lang="ko-KR" altLang="en-US" dirty="0"/>
              <a:t>사용자 의사결정에 필요한 정보를 시각적으로 확인하여 작업을 진행합니다</a:t>
            </a:r>
            <a:r>
              <a:rPr lang="en-US" altLang="ko-KR" dirty="0"/>
              <a:t>. </a:t>
            </a:r>
            <a:r>
              <a:rPr lang="ko-KR" altLang="en-US" dirty="0"/>
              <a:t>제공합니다</a:t>
            </a:r>
            <a:r>
              <a:rPr lang="en-US" altLang="ko-KR" dirty="0"/>
              <a:t>.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E99AEE7-62BC-5E9C-9D29-78534F7B0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 </a:t>
            </a:r>
            <a:r>
              <a:rPr lang="ko-KR" altLang="en-US" dirty="0"/>
              <a:t>기능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CD0885-E153-2253-BCBF-D97D2EF773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 descr="만화 영화, 소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59EE0B-4327-AC87-8023-E5FF7E40E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19" y="2486708"/>
            <a:ext cx="877429" cy="1008109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FE488CA-6479-5A62-97AE-718BB7D87912}"/>
              </a:ext>
            </a:extLst>
          </p:cNvPr>
          <p:cNvSpPr/>
          <p:nvPr/>
        </p:nvSpPr>
        <p:spPr>
          <a:xfrm>
            <a:off x="3728446" y="2363897"/>
            <a:ext cx="855694" cy="6480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24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맑은 고딕"/>
                <a:ea typeface="맑은 고딕"/>
              </a:rPr>
              <a:t>AI</a:t>
            </a:r>
            <a:endParaRPr lang="ko-KR" altLang="en-US" sz="24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맑은 고딕"/>
              <a:ea typeface="맑은 고딕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CCC2C51C-CD8D-5B7C-EC3B-D404B6734F1F}"/>
              </a:ext>
            </a:extLst>
          </p:cNvPr>
          <p:cNvGrpSpPr/>
          <p:nvPr/>
        </p:nvGrpSpPr>
        <p:grpSpPr>
          <a:xfrm>
            <a:off x="1818171" y="2485755"/>
            <a:ext cx="1910275" cy="296721"/>
            <a:chOff x="1568281" y="2844247"/>
            <a:chExt cx="1599323" cy="296721"/>
          </a:xfrm>
        </p:grpSpPr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4FCE5665-F94E-1591-36E3-63736F61D522}"/>
                </a:ext>
              </a:extLst>
            </p:cNvPr>
            <p:cNvCxnSpPr>
              <a:cxnSpLocks/>
            </p:cNvCxnSpPr>
            <p:nvPr/>
          </p:nvCxnSpPr>
          <p:spPr>
            <a:xfrm>
              <a:off x="1568281" y="2844247"/>
              <a:ext cx="1599323" cy="9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3282453E-CF22-A916-7DA1-E89CDC6884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8281" y="3140968"/>
              <a:ext cx="15993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그림 35" descr="도표, 디자인, 일렉트릭 블루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6F61A9-BB0F-0A4C-3088-DC896B1CC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171" y="2901045"/>
            <a:ext cx="485576" cy="57725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36FCAFE-6E82-CEAD-F80E-EE6BF90D4DA7}"/>
              </a:ext>
            </a:extLst>
          </p:cNvPr>
          <p:cNvSpPr txBox="1"/>
          <p:nvPr/>
        </p:nvSpPr>
        <p:spPr>
          <a:xfrm>
            <a:off x="2258897" y="2223239"/>
            <a:ext cx="441146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질의</a:t>
            </a:r>
          </a:p>
        </p:txBody>
      </p:sp>
      <p:pic>
        <p:nvPicPr>
          <p:cNvPr id="40" name="그림 39" descr="원, 도표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9402DF-B9EC-4930-756B-4D8E5A511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802" y="3401565"/>
            <a:ext cx="946709" cy="8345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9BD9576-37AA-5C0E-941F-4EFDF33D2E82}"/>
              </a:ext>
            </a:extLst>
          </p:cNvPr>
          <p:cNvCxnSpPr>
            <a:cxnSpLocks/>
            <a:stCxn id="30" idx="2"/>
            <a:endCxn id="40" idx="0"/>
          </p:cNvCxnSpPr>
          <p:nvPr/>
        </p:nvCxnSpPr>
        <p:spPr>
          <a:xfrm>
            <a:off x="4156293" y="3011969"/>
            <a:ext cx="7864" cy="3895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그림 44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7D2BBF-3CB9-0D82-0319-3B8BAE40CE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163"/>
          <a:stretch>
            <a:fillRect/>
          </a:stretch>
        </p:blipFill>
        <p:spPr>
          <a:xfrm>
            <a:off x="5981338" y="2795944"/>
            <a:ext cx="1440160" cy="781584"/>
          </a:xfrm>
          <a:prstGeom prst="rect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A1E5D10A-CE50-307F-8CFB-4EA7CBA4273C}"/>
              </a:ext>
            </a:extLst>
          </p:cNvPr>
          <p:cNvGrpSpPr/>
          <p:nvPr/>
        </p:nvGrpSpPr>
        <p:grpSpPr>
          <a:xfrm>
            <a:off x="6567632" y="6120185"/>
            <a:ext cx="243677" cy="40038"/>
            <a:chOff x="4377982" y="5768287"/>
            <a:chExt cx="224707" cy="40038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C6FF0CC-EE53-0F32-D19D-D282F81CFC0A}"/>
                </a:ext>
              </a:extLst>
            </p:cNvPr>
            <p:cNvSpPr/>
            <p:nvPr/>
          </p:nvSpPr>
          <p:spPr>
            <a:xfrm>
              <a:off x="4571251" y="5773585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35FF1BC-D144-9E8F-398A-8D3CFFB1D082}"/>
                </a:ext>
              </a:extLst>
            </p:cNvPr>
            <p:cNvSpPr/>
            <p:nvPr/>
          </p:nvSpPr>
          <p:spPr>
            <a:xfrm>
              <a:off x="4472220" y="5768287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96E6F980-7D48-0F61-0777-210AE316E44D}"/>
                </a:ext>
              </a:extLst>
            </p:cNvPr>
            <p:cNvSpPr/>
            <p:nvPr/>
          </p:nvSpPr>
          <p:spPr>
            <a:xfrm>
              <a:off x="4377982" y="5773180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FBF8678-BBA3-6D9C-5836-B9E133D725FA}"/>
              </a:ext>
            </a:extLst>
          </p:cNvPr>
          <p:cNvGrpSpPr/>
          <p:nvPr/>
        </p:nvGrpSpPr>
        <p:grpSpPr>
          <a:xfrm>
            <a:off x="4304928" y="5886646"/>
            <a:ext cx="895588" cy="538696"/>
            <a:chOff x="2477310" y="5534748"/>
            <a:chExt cx="825867" cy="538696"/>
          </a:xfrm>
        </p:grpSpPr>
        <p:sp>
          <p:nvSpPr>
            <p:cNvPr id="15" name="순서도: 자기 디스크 14">
              <a:extLst>
                <a:ext uri="{FF2B5EF4-FFF2-40B4-BE49-F238E27FC236}">
                  <a16:creationId xmlns:a16="http://schemas.microsoft.com/office/drawing/2014/main" id="{55BCBB5F-6076-EC9A-B9E0-0943DE92D735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3175D06-E3F3-D898-8FE5-893ED514EED6}"/>
                </a:ext>
              </a:extLst>
            </p:cNvPr>
            <p:cNvSpPr txBox="1"/>
            <p:nvPr/>
          </p:nvSpPr>
          <p:spPr>
            <a:xfrm>
              <a:off x="2477310" y="5743608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운전 데이터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6C23BDE-B278-B266-BC70-286C09EDCCE9}"/>
              </a:ext>
            </a:extLst>
          </p:cNvPr>
          <p:cNvGrpSpPr/>
          <p:nvPr/>
        </p:nvGrpSpPr>
        <p:grpSpPr>
          <a:xfrm>
            <a:off x="5659181" y="5886646"/>
            <a:ext cx="805440" cy="538696"/>
            <a:chOff x="3481903" y="5534748"/>
            <a:chExt cx="742737" cy="538696"/>
          </a:xfrm>
        </p:grpSpPr>
        <p:sp>
          <p:nvSpPr>
            <p:cNvPr id="8" name="순서도: 자기 디스크 7">
              <a:extLst>
                <a:ext uri="{FF2B5EF4-FFF2-40B4-BE49-F238E27FC236}">
                  <a16:creationId xmlns:a16="http://schemas.microsoft.com/office/drawing/2014/main" id="{96A63B7C-D09A-6BDB-B82B-7682F066C828}"/>
                </a:ext>
              </a:extLst>
            </p:cNvPr>
            <p:cNvSpPr/>
            <p:nvPr/>
          </p:nvSpPr>
          <p:spPr>
            <a:xfrm>
              <a:off x="3481903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DAA2999-BCCC-B652-65D3-0C02601BD7A0}"/>
                </a:ext>
              </a:extLst>
            </p:cNvPr>
            <p:cNvSpPr txBox="1"/>
            <p:nvPr/>
          </p:nvSpPr>
          <p:spPr>
            <a:xfrm>
              <a:off x="3648302" y="5743207"/>
              <a:ext cx="441146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품질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095C616-4567-D272-C35A-CCD812E17550}"/>
              </a:ext>
            </a:extLst>
          </p:cNvPr>
          <p:cNvGrpSpPr/>
          <p:nvPr/>
        </p:nvGrpSpPr>
        <p:grpSpPr>
          <a:xfrm>
            <a:off x="7024172" y="5892722"/>
            <a:ext cx="809148" cy="538696"/>
            <a:chOff x="4714022" y="5540824"/>
            <a:chExt cx="746156" cy="538696"/>
          </a:xfrm>
        </p:grpSpPr>
        <p:sp>
          <p:nvSpPr>
            <p:cNvPr id="14" name="순서도: 자기 디스크 13">
              <a:extLst>
                <a:ext uri="{FF2B5EF4-FFF2-40B4-BE49-F238E27FC236}">
                  <a16:creationId xmlns:a16="http://schemas.microsoft.com/office/drawing/2014/main" id="{D94836A7-E0F4-6534-AB26-6EA9DA77B8BB}"/>
                </a:ext>
              </a:extLst>
            </p:cNvPr>
            <p:cNvSpPr/>
            <p:nvPr/>
          </p:nvSpPr>
          <p:spPr>
            <a:xfrm>
              <a:off x="4714022" y="5540824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B5FC76E-D49D-43D7-6C2A-1F3C29C02234}"/>
                </a:ext>
              </a:extLst>
            </p:cNvPr>
            <p:cNvSpPr txBox="1"/>
            <p:nvPr/>
          </p:nvSpPr>
          <p:spPr>
            <a:xfrm>
              <a:off x="4717667" y="5745944"/>
              <a:ext cx="742511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이력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1CBCD7B-915F-0F32-356B-50A3018DFAC9}"/>
              </a:ext>
            </a:extLst>
          </p:cNvPr>
          <p:cNvGrpSpPr/>
          <p:nvPr/>
        </p:nvGrpSpPr>
        <p:grpSpPr>
          <a:xfrm>
            <a:off x="3794259" y="4811438"/>
            <a:ext cx="742737" cy="539860"/>
            <a:chOff x="6454142" y="5520816"/>
            <a:chExt cx="742737" cy="539860"/>
          </a:xfrm>
        </p:grpSpPr>
        <p:sp>
          <p:nvSpPr>
            <p:cNvPr id="16" name="순서도: 자기 디스크 15">
              <a:extLst>
                <a:ext uri="{FF2B5EF4-FFF2-40B4-BE49-F238E27FC236}">
                  <a16:creationId xmlns:a16="http://schemas.microsoft.com/office/drawing/2014/main" id="{89A19A88-0CB4-2F74-7D50-1E01D4518FD3}"/>
                </a:ext>
              </a:extLst>
            </p:cNvPr>
            <p:cNvSpPr/>
            <p:nvPr/>
          </p:nvSpPr>
          <p:spPr>
            <a:xfrm>
              <a:off x="6454142" y="552081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C20E8EE-AE2F-1804-8885-DE8C00E86231}"/>
                </a:ext>
              </a:extLst>
            </p:cNvPr>
            <p:cNvSpPr txBox="1"/>
            <p:nvPr/>
          </p:nvSpPr>
          <p:spPr>
            <a:xfrm>
              <a:off x="6499252" y="5660566"/>
              <a:ext cx="69762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온톨로지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000" dirty="0">
                  <a:latin typeface="+mn-ea"/>
                  <a:ea typeface="+mn-ea"/>
                </a:rPr>
                <a:t>DB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</p:grp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998E5F61-6FE5-8AAD-061D-DD6C28CEBC55}"/>
              </a:ext>
            </a:extLst>
          </p:cNvPr>
          <p:cNvSpPr/>
          <p:nvPr/>
        </p:nvSpPr>
        <p:spPr>
          <a:xfrm>
            <a:off x="5981340" y="2219334"/>
            <a:ext cx="1440159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3BBEE033-CFEA-C50B-3BA3-4BF8129EFF12}"/>
              </a:ext>
            </a:extLst>
          </p:cNvPr>
          <p:cNvSpPr/>
          <p:nvPr/>
        </p:nvSpPr>
        <p:spPr>
          <a:xfrm>
            <a:off x="5981340" y="3734107"/>
            <a:ext cx="1440158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45E88E-4514-099A-D3F4-046EE06C013B}"/>
              </a:ext>
            </a:extLst>
          </p:cNvPr>
          <p:cNvSpPr txBox="1"/>
          <p:nvPr/>
        </p:nvSpPr>
        <p:spPr>
          <a:xfrm>
            <a:off x="6091299" y="2239342"/>
            <a:ext cx="122180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자동분석 </a:t>
            </a:r>
            <a:r>
              <a:rPr lang="ko-KR" altLang="en-US" sz="1100" b="0" dirty="0" err="1">
                <a:latin typeface="+mn-ea"/>
                <a:ea typeface="+mn-ea"/>
              </a:rPr>
              <a:t>생성기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D211E88-A35C-6A4D-79B3-11BBD28F77ED}"/>
              </a:ext>
            </a:extLst>
          </p:cNvPr>
          <p:cNvCxnSpPr>
            <a:cxnSpLocks/>
            <a:stCxn id="52" idx="2"/>
            <a:endCxn id="45" idx="0"/>
          </p:cNvCxnSpPr>
          <p:nvPr/>
        </p:nvCxnSpPr>
        <p:spPr>
          <a:xfrm flipH="1">
            <a:off x="6701418" y="2500678"/>
            <a:ext cx="2" cy="295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89E110A6-5D2E-5F43-DB41-21830B14095A}"/>
              </a:ext>
            </a:extLst>
          </p:cNvPr>
          <p:cNvCxnSpPr>
            <a:cxnSpLocks/>
            <a:stCxn id="45" idx="2"/>
            <a:endCxn id="53" idx="0"/>
          </p:cNvCxnSpPr>
          <p:nvPr/>
        </p:nvCxnSpPr>
        <p:spPr>
          <a:xfrm>
            <a:off x="6701418" y="3577528"/>
            <a:ext cx="1" cy="15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8C27D938-D8A1-7597-6A6F-B0B229F28A7F}"/>
              </a:ext>
            </a:extLst>
          </p:cNvPr>
          <p:cNvSpPr txBox="1"/>
          <p:nvPr/>
        </p:nvSpPr>
        <p:spPr>
          <a:xfrm>
            <a:off x="6182945" y="3753841"/>
            <a:ext cx="1040670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데이터 </a:t>
            </a:r>
            <a:r>
              <a:rPr lang="en-US" altLang="ko-KR" sz="1100" b="0" dirty="0">
                <a:latin typeface="+mn-ea"/>
                <a:ea typeface="+mn-ea"/>
              </a:rPr>
              <a:t>Agent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A2290255-02B6-9E1A-9015-63031A0C3B02}"/>
              </a:ext>
            </a:extLst>
          </p:cNvPr>
          <p:cNvCxnSpPr>
            <a:cxnSpLocks/>
          </p:cNvCxnSpPr>
          <p:nvPr/>
        </p:nvCxnSpPr>
        <p:spPr>
          <a:xfrm>
            <a:off x="4584140" y="2441147"/>
            <a:ext cx="1181922" cy="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그림 104" descr="스크린샷, 도표, 라인이(가) 표시된 사진">
            <a:extLst>
              <a:ext uri="{FF2B5EF4-FFF2-40B4-BE49-F238E27FC236}">
                <a16:creationId xmlns:a16="http://schemas.microsoft.com/office/drawing/2014/main" id="{073BA227-98D6-AF99-F72B-14341A8AC7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040" y="3727139"/>
            <a:ext cx="647928" cy="4300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1" name="그림 11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40F7F7-4500-E880-6CAB-F7460D2E8C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3391" y="2845657"/>
            <a:ext cx="601588" cy="40011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C9BF18F8-9214-3121-5986-22795812E64B}"/>
              </a:ext>
            </a:extLst>
          </p:cNvPr>
          <p:cNvSpPr txBox="1"/>
          <p:nvPr/>
        </p:nvSpPr>
        <p:spPr>
          <a:xfrm>
            <a:off x="1847978" y="3428834"/>
            <a:ext cx="56938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답변서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BFAF3AE-4E7F-D4D7-AF62-448ECF86BCCA}"/>
              </a:ext>
            </a:extLst>
          </p:cNvPr>
          <p:cNvSpPr txBox="1"/>
          <p:nvPr/>
        </p:nvSpPr>
        <p:spPr>
          <a:xfrm>
            <a:off x="1797326" y="4194356"/>
            <a:ext cx="69762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분석파일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8B8F1E0-5724-8A15-46CA-0E7D7DCA269A}"/>
              </a:ext>
            </a:extLst>
          </p:cNvPr>
          <p:cNvSpPr txBox="1"/>
          <p:nvPr/>
        </p:nvSpPr>
        <p:spPr>
          <a:xfrm>
            <a:off x="5117713" y="3265768"/>
            <a:ext cx="631904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자동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분석</a:t>
            </a:r>
            <a:endParaRPr lang="en-US" altLang="ko-KR" sz="800" dirty="0">
              <a:latin typeface="+mn-ea"/>
              <a:ea typeface="+mn-ea"/>
            </a:endParaRPr>
          </a:p>
          <a:p>
            <a:pPr algn="ctr"/>
            <a:r>
              <a:rPr lang="ko-KR" altLang="en-US" sz="800" dirty="0">
                <a:latin typeface="+mn-ea"/>
                <a:ea typeface="+mn-ea"/>
              </a:rPr>
              <a:t>보고서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26DACD15-E694-F279-A03D-201465CA2DCF}"/>
              </a:ext>
            </a:extLst>
          </p:cNvPr>
          <p:cNvSpPr/>
          <p:nvPr/>
        </p:nvSpPr>
        <p:spPr>
          <a:xfrm>
            <a:off x="3546706" y="1846372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 err="1">
                <a:solidFill>
                  <a:schemeClr val="tx1"/>
                </a:solidFill>
                <a:latin typeface="맑은 고딕"/>
                <a:ea typeface="맑은 고딕"/>
              </a:rPr>
              <a:t>sLLM</a:t>
            </a:r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 w/RAG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AEBDB607-4075-A1A6-E5BB-EC5DE25D3BB3}"/>
              </a:ext>
            </a:extLst>
          </p:cNvPr>
          <p:cNvSpPr/>
          <p:nvPr/>
        </p:nvSpPr>
        <p:spPr>
          <a:xfrm>
            <a:off x="6054621" y="1819568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자동분석시스템</a:t>
            </a:r>
          </a:p>
        </p:txBody>
      </p:sp>
      <p:cxnSp>
        <p:nvCxnSpPr>
          <p:cNvPr id="132" name="연결선: 꺾임 131">
            <a:extLst>
              <a:ext uri="{FF2B5EF4-FFF2-40B4-BE49-F238E27FC236}">
                <a16:creationId xmlns:a16="http://schemas.microsoft.com/office/drawing/2014/main" id="{D0E0FCEE-ED9E-2029-BBCC-31E3C168BECD}"/>
              </a:ext>
            </a:extLst>
          </p:cNvPr>
          <p:cNvCxnSpPr/>
          <p:nvPr/>
        </p:nvCxnSpPr>
        <p:spPr>
          <a:xfrm rot="10800000" flipV="1">
            <a:off x="4323764" y="2725230"/>
            <a:ext cx="1442298" cy="659122"/>
          </a:xfrm>
          <a:prstGeom prst="bentConnector3">
            <a:avLst>
              <a:gd name="adj1" fmla="val 99756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06BA586B-CC8A-E971-5461-54228E0F490C}"/>
              </a:ext>
            </a:extLst>
          </p:cNvPr>
          <p:cNvSpPr txBox="1"/>
          <p:nvPr/>
        </p:nvSpPr>
        <p:spPr>
          <a:xfrm>
            <a:off x="6202325" y="2748809"/>
            <a:ext cx="1039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ECMiner</a:t>
            </a:r>
            <a:r>
              <a:rPr lang="en-US" altLang="ko-KR" sz="1200" dirty="0">
                <a:latin typeface="+mn-ea"/>
                <a:ea typeface="+mn-ea"/>
              </a:rPr>
              <a:t>™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B007707-4387-22AD-00F1-D68BB5A0FCB7}"/>
              </a:ext>
            </a:extLst>
          </p:cNvPr>
          <p:cNvSpPr/>
          <p:nvPr/>
        </p:nvSpPr>
        <p:spPr>
          <a:xfrm>
            <a:off x="1643437" y="6008093"/>
            <a:ext cx="1129871" cy="195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원천 데이터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4675252-0379-DACF-0184-CA0E0864AE44}"/>
              </a:ext>
            </a:extLst>
          </p:cNvPr>
          <p:cNvGrpSpPr/>
          <p:nvPr/>
        </p:nvGrpSpPr>
        <p:grpSpPr>
          <a:xfrm>
            <a:off x="4953000" y="4805816"/>
            <a:ext cx="859488" cy="573643"/>
            <a:chOff x="5430768" y="4809446"/>
            <a:chExt cx="859488" cy="573643"/>
          </a:xfrm>
        </p:grpSpPr>
        <p:sp>
          <p:nvSpPr>
            <p:cNvPr id="38" name="순서도: 자기 디스크 37">
              <a:extLst>
                <a:ext uri="{FF2B5EF4-FFF2-40B4-BE49-F238E27FC236}">
                  <a16:creationId xmlns:a16="http://schemas.microsoft.com/office/drawing/2014/main" id="{399421F1-8AE7-C4A5-9D9A-2B852E4B0DFC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477A3A-B5AF-2AEF-A7F9-6867072EF976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메타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BDC1DD55-0D6A-BE6E-0ADE-73F895723335}"/>
              </a:ext>
            </a:extLst>
          </p:cNvPr>
          <p:cNvCxnSpPr>
            <a:cxnSpLocks/>
            <a:stCxn id="14" idx="1"/>
            <a:endCxn id="81" idx="2"/>
          </p:cNvCxnSpPr>
          <p:nvPr/>
        </p:nvCxnSpPr>
        <p:spPr>
          <a:xfrm rot="16200000" flipV="1">
            <a:off x="6088605" y="4554435"/>
            <a:ext cx="488049" cy="21885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584E97F-FDF9-F912-0413-6EDDA5BC15DA}"/>
              </a:ext>
            </a:extLst>
          </p:cNvPr>
          <p:cNvGrpSpPr/>
          <p:nvPr/>
        </p:nvGrpSpPr>
        <p:grpSpPr>
          <a:xfrm>
            <a:off x="3008784" y="5868207"/>
            <a:ext cx="895588" cy="538696"/>
            <a:chOff x="2467152" y="5534748"/>
            <a:chExt cx="825867" cy="538696"/>
          </a:xfrm>
        </p:grpSpPr>
        <p:sp>
          <p:nvSpPr>
            <p:cNvPr id="70" name="순서도: 자기 디스크 69">
              <a:extLst>
                <a:ext uri="{FF2B5EF4-FFF2-40B4-BE49-F238E27FC236}">
                  <a16:creationId xmlns:a16="http://schemas.microsoft.com/office/drawing/2014/main" id="{2C9861B5-D45A-391E-2477-9DCF460EDBA1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27C9AF1-2241-5FB7-961F-6999829D8E65}"/>
                </a:ext>
              </a:extLst>
            </p:cNvPr>
            <p:cNvSpPr txBox="1"/>
            <p:nvPr/>
          </p:nvSpPr>
          <p:spPr>
            <a:xfrm>
              <a:off x="2467152" y="5721576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문서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AEDC9BD1-C6B2-0180-373E-39BE65776547}"/>
              </a:ext>
            </a:extLst>
          </p:cNvPr>
          <p:cNvGrpSpPr/>
          <p:nvPr/>
        </p:nvGrpSpPr>
        <p:grpSpPr>
          <a:xfrm>
            <a:off x="6056088" y="4805816"/>
            <a:ext cx="859488" cy="573643"/>
            <a:chOff x="5430768" y="4809446"/>
            <a:chExt cx="859488" cy="573643"/>
          </a:xfrm>
        </p:grpSpPr>
        <p:sp>
          <p:nvSpPr>
            <p:cNvPr id="78" name="순서도: 자기 디스크 77">
              <a:extLst>
                <a:ext uri="{FF2B5EF4-FFF2-40B4-BE49-F238E27FC236}">
                  <a16:creationId xmlns:a16="http://schemas.microsoft.com/office/drawing/2014/main" id="{1B8B4767-62BF-A936-9472-F05A523F7411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8894DEF-53E7-B99F-951F-0B59822E6717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분석용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A96C76A2-A39D-B916-E127-DB880C5ABA47}"/>
              </a:ext>
            </a:extLst>
          </p:cNvPr>
          <p:cNvCxnSpPr>
            <a:cxnSpLocks/>
            <a:stCxn id="70" idx="1"/>
            <a:endCxn id="81" idx="2"/>
          </p:cNvCxnSpPr>
          <p:nvPr/>
        </p:nvCxnSpPr>
        <p:spPr>
          <a:xfrm rot="5400000" flipH="1" flipV="1">
            <a:off x="4113328" y="4743170"/>
            <a:ext cx="463534" cy="17865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FCDAD801-9667-C1A3-EA84-12BB720E39C1}"/>
              </a:ext>
            </a:extLst>
          </p:cNvPr>
          <p:cNvCxnSpPr>
            <a:cxnSpLocks/>
          </p:cNvCxnSpPr>
          <p:nvPr/>
        </p:nvCxnSpPr>
        <p:spPr>
          <a:xfrm>
            <a:off x="7223615" y="4015451"/>
            <a:ext cx="18490" cy="1585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1459C394-1A79-FDF6-0055-4D760B601E4B}"/>
              </a:ext>
            </a:extLst>
          </p:cNvPr>
          <p:cNvCxnSpPr>
            <a:cxnSpLocks/>
            <a:stCxn id="16" idx="1"/>
            <a:endCxn id="40" idx="2"/>
          </p:cNvCxnSpPr>
          <p:nvPr/>
        </p:nvCxnSpPr>
        <p:spPr>
          <a:xfrm flipH="1" flipV="1">
            <a:off x="4164157" y="4236105"/>
            <a:ext cx="1471" cy="5753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4B394683-6500-3830-C8B5-F481C87F628B}"/>
              </a:ext>
            </a:extLst>
          </p:cNvPr>
          <p:cNvCxnSpPr/>
          <p:nvPr/>
        </p:nvCxnSpPr>
        <p:spPr>
          <a:xfrm>
            <a:off x="6393160" y="4015451"/>
            <a:ext cx="0" cy="6850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F4693B0D-A0E2-A12C-B790-987300E8FDD9}"/>
              </a:ext>
            </a:extLst>
          </p:cNvPr>
          <p:cNvCxnSpPr>
            <a:cxnSpLocks/>
            <a:stCxn id="16" idx="4"/>
            <a:endCxn id="38" idx="2"/>
          </p:cNvCxnSpPr>
          <p:nvPr/>
        </p:nvCxnSpPr>
        <p:spPr>
          <a:xfrm flipV="1">
            <a:off x="4536996" y="5075164"/>
            <a:ext cx="458090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70795328-CEB5-6ADB-0411-A7A74342CDE6}"/>
              </a:ext>
            </a:extLst>
          </p:cNvPr>
          <p:cNvCxnSpPr>
            <a:stCxn id="38" idx="4"/>
          </p:cNvCxnSpPr>
          <p:nvPr/>
        </p:nvCxnSpPr>
        <p:spPr>
          <a:xfrm>
            <a:off x="5737823" y="5075164"/>
            <a:ext cx="353476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246A5837-D6A1-42B6-3813-3BBD89C40079}"/>
              </a:ext>
            </a:extLst>
          </p:cNvPr>
          <p:cNvSpPr/>
          <p:nvPr/>
        </p:nvSpPr>
        <p:spPr bwMode="auto">
          <a:xfrm>
            <a:off x="3322413" y="4551776"/>
            <a:ext cx="5471265" cy="120560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7724D7-EB5D-F1E3-0982-7691C3502922}"/>
              </a:ext>
            </a:extLst>
          </p:cNvPr>
          <p:cNvSpPr/>
          <p:nvPr/>
        </p:nvSpPr>
        <p:spPr>
          <a:xfrm>
            <a:off x="7482996" y="4874204"/>
            <a:ext cx="1195817" cy="374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AIDA:</a:t>
            </a:r>
          </a:p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Ontology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86747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D5FF-855E-6160-C352-D9BD90EFC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2E8CDA86-BF80-B673-8D9D-323AF1869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2678"/>
            <a:ext cx="9906000" cy="591264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BCEA6CB-E25E-ABDD-9144-369D978AD0F3}"/>
              </a:ext>
            </a:extLst>
          </p:cNvPr>
          <p:cNvSpPr/>
          <p:nvPr/>
        </p:nvSpPr>
        <p:spPr bwMode="auto">
          <a:xfrm>
            <a:off x="0" y="2028269"/>
            <a:ext cx="1288473" cy="649617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5D6FB94-8F25-C34D-2D03-7A9A9CEF65D9}"/>
              </a:ext>
            </a:extLst>
          </p:cNvPr>
          <p:cNvSpPr/>
          <p:nvPr/>
        </p:nvSpPr>
        <p:spPr bwMode="auto">
          <a:xfrm>
            <a:off x="1702131" y="987199"/>
            <a:ext cx="803564" cy="319087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2CA8CC-13E7-9CBB-5441-69A44AFB6EAD}"/>
              </a:ext>
            </a:extLst>
          </p:cNvPr>
          <p:cNvSpPr/>
          <p:nvPr/>
        </p:nvSpPr>
        <p:spPr bwMode="auto">
          <a:xfrm>
            <a:off x="7732816" y="2353077"/>
            <a:ext cx="2173183" cy="2533619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7977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BE96F-E5CB-ACC4-8966-2642D484C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직사각형 80">
            <a:extLst>
              <a:ext uri="{FF2B5EF4-FFF2-40B4-BE49-F238E27FC236}">
                <a16:creationId xmlns:a16="http://schemas.microsoft.com/office/drawing/2014/main" id="{82AD710B-E65A-86AD-2B5E-0EAA7125C33A}"/>
              </a:ext>
            </a:extLst>
          </p:cNvPr>
          <p:cNvSpPr/>
          <p:nvPr/>
        </p:nvSpPr>
        <p:spPr>
          <a:xfrm>
            <a:off x="3451826" y="4599667"/>
            <a:ext cx="3573080" cy="68624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86E4AE57-4B99-33DF-0AE5-CA4814619149}"/>
              </a:ext>
            </a:extLst>
          </p:cNvPr>
          <p:cNvSpPr/>
          <p:nvPr/>
        </p:nvSpPr>
        <p:spPr>
          <a:xfrm>
            <a:off x="3216828" y="1872502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09EEA29-E448-C194-AD14-F614197389AE}"/>
              </a:ext>
            </a:extLst>
          </p:cNvPr>
          <p:cNvSpPr/>
          <p:nvPr/>
        </p:nvSpPr>
        <p:spPr>
          <a:xfrm>
            <a:off x="5788151" y="1859377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917976D-4D42-0F84-07DD-E3F8D97823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도메인 특화 </a:t>
            </a:r>
            <a:r>
              <a:rPr lang="en-US" altLang="ko-KR" dirty="0"/>
              <a:t>Ontology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B35BC0-DBE5-92F7-4282-408039A23D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</a:t>
            </a:r>
            <a:r>
              <a:rPr lang="ko-KR" altLang="en-US" dirty="0"/>
              <a:t>은 원천데이터를 기반으로 고객의 </a:t>
            </a:r>
            <a:r>
              <a:rPr lang="en-US" altLang="ko-KR" dirty="0"/>
              <a:t>Needs</a:t>
            </a:r>
            <a:r>
              <a:rPr lang="ko-KR" altLang="en-US" dirty="0"/>
              <a:t>에 부합하는 </a:t>
            </a:r>
            <a:r>
              <a:rPr lang="en-US" altLang="ko-KR" dirty="0"/>
              <a:t>Ontology</a:t>
            </a:r>
            <a:r>
              <a:rPr lang="ko-KR" altLang="en-US" dirty="0"/>
              <a:t>를 자동 생성하여</a:t>
            </a:r>
            <a:r>
              <a:rPr lang="en-US" altLang="ko-KR" dirty="0"/>
              <a:t>, </a:t>
            </a:r>
            <a:r>
              <a:rPr lang="ko-KR" altLang="en-US" dirty="0"/>
              <a:t>사용자 의사결정에 필요한 정보를 제공합니다</a:t>
            </a:r>
            <a:r>
              <a:rPr lang="en-US" altLang="ko-KR" dirty="0"/>
              <a:t>. </a:t>
            </a:r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설비 잔존 수명 예측</a:t>
            </a:r>
            <a:r>
              <a:rPr lang="en-US" altLang="ko-KR" dirty="0"/>
              <a:t>, </a:t>
            </a:r>
            <a:r>
              <a:rPr lang="ko-KR" altLang="en-US" dirty="0"/>
              <a:t>이상 진단</a:t>
            </a:r>
            <a:r>
              <a:rPr lang="en-US" altLang="ko-KR" dirty="0"/>
              <a:t>, </a:t>
            </a:r>
            <a:r>
              <a:rPr lang="ko-KR" altLang="en-US" dirty="0"/>
              <a:t>품질 영향 인자</a:t>
            </a:r>
            <a:r>
              <a:rPr lang="en-US" altLang="ko-KR" dirty="0"/>
              <a:t>, </a:t>
            </a:r>
            <a:r>
              <a:rPr lang="ko-KR" altLang="en-US" dirty="0"/>
              <a:t>에너지 절감 등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A895CBE-2EB0-3793-3E51-8EC5B7BDB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 </a:t>
            </a:r>
            <a:r>
              <a:rPr lang="ko-KR" altLang="en-US" dirty="0"/>
              <a:t>소개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725F52-6AFA-3FEC-47C2-B586ED6675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 descr="만화 영화, 소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BF565B-8F4D-D243-CFD5-FB03F992A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19" y="2367948"/>
            <a:ext cx="877429" cy="1008109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08AF91F-B0C0-0070-661E-0A6D23354B4A}"/>
              </a:ext>
            </a:extLst>
          </p:cNvPr>
          <p:cNvSpPr/>
          <p:nvPr/>
        </p:nvSpPr>
        <p:spPr>
          <a:xfrm>
            <a:off x="3728446" y="2245137"/>
            <a:ext cx="855694" cy="6480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24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맑은 고딕"/>
                <a:ea typeface="맑은 고딕"/>
              </a:rPr>
              <a:t>AI</a:t>
            </a:r>
            <a:endParaRPr lang="ko-KR" altLang="en-US" sz="24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맑은 고딕"/>
              <a:ea typeface="맑은 고딕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DFBC4CB3-3435-CC44-C54B-D2444907D8E5}"/>
              </a:ext>
            </a:extLst>
          </p:cNvPr>
          <p:cNvGrpSpPr/>
          <p:nvPr/>
        </p:nvGrpSpPr>
        <p:grpSpPr>
          <a:xfrm>
            <a:off x="1818171" y="2366995"/>
            <a:ext cx="1910275" cy="296721"/>
            <a:chOff x="1568281" y="2844247"/>
            <a:chExt cx="1599323" cy="296721"/>
          </a:xfrm>
        </p:grpSpPr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E8950077-4B21-2B1F-AF99-0FA29919F379}"/>
                </a:ext>
              </a:extLst>
            </p:cNvPr>
            <p:cNvCxnSpPr>
              <a:cxnSpLocks/>
            </p:cNvCxnSpPr>
            <p:nvPr/>
          </p:nvCxnSpPr>
          <p:spPr>
            <a:xfrm>
              <a:off x="1568281" y="2844247"/>
              <a:ext cx="1599323" cy="9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4178BAFB-F791-1B1A-BEB0-12BAE25B43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8281" y="3140968"/>
              <a:ext cx="15993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그림 35" descr="도표, 디자인, 일렉트릭 블루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4AF85C-996E-BA54-EB3B-1F2B06388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171" y="2782285"/>
            <a:ext cx="485576" cy="57725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5EC1465-5419-93CB-36B5-0603DCEA8FD6}"/>
              </a:ext>
            </a:extLst>
          </p:cNvPr>
          <p:cNvSpPr txBox="1"/>
          <p:nvPr/>
        </p:nvSpPr>
        <p:spPr>
          <a:xfrm>
            <a:off x="2258897" y="2104479"/>
            <a:ext cx="441146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질의</a:t>
            </a:r>
          </a:p>
        </p:txBody>
      </p:sp>
      <p:pic>
        <p:nvPicPr>
          <p:cNvPr id="40" name="그림 39" descr="원, 도표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0F213A-650C-0B56-0702-2EC8D1413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802" y="3282805"/>
            <a:ext cx="946709" cy="8345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020DFE9-B85C-C72B-2629-8CC019397AFE}"/>
              </a:ext>
            </a:extLst>
          </p:cNvPr>
          <p:cNvCxnSpPr>
            <a:cxnSpLocks/>
            <a:stCxn id="30" idx="2"/>
            <a:endCxn id="40" idx="0"/>
          </p:cNvCxnSpPr>
          <p:nvPr/>
        </p:nvCxnSpPr>
        <p:spPr>
          <a:xfrm>
            <a:off x="4156293" y="2893209"/>
            <a:ext cx="7864" cy="3895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그림 44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F583C2-DD24-BA52-5450-48DF465C91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163"/>
          <a:stretch>
            <a:fillRect/>
          </a:stretch>
        </p:blipFill>
        <p:spPr>
          <a:xfrm>
            <a:off x="5981338" y="2677184"/>
            <a:ext cx="1440160" cy="781584"/>
          </a:xfrm>
          <a:prstGeom prst="rect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ACB7E741-5C4B-A429-F7F4-65D9A2E231EE}"/>
              </a:ext>
            </a:extLst>
          </p:cNvPr>
          <p:cNvGrpSpPr/>
          <p:nvPr/>
        </p:nvGrpSpPr>
        <p:grpSpPr>
          <a:xfrm>
            <a:off x="6567632" y="6001425"/>
            <a:ext cx="243677" cy="40038"/>
            <a:chOff x="4377982" y="5768287"/>
            <a:chExt cx="224707" cy="40038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8537EB7-C7C6-2B83-4442-E3E5CD3EAE7D}"/>
                </a:ext>
              </a:extLst>
            </p:cNvPr>
            <p:cNvSpPr/>
            <p:nvPr/>
          </p:nvSpPr>
          <p:spPr>
            <a:xfrm>
              <a:off x="4571251" y="5773585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880A5F63-6D74-4C9D-5952-08EF93205347}"/>
                </a:ext>
              </a:extLst>
            </p:cNvPr>
            <p:cNvSpPr/>
            <p:nvPr/>
          </p:nvSpPr>
          <p:spPr>
            <a:xfrm>
              <a:off x="4472220" y="5768287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2D7183FC-1A28-5ECF-FFA3-0692F962D90F}"/>
                </a:ext>
              </a:extLst>
            </p:cNvPr>
            <p:cNvSpPr/>
            <p:nvPr/>
          </p:nvSpPr>
          <p:spPr>
            <a:xfrm>
              <a:off x="4377982" y="5773180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6C9FD70-0DC0-EDBC-2E42-7A9C72BCB1A4}"/>
              </a:ext>
            </a:extLst>
          </p:cNvPr>
          <p:cNvGrpSpPr/>
          <p:nvPr/>
        </p:nvGrpSpPr>
        <p:grpSpPr>
          <a:xfrm>
            <a:off x="4304928" y="5767886"/>
            <a:ext cx="895588" cy="538696"/>
            <a:chOff x="2477310" y="5534748"/>
            <a:chExt cx="825867" cy="538696"/>
          </a:xfrm>
        </p:grpSpPr>
        <p:sp>
          <p:nvSpPr>
            <p:cNvPr id="15" name="순서도: 자기 디스크 14">
              <a:extLst>
                <a:ext uri="{FF2B5EF4-FFF2-40B4-BE49-F238E27FC236}">
                  <a16:creationId xmlns:a16="http://schemas.microsoft.com/office/drawing/2014/main" id="{83CF9C17-B4FA-031F-B67F-35ACB59C4215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A04BA4B-8BE2-5529-0EC3-94A5F557B5D3}"/>
                </a:ext>
              </a:extLst>
            </p:cNvPr>
            <p:cNvSpPr txBox="1"/>
            <p:nvPr/>
          </p:nvSpPr>
          <p:spPr>
            <a:xfrm>
              <a:off x="2477310" y="5743608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운전 데이터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7C112EB-2292-443B-5E48-94697FDF2F2E}"/>
              </a:ext>
            </a:extLst>
          </p:cNvPr>
          <p:cNvGrpSpPr/>
          <p:nvPr/>
        </p:nvGrpSpPr>
        <p:grpSpPr>
          <a:xfrm>
            <a:off x="5659181" y="5767886"/>
            <a:ext cx="805440" cy="538696"/>
            <a:chOff x="3481903" y="5534748"/>
            <a:chExt cx="742737" cy="538696"/>
          </a:xfrm>
        </p:grpSpPr>
        <p:sp>
          <p:nvSpPr>
            <p:cNvPr id="8" name="순서도: 자기 디스크 7">
              <a:extLst>
                <a:ext uri="{FF2B5EF4-FFF2-40B4-BE49-F238E27FC236}">
                  <a16:creationId xmlns:a16="http://schemas.microsoft.com/office/drawing/2014/main" id="{0E121B8A-3F93-F629-D7B7-C12195166EC1}"/>
                </a:ext>
              </a:extLst>
            </p:cNvPr>
            <p:cNvSpPr/>
            <p:nvPr/>
          </p:nvSpPr>
          <p:spPr>
            <a:xfrm>
              <a:off x="3481903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8B57DC3-12A7-B14D-B776-19F16E36454B}"/>
                </a:ext>
              </a:extLst>
            </p:cNvPr>
            <p:cNvSpPr txBox="1"/>
            <p:nvPr/>
          </p:nvSpPr>
          <p:spPr>
            <a:xfrm>
              <a:off x="3648302" y="5743207"/>
              <a:ext cx="441146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품질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DAD9DF2-CCB9-E47A-9959-75D5FEBAE204}"/>
              </a:ext>
            </a:extLst>
          </p:cNvPr>
          <p:cNvGrpSpPr/>
          <p:nvPr/>
        </p:nvGrpSpPr>
        <p:grpSpPr>
          <a:xfrm>
            <a:off x="7024172" y="5773962"/>
            <a:ext cx="809148" cy="538696"/>
            <a:chOff x="4714022" y="5540824"/>
            <a:chExt cx="746156" cy="538696"/>
          </a:xfrm>
        </p:grpSpPr>
        <p:sp>
          <p:nvSpPr>
            <p:cNvPr id="14" name="순서도: 자기 디스크 13">
              <a:extLst>
                <a:ext uri="{FF2B5EF4-FFF2-40B4-BE49-F238E27FC236}">
                  <a16:creationId xmlns:a16="http://schemas.microsoft.com/office/drawing/2014/main" id="{0B64A97B-70B2-1E1B-96C0-5CCF331DCFD2}"/>
                </a:ext>
              </a:extLst>
            </p:cNvPr>
            <p:cNvSpPr/>
            <p:nvPr/>
          </p:nvSpPr>
          <p:spPr>
            <a:xfrm>
              <a:off x="4714022" y="5540824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F10C82F-3CD4-3C21-41F7-2185E659CCFB}"/>
                </a:ext>
              </a:extLst>
            </p:cNvPr>
            <p:cNvSpPr txBox="1"/>
            <p:nvPr/>
          </p:nvSpPr>
          <p:spPr>
            <a:xfrm>
              <a:off x="4717667" y="5745944"/>
              <a:ext cx="742511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이력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AFE446C-817D-6E8E-21CF-1BBC401B2442}"/>
              </a:ext>
            </a:extLst>
          </p:cNvPr>
          <p:cNvGrpSpPr/>
          <p:nvPr/>
        </p:nvGrpSpPr>
        <p:grpSpPr>
          <a:xfrm>
            <a:off x="3794259" y="4692678"/>
            <a:ext cx="742737" cy="539860"/>
            <a:chOff x="6454142" y="5520816"/>
            <a:chExt cx="742737" cy="539860"/>
          </a:xfrm>
        </p:grpSpPr>
        <p:sp>
          <p:nvSpPr>
            <p:cNvPr id="16" name="순서도: 자기 디스크 15">
              <a:extLst>
                <a:ext uri="{FF2B5EF4-FFF2-40B4-BE49-F238E27FC236}">
                  <a16:creationId xmlns:a16="http://schemas.microsoft.com/office/drawing/2014/main" id="{339E83E6-EFF4-2FAF-6842-907B5B3878A2}"/>
                </a:ext>
              </a:extLst>
            </p:cNvPr>
            <p:cNvSpPr/>
            <p:nvPr/>
          </p:nvSpPr>
          <p:spPr>
            <a:xfrm>
              <a:off x="6454142" y="552081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E54300F-1C3B-3B0F-B0E3-0117F1C129BE}"/>
                </a:ext>
              </a:extLst>
            </p:cNvPr>
            <p:cNvSpPr txBox="1"/>
            <p:nvPr/>
          </p:nvSpPr>
          <p:spPr>
            <a:xfrm>
              <a:off x="6499252" y="5660566"/>
              <a:ext cx="69762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온톨로지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000" dirty="0">
                  <a:latin typeface="+mn-ea"/>
                  <a:ea typeface="+mn-ea"/>
                </a:rPr>
                <a:t>DB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</p:grp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C77108F-F247-4817-C4C3-1261DE56E0AD}"/>
              </a:ext>
            </a:extLst>
          </p:cNvPr>
          <p:cNvSpPr/>
          <p:nvPr/>
        </p:nvSpPr>
        <p:spPr>
          <a:xfrm>
            <a:off x="5981340" y="2100574"/>
            <a:ext cx="1440159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DE2D81E9-54AA-FA82-14B4-35D1BB6A7081}"/>
              </a:ext>
            </a:extLst>
          </p:cNvPr>
          <p:cNvSpPr/>
          <p:nvPr/>
        </p:nvSpPr>
        <p:spPr>
          <a:xfrm>
            <a:off x="5981340" y="3615347"/>
            <a:ext cx="1440158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B20054-9CFA-2D8D-E1DF-091321BEF7A3}"/>
              </a:ext>
            </a:extLst>
          </p:cNvPr>
          <p:cNvSpPr txBox="1"/>
          <p:nvPr/>
        </p:nvSpPr>
        <p:spPr>
          <a:xfrm>
            <a:off x="6091299" y="2120582"/>
            <a:ext cx="122180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자동분석 </a:t>
            </a:r>
            <a:r>
              <a:rPr lang="ko-KR" altLang="en-US" sz="1100" b="0" dirty="0" err="1">
                <a:latin typeface="+mn-ea"/>
                <a:ea typeface="+mn-ea"/>
              </a:rPr>
              <a:t>생성기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6A63EC2-194E-3132-FD58-65BD8A3E51FE}"/>
              </a:ext>
            </a:extLst>
          </p:cNvPr>
          <p:cNvCxnSpPr>
            <a:cxnSpLocks/>
            <a:stCxn id="52" idx="2"/>
            <a:endCxn id="45" idx="0"/>
          </p:cNvCxnSpPr>
          <p:nvPr/>
        </p:nvCxnSpPr>
        <p:spPr>
          <a:xfrm flipH="1">
            <a:off x="6701418" y="2381918"/>
            <a:ext cx="2" cy="295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47F87F2-A5AF-A3EF-2E1B-1CE893F5E7B9}"/>
              </a:ext>
            </a:extLst>
          </p:cNvPr>
          <p:cNvCxnSpPr>
            <a:cxnSpLocks/>
            <a:stCxn id="45" idx="2"/>
            <a:endCxn id="53" idx="0"/>
          </p:cNvCxnSpPr>
          <p:nvPr/>
        </p:nvCxnSpPr>
        <p:spPr>
          <a:xfrm>
            <a:off x="6701418" y="3458768"/>
            <a:ext cx="1" cy="15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2A9640B-B86B-7885-1B5C-D30C386782C0}"/>
              </a:ext>
            </a:extLst>
          </p:cNvPr>
          <p:cNvSpPr txBox="1"/>
          <p:nvPr/>
        </p:nvSpPr>
        <p:spPr>
          <a:xfrm>
            <a:off x="6182945" y="3635081"/>
            <a:ext cx="1040670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데이터 </a:t>
            </a:r>
            <a:r>
              <a:rPr lang="en-US" altLang="ko-KR" sz="1100" b="0" dirty="0">
                <a:latin typeface="+mn-ea"/>
                <a:ea typeface="+mn-ea"/>
              </a:rPr>
              <a:t>Agent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1801F8D8-B7D1-91CF-6EE7-3C4D2A3500D6}"/>
              </a:ext>
            </a:extLst>
          </p:cNvPr>
          <p:cNvCxnSpPr>
            <a:cxnSpLocks/>
          </p:cNvCxnSpPr>
          <p:nvPr/>
        </p:nvCxnSpPr>
        <p:spPr>
          <a:xfrm>
            <a:off x="4584140" y="2322387"/>
            <a:ext cx="1181922" cy="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그림 104" descr="스크린샷, 도표, 라인이(가) 표시된 사진">
            <a:extLst>
              <a:ext uri="{FF2B5EF4-FFF2-40B4-BE49-F238E27FC236}">
                <a16:creationId xmlns:a16="http://schemas.microsoft.com/office/drawing/2014/main" id="{B39CC030-2DA9-B912-BF2E-80CB1DFDA7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040" y="3608379"/>
            <a:ext cx="647928" cy="4300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1" name="그림 11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2A3509-770C-B053-1D46-E2F86502BF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3391" y="2726897"/>
            <a:ext cx="601588" cy="40011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4FC2A1BB-BAC8-A614-8F0F-482F3EC749E2}"/>
              </a:ext>
            </a:extLst>
          </p:cNvPr>
          <p:cNvSpPr txBox="1"/>
          <p:nvPr/>
        </p:nvSpPr>
        <p:spPr>
          <a:xfrm>
            <a:off x="1847978" y="3310074"/>
            <a:ext cx="56938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답변서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864AE3F-963A-5DA9-6CE3-1E56381BE5B6}"/>
              </a:ext>
            </a:extLst>
          </p:cNvPr>
          <p:cNvSpPr txBox="1"/>
          <p:nvPr/>
        </p:nvSpPr>
        <p:spPr>
          <a:xfrm>
            <a:off x="1797326" y="4075596"/>
            <a:ext cx="69762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분석파일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14B015E-6318-FF13-7398-FB56ADB3112C}"/>
              </a:ext>
            </a:extLst>
          </p:cNvPr>
          <p:cNvSpPr txBox="1"/>
          <p:nvPr/>
        </p:nvSpPr>
        <p:spPr>
          <a:xfrm>
            <a:off x="5117713" y="3147008"/>
            <a:ext cx="631904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자동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분석</a:t>
            </a:r>
            <a:endParaRPr lang="en-US" altLang="ko-KR" sz="800" dirty="0">
              <a:latin typeface="+mn-ea"/>
              <a:ea typeface="+mn-ea"/>
            </a:endParaRPr>
          </a:p>
          <a:p>
            <a:pPr algn="ctr"/>
            <a:r>
              <a:rPr lang="ko-KR" altLang="en-US" sz="800" dirty="0">
                <a:latin typeface="+mn-ea"/>
                <a:ea typeface="+mn-ea"/>
              </a:rPr>
              <a:t>보고서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551D06A5-A071-0566-9076-D411BBED624B}"/>
              </a:ext>
            </a:extLst>
          </p:cNvPr>
          <p:cNvSpPr/>
          <p:nvPr/>
        </p:nvSpPr>
        <p:spPr>
          <a:xfrm>
            <a:off x="3546706" y="1727612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 err="1">
                <a:solidFill>
                  <a:schemeClr val="tx1"/>
                </a:solidFill>
                <a:latin typeface="맑은 고딕"/>
                <a:ea typeface="맑은 고딕"/>
              </a:rPr>
              <a:t>sLLM</a:t>
            </a:r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 w/RAG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F262008D-693B-F2E4-D453-9295B26FA961}"/>
              </a:ext>
            </a:extLst>
          </p:cNvPr>
          <p:cNvSpPr/>
          <p:nvPr/>
        </p:nvSpPr>
        <p:spPr>
          <a:xfrm>
            <a:off x="6054621" y="1700808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자동분석시스템</a:t>
            </a:r>
          </a:p>
        </p:txBody>
      </p:sp>
      <p:cxnSp>
        <p:nvCxnSpPr>
          <p:cNvPr id="132" name="연결선: 꺾임 131">
            <a:extLst>
              <a:ext uri="{FF2B5EF4-FFF2-40B4-BE49-F238E27FC236}">
                <a16:creationId xmlns:a16="http://schemas.microsoft.com/office/drawing/2014/main" id="{07C2704E-45A0-9A56-B02C-CAAADDF1D310}"/>
              </a:ext>
            </a:extLst>
          </p:cNvPr>
          <p:cNvCxnSpPr/>
          <p:nvPr/>
        </p:nvCxnSpPr>
        <p:spPr>
          <a:xfrm rot="10800000" flipV="1">
            <a:off x="4323764" y="2606470"/>
            <a:ext cx="1442298" cy="659122"/>
          </a:xfrm>
          <a:prstGeom prst="bentConnector3">
            <a:avLst>
              <a:gd name="adj1" fmla="val 99756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92CB9B3D-4AD4-FE7A-2E96-363E6DE9C1A1}"/>
              </a:ext>
            </a:extLst>
          </p:cNvPr>
          <p:cNvSpPr txBox="1"/>
          <p:nvPr/>
        </p:nvSpPr>
        <p:spPr>
          <a:xfrm>
            <a:off x="6202325" y="2630049"/>
            <a:ext cx="1039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ECMiner</a:t>
            </a:r>
            <a:r>
              <a:rPr lang="en-US" altLang="ko-KR" sz="1200" dirty="0">
                <a:latin typeface="+mn-ea"/>
                <a:ea typeface="+mn-ea"/>
              </a:rPr>
              <a:t>™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4B7450-6AF0-0C71-F1E5-DD4A4A4E525A}"/>
              </a:ext>
            </a:extLst>
          </p:cNvPr>
          <p:cNvSpPr/>
          <p:nvPr/>
        </p:nvSpPr>
        <p:spPr>
          <a:xfrm>
            <a:off x="1643437" y="5889333"/>
            <a:ext cx="1129871" cy="195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원천 데이터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3CFA43-97F9-E4AD-DB4B-E288ADA6450E}"/>
              </a:ext>
            </a:extLst>
          </p:cNvPr>
          <p:cNvSpPr/>
          <p:nvPr/>
        </p:nvSpPr>
        <p:spPr>
          <a:xfrm>
            <a:off x="7421499" y="5023850"/>
            <a:ext cx="1129871" cy="374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메타데이터</a:t>
            </a:r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/Ontology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BE47E55-856D-150F-9946-F4FBDC041783}"/>
              </a:ext>
            </a:extLst>
          </p:cNvPr>
          <p:cNvGrpSpPr/>
          <p:nvPr/>
        </p:nvGrpSpPr>
        <p:grpSpPr>
          <a:xfrm>
            <a:off x="4953000" y="4687056"/>
            <a:ext cx="859488" cy="573643"/>
            <a:chOff x="5430768" y="4809446"/>
            <a:chExt cx="859488" cy="573643"/>
          </a:xfrm>
        </p:grpSpPr>
        <p:sp>
          <p:nvSpPr>
            <p:cNvPr id="38" name="순서도: 자기 디스크 37">
              <a:extLst>
                <a:ext uri="{FF2B5EF4-FFF2-40B4-BE49-F238E27FC236}">
                  <a16:creationId xmlns:a16="http://schemas.microsoft.com/office/drawing/2014/main" id="{E2642B50-20E6-9EFB-1192-D44C1FF6B634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2480E6D-FD86-EFF4-0AA4-3A28EFC3004F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메타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29BA59D5-7142-1EC9-FBDF-6356B36E1492}"/>
              </a:ext>
            </a:extLst>
          </p:cNvPr>
          <p:cNvCxnSpPr>
            <a:cxnSpLocks/>
            <a:stCxn id="14" idx="1"/>
            <a:endCxn id="81" idx="2"/>
          </p:cNvCxnSpPr>
          <p:nvPr/>
        </p:nvCxnSpPr>
        <p:spPr>
          <a:xfrm rot="16200000" flipV="1">
            <a:off x="6088605" y="4435675"/>
            <a:ext cx="488049" cy="21885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FC6C8734-F801-DD42-4AAA-1110E758EE5C}"/>
              </a:ext>
            </a:extLst>
          </p:cNvPr>
          <p:cNvGrpSpPr/>
          <p:nvPr/>
        </p:nvGrpSpPr>
        <p:grpSpPr>
          <a:xfrm>
            <a:off x="3008784" y="5749447"/>
            <a:ext cx="895588" cy="538696"/>
            <a:chOff x="2467152" y="5534748"/>
            <a:chExt cx="825867" cy="538696"/>
          </a:xfrm>
        </p:grpSpPr>
        <p:sp>
          <p:nvSpPr>
            <p:cNvPr id="70" name="순서도: 자기 디스크 69">
              <a:extLst>
                <a:ext uri="{FF2B5EF4-FFF2-40B4-BE49-F238E27FC236}">
                  <a16:creationId xmlns:a16="http://schemas.microsoft.com/office/drawing/2014/main" id="{17C8B686-587D-94FD-740C-3AEBE7F0CC07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9140F18-06A3-F0BA-9B0D-206B342B715A}"/>
                </a:ext>
              </a:extLst>
            </p:cNvPr>
            <p:cNvSpPr txBox="1"/>
            <p:nvPr/>
          </p:nvSpPr>
          <p:spPr>
            <a:xfrm>
              <a:off x="2467152" y="5721576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문서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B3FA635D-60EA-BC70-726A-A930C6CE3A27}"/>
              </a:ext>
            </a:extLst>
          </p:cNvPr>
          <p:cNvGrpSpPr/>
          <p:nvPr/>
        </p:nvGrpSpPr>
        <p:grpSpPr>
          <a:xfrm>
            <a:off x="6056088" y="4687056"/>
            <a:ext cx="859488" cy="573643"/>
            <a:chOff x="5430768" y="4809446"/>
            <a:chExt cx="859488" cy="573643"/>
          </a:xfrm>
        </p:grpSpPr>
        <p:sp>
          <p:nvSpPr>
            <p:cNvPr id="78" name="순서도: 자기 디스크 77">
              <a:extLst>
                <a:ext uri="{FF2B5EF4-FFF2-40B4-BE49-F238E27FC236}">
                  <a16:creationId xmlns:a16="http://schemas.microsoft.com/office/drawing/2014/main" id="{803D0BDC-348D-08AA-B848-7C24276A8561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69DC89F-1F27-9C25-B85F-9C1FCBC028A6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분석용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F940FA2E-C42A-6594-E020-0EA56B570650}"/>
              </a:ext>
            </a:extLst>
          </p:cNvPr>
          <p:cNvCxnSpPr>
            <a:cxnSpLocks/>
            <a:stCxn id="70" idx="1"/>
            <a:endCxn id="81" idx="2"/>
          </p:cNvCxnSpPr>
          <p:nvPr/>
        </p:nvCxnSpPr>
        <p:spPr>
          <a:xfrm rot="5400000" flipH="1" flipV="1">
            <a:off x="4113328" y="4624410"/>
            <a:ext cx="463534" cy="17865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7ACB0B00-26A1-4ACD-312D-94C0C70B0E9E}"/>
              </a:ext>
            </a:extLst>
          </p:cNvPr>
          <p:cNvCxnSpPr>
            <a:cxnSpLocks/>
          </p:cNvCxnSpPr>
          <p:nvPr/>
        </p:nvCxnSpPr>
        <p:spPr>
          <a:xfrm>
            <a:off x="7223615" y="3896691"/>
            <a:ext cx="18490" cy="1585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7B0AF60F-3046-11ED-05AF-811CAA2BDC26}"/>
              </a:ext>
            </a:extLst>
          </p:cNvPr>
          <p:cNvCxnSpPr>
            <a:cxnSpLocks/>
            <a:stCxn id="16" idx="1"/>
            <a:endCxn id="40" idx="2"/>
          </p:cNvCxnSpPr>
          <p:nvPr/>
        </p:nvCxnSpPr>
        <p:spPr>
          <a:xfrm flipH="1" flipV="1">
            <a:off x="4164157" y="4117345"/>
            <a:ext cx="1471" cy="5753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CDEA0D23-E252-3074-A94B-065D99E13B4B}"/>
              </a:ext>
            </a:extLst>
          </p:cNvPr>
          <p:cNvCxnSpPr/>
          <p:nvPr/>
        </p:nvCxnSpPr>
        <p:spPr>
          <a:xfrm>
            <a:off x="6393160" y="3896691"/>
            <a:ext cx="0" cy="6850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4B413EF3-6EB7-313C-4156-D9057102194C}"/>
              </a:ext>
            </a:extLst>
          </p:cNvPr>
          <p:cNvCxnSpPr>
            <a:cxnSpLocks/>
            <a:stCxn id="16" idx="4"/>
            <a:endCxn id="38" idx="2"/>
          </p:cNvCxnSpPr>
          <p:nvPr/>
        </p:nvCxnSpPr>
        <p:spPr>
          <a:xfrm flipV="1">
            <a:off x="4536996" y="4956404"/>
            <a:ext cx="458090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4B8E8FD8-9AD6-96FB-59FF-77204269B2BF}"/>
              </a:ext>
            </a:extLst>
          </p:cNvPr>
          <p:cNvCxnSpPr>
            <a:stCxn id="38" idx="4"/>
          </p:cNvCxnSpPr>
          <p:nvPr/>
        </p:nvCxnSpPr>
        <p:spPr>
          <a:xfrm>
            <a:off x="5737823" y="4956404"/>
            <a:ext cx="353476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6A77D405-BEE0-7311-3E55-9C3B71AA1F3D}"/>
              </a:ext>
            </a:extLst>
          </p:cNvPr>
          <p:cNvSpPr/>
          <p:nvPr/>
        </p:nvSpPr>
        <p:spPr>
          <a:xfrm>
            <a:off x="7430722" y="4746039"/>
            <a:ext cx="1194686" cy="2159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데이터 </a:t>
            </a:r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Agent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52202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74EA-8DD0-5105-7168-77FAC698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D6C050AE-830B-CC22-FF36-AF9AF5D63B6B}"/>
              </a:ext>
            </a:extLst>
          </p:cNvPr>
          <p:cNvSpPr/>
          <p:nvPr/>
        </p:nvSpPr>
        <p:spPr>
          <a:xfrm>
            <a:off x="2425854" y="1975957"/>
            <a:ext cx="5256584" cy="328118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8FD3087A-E487-98C0-207E-60513565BC40}"/>
              </a:ext>
            </a:extLst>
          </p:cNvPr>
          <p:cNvSpPr/>
          <p:nvPr/>
        </p:nvSpPr>
        <p:spPr>
          <a:xfrm>
            <a:off x="2837952" y="2479008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D10B5F7-9B36-2A75-4F82-EF3B2632F5CA}"/>
              </a:ext>
            </a:extLst>
          </p:cNvPr>
          <p:cNvSpPr/>
          <p:nvPr/>
        </p:nvSpPr>
        <p:spPr>
          <a:xfrm>
            <a:off x="5409275" y="2465883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B600646-3868-010E-801B-1F6EA86DDF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AIDA(Artificial Intelligence Data Analyzer)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8D4A9D-46EB-E8BD-C872-CAC644DAD8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</a:t>
            </a:r>
            <a:r>
              <a:rPr lang="ko-KR" altLang="en-US" dirty="0"/>
              <a:t>는 사용자 질의에 대해</a:t>
            </a:r>
            <a:r>
              <a:rPr lang="ko-KR" altLang="en-US" i="1" dirty="0"/>
              <a:t> </a:t>
            </a:r>
            <a:r>
              <a:rPr lang="en-US" altLang="ko-KR" i="1" dirty="0"/>
              <a:t>1</a:t>
            </a:r>
            <a:r>
              <a:rPr lang="en-US" altLang="ko-KR" i="1" dirty="0">
                <a:solidFill>
                  <a:srgbClr val="0000FF"/>
                </a:solidFill>
              </a:rPr>
              <a:t>) </a:t>
            </a:r>
            <a:r>
              <a:rPr lang="en-US" altLang="ko-KR" i="1" dirty="0" err="1">
                <a:solidFill>
                  <a:srgbClr val="0000FF"/>
                </a:solidFill>
              </a:rPr>
              <a:t>sLLM</a:t>
            </a:r>
            <a:r>
              <a:rPr lang="en-US" altLang="ko-KR" i="1" dirty="0">
                <a:solidFill>
                  <a:srgbClr val="0000FF"/>
                </a:solidFill>
              </a:rPr>
              <a:t> w/RAG </a:t>
            </a:r>
            <a:r>
              <a:rPr lang="ko-KR" altLang="en-US" i="1" dirty="0">
                <a:solidFill>
                  <a:srgbClr val="0000FF"/>
                </a:solidFill>
              </a:rPr>
              <a:t>기반한 정성적 답변과</a:t>
            </a:r>
            <a:r>
              <a:rPr lang="en-US" altLang="ko-KR" i="1" dirty="0"/>
              <a:t>, 2</a:t>
            </a:r>
            <a:r>
              <a:rPr lang="en-US" altLang="ko-KR" i="1" dirty="0">
                <a:solidFill>
                  <a:srgbClr val="C00000"/>
                </a:solidFill>
              </a:rPr>
              <a:t>) </a:t>
            </a:r>
            <a:r>
              <a:rPr lang="ko-KR" altLang="en-US" i="1" dirty="0">
                <a:solidFill>
                  <a:srgbClr val="C00000"/>
                </a:solidFill>
              </a:rPr>
              <a:t>자동분석시스템에 의한 운전데이터 분석 결과를 토대로 한 정량적 답변</a:t>
            </a:r>
            <a:r>
              <a:rPr lang="ko-KR" altLang="en-US" dirty="0"/>
              <a:t>을 제공하여 사용자 의사결정에 필요한 정보를 제공합니다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E0D9ABE-1048-8696-6D67-C3A7F985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 </a:t>
            </a:r>
            <a:r>
              <a:rPr lang="ko-KR" altLang="en-US" dirty="0"/>
              <a:t>소개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762188-A9FF-5F63-4E38-27697B0BF4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 descr="만화 영화, 소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7DCF0F-6B90-D891-1B35-25067A9E8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43" y="2974454"/>
            <a:ext cx="877429" cy="1008109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2240790-7D1C-01EF-E156-A90F37CD981E}"/>
              </a:ext>
            </a:extLst>
          </p:cNvPr>
          <p:cNvSpPr/>
          <p:nvPr/>
        </p:nvSpPr>
        <p:spPr>
          <a:xfrm>
            <a:off x="3349570" y="2851643"/>
            <a:ext cx="855694" cy="6480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24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맑은 고딕"/>
                <a:ea typeface="맑은 고딕"/>
              </a:rPr>
              <a:t>AI</a:t>
            </a:r>
            <a:endParaRPr lang="ko-KR" altLang="en-US" sz="24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맑은 고딕"/>
              <a:ea typeface="맑은 고딕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022422BD-E39A-85AD-9F3B-5893015E12A4}"/>
              </a:ext>
            </a:extLst>
          </p:cNvPr>
          <p:cNvGrpSpPr/>
          <p:nvPr/>
        </p:nvGrpSpPr>
        <p:grpSpPr>
          <a:xfrm>
            <a:off x="1439295" y="2973501"/>
            <a:ext cx="1910275" cy="296721"/>
            <a:chOff x="1568281" y="2844247"/>
            <a:chExt cx="1599323" cy="296721"/>
          </a:xfrm>
        </p:grpSpPr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2C221AA3-2046-3873-EFEF-587566A60F56}"/>
                </a:ext>
              </a:extLst>
            </p:cNvPr>
            <p:cNvCxnSpPr>
              <a:cxnSpLocks/>
            </p:cNvCxnSpPr>
            <p:nvPr/>
          </p:nvCxnSpPr>
          <p:spPr>
            <a:xfrm>
              <a:off x="1568281" y="2844247"/>
              <a:ext cx="1599323" cy="9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4BB07510-8391-FC95-F098-6B55661027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8281" y="3140968"/>
              <a:ext cx="15993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그림 35" descr="도표, 디자인, 일렉트릭 블루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560E61-FE6A-F686-C690-53D65F23D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295" y="3388791"/>
            <a:ext cx="485576" cy="57725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B67C6BB-1E6D-9DE6-A938-89E158506C57}"/>
              </a:ext>
            </a:extLst>
          </p:cNvPr>
          <p:cNvSpPr txBox="1"/>
          <p:nvPr/>
        </p:nvSpPr>
        <p:spPr>
          <a:xfrm>
            <a:off x="1880021" y="2710985"/>
            <a:ext cx="441146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질의</a:t>
            </a:r>
          </a:p>
        </p:txBody>
      </p:sp>
      <p:pic>
        <p:nvPicPr>
          <p:cNvPr id="40" name="그림 39" descr="원, 도표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B9F51C-A698-8F58-F6F1-950D008AF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1926" y="3927076"/>
            <a:ext cx="946709" cy="8345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4EC7B90-0310-8941-D99A-EC9026E4AB73}"/>
              </a:ext>
            </a:extLst>
          </p:cNvPr>
          <p:cNvCxnSpPr>
            <a:cxnSpLocks/>
            <a:stCxn id="30" idx="2"/>
            <a:endCxn id="40" idx="0"/>
          </p:cNvCxnSpPr>
          <p:nvPr/>
        </p:nvCxnSpPr>
        <p:spPr>
          <a:xfrm>
            <a:off x="3777417" y="3499715"/>
            <a:ext cx="7864" cy="4273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그림 44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AFF123-6AF9-E5E7-6744-5E51B6CED7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163"/>
          <a:stretch>
            <a:fillRect/>
          </a:stretch>
        </p:blipFill>
        <p:spPr>
          <a:xfrm>
            <a:off x="5602462" y="3283690"/>
            <a:ext cx="1440160" cy="781584"/>
          </a:xfrm>
          <a:prstGeom prst="rect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</p:pic>
      <p:grpSp>
        <p:nvGrpSpPr>
          <p:cNvPr id="63" name="그룹 62">
            <a:extLst>
              <a:ext uri="{FF2B5EF4-FFF2-40B4-BE49-F238E27FC236}">
                <a16:creationId xmlns:a16="http://schemas.microsoft.com/office/drawing/2014/main" id="{461E4751-7365-5772-372D-B045F5E68B09}"/>
              </a:ext>
            </a:extLst>
          </p:cNvPr>
          <p:cNvGrpSpPr/>
          <p:nvPr/>
        </p:nvGrpSpPr>
        <p:grpSpPr>
          <a:xfrm>
            <a:off x="2477310" y="5501972"/>
            <a:ext cx="4742235" cy="558704"/>
            <a:chOff x="2737057" y="5294733"/>
            <a:chExt cx="4742235" cy="558704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8238EEE9-4957-33B9-F0D2-0B5A9CE61194}"/>
                </a:ext>
              </a:extLst>
            </p:cNvPr>
            <p:cNvGrpSpPr/>
            <p:nvPr/>
          </p:nvGrpSpPr>
          <p:grpSpPr>
            <a:xfrm>
              <a:off x="2786747" y="5294733"/>
              <a:ext cx="4692545" cy="558704"/>
              <a:chOff x="1534511" y="4995581"/>
              <a:chExt cx="6824099" cy="735282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2EFD9A97-BE9E-8DD3-DB42-C9C1954AB500}"/>
                  </a:ext>
                </a:extLst>
              </p:cNvPr>
              <p:cNvGrpSpPr/>
              <p:nvPr/>
            </p:nvGrpSpPr>
            <p:grpSpPr>
              <a:xfrm>
                <a:off x="1534511" y="4995581"/>
                <a:ext cx="6824099" cy="735282"/>
                <a:chOff x="651057" y="4850825"/>
                <a:chExt cx="6824099" cy="735282"/>
              </a:xfrm>
            </p:grpSpPr>
            <p:sp>
              <p:nvSpPr>
                <p:cNvPr id="8" name="순서도: 자기 디스크 7">
                  <a:extLst>
                    <a:ext uri="{FF2B5EF4-FFF2-40B4-BE49-F238E27FC236}">
                      <a16:creationId xmlns:a16="http://schemas.microsoft.com/office/drawing/2014/main" id="{D90014F5-798A-7CD5-258E-7CC79F40C17B}"/>
                    </a:ext>
                  </a:extLst>
                </p:cNvPr>
                <p:cNvSpPr/>
                <p:nvPr/>
              </p:nvSpPr>
              <p:spPr>
                <a:xfrm>
                  <a:off x="2072680" y="4869160"/>
                  <a:ext cx="1080120" cy="708950"/>
                </a:xfrm>
                <a:prstGeom prst="flowChartMagneticDisk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</a:ln>
                <a:effectLst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1896"/>
                  <a:endParaRPr lang="ko-KR" altLang="en-US" dirty="0">
                    <a:solidFill>
                      <a:prstClr val="white"/>
                    </a:solidFill>
                    <a:latin typeface="맑은 고딕"/>
                    <a:ea typeface="맑은 고딕"/>
                  </a:endParaRPr>
                </a:p>
              </p:txBody>
            </p:sp>
            <p:sp>
              <p:nvSpPr>
                <p:cNvPr id="14" name="순서도: 자기 디스크 13">
                  <a:extLst>
                    <a:ext uri="{FF2B5EF4-FFF2-40B4-BE49-F238E27FC236}">
                      <a16:creationId xmlns:a16="http://schemas.microsoft.com/office/drawing/2014/main" id="{22DBEC54-FEAB-7920-F189-160E0D8FBC51}"/>
                    </a:ext>
                  </a:extLst>
                </p:cNvPr>
                <p:cNvSpPr/>
                <p:nvPr/>
              </p:nvSpPr>
              <p:spPr>
                <a:xfrm>
                  <a:off x="3864480" y="4877157"/>
                  <a:ext cx="1080120" cy="708950"/>
                </a:xfrm>
                <a:prstGeom prst="flowChartMagneticDisk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</a:ln>
                <a:effectLst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1896"/>
                  <a:endParaRPr lang="ko-KR" altLang="en-US" dirty="0">
                    <a:solidFill>
                      <a:prstClr val="white"/>
                    </a:solidFill>
                    <a:latin typeface="맑은 고딕"/>
                    <a:ea typeface="맑은 고딕"/>
                  </a:endParaRPr>
                </a:p>
              </p:txBody>
            </p:sp>
            <p:sp>
              <p:nvSpPr>
                <p:cNvPr id="15" name="순서도: 자기 디스크 14">
                  <a:extLst>
                    <a:ext uri="{FF2B5EF4-FFF2-40B4-BE49-F238E27FC236}">
                      <a16:creationId xmlns:a16="http://schemas.microsoft.com/office/drawing/2014/main" id="{E2AC9C8F-CC8E-D83F-C635-604C87ABD876}"/>
                    </a:ext>
                  </a:extLst>
                </p:cNvPr>
                <p:cNvSpPr/>
                <p:nvPr/>
              </p:nvSpPr>
              <p:spPr>
                <a:xfrm>
                  <a:off x="651057" y="4869160"/>
                  <a:ext cx="1080120" cy="708950"/>
                </a:xfrm>
                <a:prstGeom prst="flowChartMagneticDisk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</a:ln>
                <a:effectLst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1896"/>
                  <a:endParaRPr lang="ko-KR" altLang="en-US" dirty="0">
                    <a:solidFill>
                      <a:prstClr val="white"/>
                    </a:solidFill>
                    <a:latin typeface="맑은 고딕"/>
                    <a:ea typeface="맑은 고딕"/>
                  </a:endParaRPr>
                </a:p>
              </p:txBody>
            </p:sp>
            <p:sp>
              <p:nvSpPr>
                <p:cNvPr id="16" name="순서도: 자기 디스크 15">
                  <a:extLst>
                    <a:ext uri="{FF2B5EF4-FFF2-40B4-BE49-F238E27FC236}">
                      <a16:creationId xmlns:a16="http://schemas.microsoft.com/office/drawing/2014/main" id="{F2D61A3C-5654-6750-6AAE-EBD38FFC8744}"/>
                    </a:ext>
                  </a:extLst>
                </p:cNvPr>
                <p:cNvSpPr/>
                <p:nvPr/>
              </p:nvSpPr>
              <p:spPr>
                <a:xfrm>
                  <a:off x="6395036" y="4850825"/>
                  <a:ext cx="1080120" cy="708950"/>
                </a:xfrm>
                <a:prstGeom prst="flowChartMagneticDisk">
                  <a:avLst/>
                </a:prstGeom>
                <a:noFill/>
                <a:ln w="12700">
                  <a:solidFill>
                    <a:schemeClr val="tx2">
                      <a:lumMod val="60000"/>
                      <a:lumOff val="40000"/>
                    </a:schemeClr>
                  </a:solidFill>
                </a:ln>
                <a:effectLst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1896"/>
                  <a:endParaRPr lang="ko-KR" altLang="en-US" dirty="0">
                    <a:solidFill>
                      <a:prstClr val="white"/>
                    </a:solidFill>
                    <a:latin typeface="맑은 고딕"/>
                    <a:ea typeface="맑은 고딕"/>
                  </a:endParaRPr>
                </a:p>
              </p:txBody>
            </p:sp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78BE27F7-5732-5CF0-94F8-744095C64214}"/>
                    </a:ext>
                  </a:extLst>
                </p:cNvPr>
                <p:cNvSpPr/>
                <p:nvPr/>
              </p:nvSpPr>
              <p:spPr>
                <a:xfrm>
                  <a:off x="3656856" y="5183481"/>
                  <a:ext cx="45719" cy="45719"/>
                </a:xfrm>
                <a:prstGeom prst="ellipse">
                  <a:avLst/>
                </a:prstGeom>
                <a:solidFill>
                  <a:srgbClr val="1AA0CA"/>
                </a:solidFill>
                <a:ln>
                  <a:noFill/>
                </a:ln>
                <a:effectLst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1896"/>
                  <a:endParaRPr lang="ko-KR" altLang="en-US" dirty="0">
                    <a:solidFill>
                      <a:prstClr val="white"/>
                    </a:solidFill>
                    <a:latin typeface="맑은 고딕"/>
                    <a:ea typeface="맑은 고딕"/>
                  </a:endParaRPr>
                </a:p>
              </p:txBody>
            </p:sp>
            <p:sp>
              <p:nvSpPr>
                <p:cNvPr id="18" name="타원 17">
                  <a:extLst>
                    <a:ext uri="{FF2B5EF4-FFF2-40B4-BE49-F238E27FC236}">
                      <a16:creationId xmlns:a16="http://schemas.microsoft.com/office/drawing/2014/main" id="{3666CE4A-BD31-1077-1BEC-D14206FF2E0D}"/>
                    </a:ext>
                  </a:extLst>
                </p:cNvPr>
                <p:cNvSpPr/>
                <p:nvPr/>
              </p:nvSpPr>
              <p:spPr>
                <a:xfrm>
                  <a:off x="3512840" y="5176509"/>
                  <a:ext cx="45719" cy="45719"/>
                </a:xfrm>
                <a:prstGeom prst="ellipse">
                  <a:avLst/>
                </a:prstGeom>
                <a:solidFill>
                  <a:srgbClr val="1AA0CA"/>
                </a:solidFill>
                <a:ln>
                  <a:noFill/>
                </a:ln>
                <a:effectLst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1896"/>
                  <a:endParaRPr lang="ko-KR" altLang="en-US" dirty="0">
                    <a:solidFill>
                      <a:prstClr val="white"/>
                    </a:solidFill>
                    <a:latin typeface="맑은 고딕"/>
                    <a:ea typeface="맑은 고딕"/>
                  </a:endParaRPr>
                </a:p>
              </p:txBody>
            </p: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11CF73B9-7352-6FC0-4A68-2ABCBD772753}"/>
                    </a:ext>
                  </a:extLst>
                </p:cNvPr>
                <p:cNvSpPr/>
                <p:nvPr/>
              </p:nvSpPr>
              <p:spPr>
                <a:xfrm>
                  <a:off x="3375796" y="5182948"/>
                  <a:ext cx="45719" cy="45719"/>
                </a:xfrm>
                <a:prstGeom prst="ellipse">
                  <a:avLst/>
                </a:prstGeom>
                <a:solidFill>
                  <a:srgbClr val="1AA0CA"/>
                </a:solidFill>
                <a:ln>
                  <a:noFill/>
                </a:ln>
                <a:effectLst/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1896"/>
                  <a:endParaRPr lang="ko-KR" altLang="en-US" dirty="0">
                    <a:solidFill>
                      <a:prstClr val="white"/>
                    </a:solidFill>
                    <a:latin typeface="맑은 고딕"/>
                    <a:ea typeface="맑은 고딕"/>
                  </a:endParaRPr>
                </a:p>
              </p:txBody>
            </p:sp>
          </p:grpSp>
          <p:cxnSp>
            <p:nvCxnSpPr>
              <p:cNvPr id="22" name="직선 화살표 연결선 21">
                <a:extLst>
                  <a:ext uri="{FF2B5EF4-FFF2-40B4-BE49-F238E27FC236}">
                    <a16:creationId xmlns:a16="http://schemas.microsoft.com/office/drawing/2014/main" id="{DB8E5A55-D0BB-2009-D116-7B404FF5F0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5128" y="5344124"/>
                <a:ext cx="979265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047B714-6D02-B97B-5C41-EF7D8CBA46EE}"/>
                </a:ext>
              </a:extLst>
            </p:cNvPr>
            <p:cNvSpPr txBox="1"/>
            <p:nvPr/>
          </p:nvSpPr>
          <p:spPr>
            <a:xfrm>
              <a:off x="2737057" y="5536369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운전데이터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3BF1A13-CF05-90E2-1194-AFDF281349B4}"/>
                </a:ext>
              </a:extLst>
            </p:cNvPr>
            <p:cNvSpPr txBox="1"/>
            <p:nvPr/>
          </p:nvSpPr>
          <p:spPr>
            <a:xfrm>
              <a:off x="3908049" y="5535968"/>
              <a:ext cx="441146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품질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021A510-8F35-1E5A-F743-323EAAAF2E7A}"/>
                </a:ext>
              </a:extLst>
            </p:cNvPr>
            <p:cNvSpPr txBox="1"/>
            <p:nvPr/>
          </p:nvSpPr>
          <p:spPr>
            <a:xfrm>
              <a:off x="4977414" y="5538705"/>
              <a:ext cx="742511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이력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F0336FE-3380-BA09-396A-6166EAD4BBFA}"/>
                </a:ext>
              </a:extLst>
            </p:cNvPr>
            <p:cNvSpPr txBox="1"/>
            <p:nvPr/>
          </p:nvSpPr>
          <p:spPr>
            <a:xfrm>
              <a:off x="6758999" y="5453327"/>
              <a:ext cx="69762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도메인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온톨로지</a:t>
              </a:r>
            </a:p>
          </p:txBody>
        </p:sp>
      </p:grp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0D82CF29-A59D-E0B4-1EEA-E98F47E2FD30}"/>
              </a:ext>
            </a:extLst>
          </p:cNvPr>
          <p:cNvSpPr/>
          <p:nvPr/>
        </p:nvSpPr>
        <p:spPr>
          <a:xfrm>
            <a:off x="5602464" y="2707080"/>
            <a:ext cx="1440159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F0AE404-308C-400B-4587-7D70BEF13A4A}"/>
              </a:ext>
            </a:extLst>
          </p:cNvPr>
          <p:cNvSpPr/>
          <p:nvPr/>
        </p:nvSpPr>
        <p:spPr>
          <a:xfrm>
            <a:off x="5602464" y="4340725"/>
            <a:ext cx="1440158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40EF50-7C9F-63BD-371F-45E41387C35A}"/>
              </a:ext>
            </a:extLst>
          </p:cNvPr>
          <p:cNvSpPr txBox="1"/>
          <p:nvPr/>
        </p:nvSpPr>
        <p:spPr>
          <a:xfrm>
            <a:off x="5712423" y="2727088"/>
            <a:ext cx="122180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자동분석 </a:t>
            </a:r>
            <a:r>
              <a:rPr lang="ko-KR" altLang="en-US" sz="1100" b="0" dirty="0" err="1">
                <a:latin typeface="+mn-ea"/>
                <a:ea typeface="+mn-ea"/>
              </a:rPr>
              <a:t>생성기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7181E76A-7F2E-6D1D-242C-C785F2364E74}"/>
              </a:ext>
            </a:extLst>
          </p:cNvPr>
          <p:cNvCxnSpPr>
            <a:cxnSpLocks/>
            <a:stCxn id="52" idx="2"/>
            <a:endCxn id="45" idx="0"/>
          </p:cNvCxnSpPr>
          <p:nvPr/>
        </p:nvCxnSpPr>
        <p:spPr>
          <a:xfrm flipH="1">
            <a:off x="6322542" y="2988424"/>
            <a:ext cx="2" cy="295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F028D31-EB14-0C9E-FCD4-5A8120013823}"/>
              </a:ext>
            </a:extLst>
          </p:cNvPr>
          <p:cNvCxnSpPr>
            <a:cxnSpLocks/>
            <a:stCxn id="45" idx="2"/>
            <a:endCxn id="53" idx="0"/>
          </p:cNvCxnSpPr>
          <p:nvPr/>
        </p:nvCxnSpPr>
        <p:spPr>
          <a:xfrm>
            <a:off x="6322542" y="4065274"/>
            <a:ext cx="1" cy="275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65E57D4-031B-5686-F659-67986237EFBF}"/>
              </a:ext>
            </a:extLst>
          </p:cNvPr>
          <p:cNvSpPr txBox="1"/>
          <p:nvPr/>
        </p:nvSpPr>
        <p:spPr>
          <a:xfrm>
            <a:off x="5590870" y="4360459"/>
            <a:ext cx="1467069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분석 데이터 </a:t>
            </a:r>
            <a:r>
              <a:rPr lang="en-US" altLang="ko-KR" sz="1100" b="0" dirty="0">
                <a:latin typeface="+mn-ea"/>
                <a:ea typeface="+mn-ea"/>
              </a:rPr>
              <a:t>Crawler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BE5825C2-205C-4C69-5B16-60AA222F27C7}"/>
              </a:ext>
            </a:extLst>
          </p:cNvPr>
          <p:cNvCxnSpPr>
            <a:cxnSpLocks/>
            <a:stCxn id="15" idx="1"/>
            <a:endCxn id="53" idx="2"/>
          </p:cNvCxnSpPr>
          <p:nvPr/>
        </p:nvCxnSpPr>
        <p:spPr>
          <a:xfrm rot="5400000" flipH="1" flipV="1">
            <a:off x="4163539" y="3356900"/>
            <a:ext cx="893835" cy="3424174"/>
          </a:xfrm>
          <a:prstGeom prst="bentConnector3">
            <a:avLst>
              <a:gd name="adj1" fmla="val 467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47E92154-8265-9222-3E35-BB4E4B475B1C}"/>
              </a:ext>
            </a:extLst>
          </p:cNvPr>
          <p:cNvCxnSpPr>
            <a:cxnSpLocks/>
            <a:stCxn id="8" idx="1"/>
          </p:cNvCxnSpPr>
          <p:nvPr/>
        </p:nvCxnSpPr>
        <p:spPr>
          <a:xfrm rot="5400000" flipH="1" flipV="1">
            <a:off x="4888775" y="4089465"/>
            <a:ext cx="413602" cy="24392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7F34ABD3-181D-1218-1FE1-4F19C5BA9CA5}"/>
              </a:ext>
            </a:extLst>
          </p:cNvPr>
          <p:cNvCxnSpPr>
            <a:cxnSpLocks/>
            <a:stCxn id="14" idx="1"/>
            <a:endCxn id="53" idx="2"/>
          </p:cNvCxnSpPr>
          <p:nvPr/>
        </p:nvCxnSpPr>
        <p:spPr>
          <a:xfrm rot="5400000" flipH="1" flipV="1">
            <a:off x="5265345" y="4464782"/>
            <a:ext cx="899911" cy="1214486"/>
          </a:xfrm>
          <a:prstGeom prst="bentConnector3">
            <a:avLst>
              <a:gd name="adj1" fmla="val 470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D0D61A2F-EAAD-A7D7-5017-FF054DD237B2}"/>
              </a:ext>
            </a:extLst>
          </p:cNvPr>
          <p:cNvCxnSpPr>
            <a:cxnSpLocks/>
          </p:cNvCxnSpPr>
          <p:nvPr/>
        </p:nvCxnSpPr>
        <p:spPr>
          <a:xfrm rot="10800000">
            <a:off x="6325349" y="5104677"/>
            <a:ext cx="514304" cy="440313"/>
          </a:xfrm>
          <a:prstGeom prst="bentConnector3">
            <a:avLst>
              <a:gd name="adj1" fmla="val 115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EC91C0FB-58B1-980C-A53E-B02C7F13A61B}"/>
              </a:ext>
            </a:extLst>
          </p:cNvPr>
          <p:cNvCxnSpPr>
            <a:cxnSpLocks/>
          </p:cNvCxnSpPr>
          <p:nvPr/>
        </p:nvCxnSpPr>
        <p:spPr>
          <a:xfrm>
            <a:off x="4205264" y="2928893"/>
            <a:ext cx="1181922" cy="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그림 104" descr="스크린샷, 도표, 라인이(가) 표시된 사진">
            <a:extLst>
              <a:ext uri="{FF2B5EF4-FFF2-40B4-BE49-F238E27FC236}">
                <a16:creationId xmlns:a16="http://schemas.microsoft.com/office/drawing/2014/main" id="{60BA426C-5A00-10FE-AE79-A637560361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8164" y="4214885"/>
            <a:ext cx="647928" cy="4300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1" name="그림 11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FFFDDE-F215-C151-73D4-285E677ED5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515" y="3333403"/>
            <a:ext cx="601588" cy="40011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D669E231-8653-AC16-2D80-5C98DA6C37B4}"/>
              </a:ext>
            </a:extLst>
          </p:cNvPr>
          <p:cNvSpPr txBox="1"/>
          <p:nvPr/>
        </p:nvSpPr>
        <p:spPr>
          <a:xfrm>
            <a:off x="1469102" y="3916580"/>
            <a:ext cx="56938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답변서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3174F47-8063-34BD-AE88-FAD3A72228BD}"/>
              </a:ext>
            </a:extLst>
          </p:cNvPr>
          <p:cNvSpPr txBox="1"/>
          <p:nvPr/>
        </p:nvSpPr>
        <p:spPr>
          <a:xfrm>
            <a:off x="1418450" y="4682102"/>
            <a:ext cx="69762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분석파일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3BB89FA-C07E-1FD7-8B28-85F43FFEBE7F}"/>
              </a:ext>
            </a:extLst>
          </p:cNvPr>
          <p:cNvSpPr txBox="1"/>
          <p:nvPr/>
        </p:nvSpPr>
        <p:spPr>
          <a:xfrm>
            <a:off x="4738837" y="3753514"/>
            <a:ext cx="631904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자동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분석</a:t>
            </a:r>
            <a:endParaRPr lang="en-US" altLang="ko-KR" sz="800" dirty="0">
              <a:latin typeface="+mn-ea"/>
              <a:ea typeface="+mn-ea"/>
            </a:endParaRPr>
          </a:p>
          <a:p>
            <a:pPr algn="ctr"/>
            <a:r>
              <a:rPr lang="ko-KR" altLang="en-US" sz="800" dirty="0">
                <a:latin typeface="+mn-ea"/>
                <a:ea typeface="+mn-ea"/>
              </a:rPr>
              <a:t>보고서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A33CC4CC-3A84-7FC1-27B8-6B9D24A7347E}"/>
              </a:ext>
            </a:extLst>
          </p:cNvPr>
          <p:cNvSpPr/>
          <p:nvPr/>
        </p:nvSpPr>
        <p:spPr>
          <a:xfrm>
            <a:off x="3167830" y="2334118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 err="1">
                <a:solidFill>
                  <a:schemeClr val="tx1"/>
                </a:solidFill>
                <a:latin typeface="맑은 고딕"/>
                <a:ea typeface="맑은 고딕"/>
              </a:rPr>
              <a:t>sLLM</a:t>
            </a:r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 w/RAG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6CE40E4F-B96F-33FC-A041-927E9E9ED6E0}"/>
              </a:ext>
            </a:extLst>
          </p:cNvPr>
          <p:cNvSpPr/>
          <p:nvPr/>
        </p:nvSpPr>
        <p:spPr>
          <a:xfrm>
            <a:off x="5675745" y="2307314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자동분석시스템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B587A34C-3C77-1ACC-B758-0CDF0168907D}"/>
              </a:ext>
            </a:extLst>
          </p:cNvPr>
          <p:cNvSpPr/>
          <p:nvPr/>
        </p:nvSpPr>
        <p:spPr>
          <a:xfrm>
            <a:off x="3839733" y="1819054"/>
            <a:ext cx="2479767" cy="28615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 err="1">
                <a:solidFill>
                  <a:schemeClr val="tx1"/>
                </a:solidFill>
                <a:ea typeface="맑은 고딕"/>
              </a:rPr>
              <a:t>ECMinerAI</a:t>
            </a:r>
            <a:r>
              <a:rPr lang="en-US" altLang="ko-KR" dirty="0">
                <a:solidFill>
                  <a:schemeClr val="tx1"/>
                </a:solidFill>
                <a:ea typeface="맑은 고딕"/>
              </a:rPr>
              <a:t>™ AIDA</a:t>
            </a:r>
            <a:endParaRPr lang="ko-KR" altLang="en-US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132" name="연결선: 꺾임 131">
            <a:extLst>
              <a:ext uri="{FF2B5EF4-FFF2-40B4-BE49-F238E27FC236}">
                <a16:creationId xmlns:a16="http://schemas.microsoft.com/office/drawing/2014/main" id="{A93A9921-EC5E-9BF6-5EF2-541C50BF69E5}"/>
              </a:ext>
            </a:extLst>
          </p:cNvPr>
          <p:cNvCxnSpPr/>
          <p:nvPr/>
        </p:nvCxnSpPr>
        <p:spPr>
          <a:xfrm rot="10800000" flipV="1">
            <a:off x="3944888" y="3212976"/>
            <a:ext cx="1442298" cy="659122"/>
          </a:xfrm>
          <a:prstGeom prst="bentConnector3">
            <a:avLst>
              <a:gd name="adj1" fmla="val 99756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3A45F5AD-CB08-BDD3-156B-51C08C2F5179}"/>
              </a:ext>
            </a:extLst>
          </p:cNvPr>
          <p:cNvSpPr txBox="1"/>
          <p:nvPr/>
        </p:nvSpPr>
        <p:spPr>
          <a:xfrm>
            <a:off x="5823449" y="3236555"/>
            <a:ext cx="1039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ECMiner</a:t>
            </a:r>
            <a:r>
              <a:rPr lang="en-US" altLang="ko-KR" sz="1200" dirty="0">
                <a:latin typeface="+mn-ea"/>
                <a:ea typeface="+mn-ea"/>
              </a:rPr>
              <a:t>™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4C4BF4-D0EF-129C-1017-97643DF223ED}"/>
              </a:ext>
            </a:extLst>
          </p:cNvPr>
          <p:cNvSpPr/>
          <p:nvPr/>
        </p:nvSpPr>
        <p:spPr>
          <a:xfrm>
            <a:off x="2425854" y="5419467"/>
            <a:ext cx="3218496" cy="769999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BCC7AF-4AEC-FA1E-FA0E-89F70BE40640}"/>
              </a:ext>
            </a:extLst>
          </p:cNvPr>
          <p:cNvSpPr/>
          <p:nvPr/>
        </p:nvSpPr>
        <p:spPr>
          <a:xfrm>
            <a:off x="6348148" y="5419468"/>
            <a:ext cx="1340965" cy="720080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455BAC-3036-9B7A-2BDF-6E06FC313947}"/>
              </a:ext>
            </a:extLst>
          </p:cNvPr>
          <p:cNvSpPr txBox="1"/>
          <p:nvPr/>
        </p:nvSpPr>
        <p:spPr>
          <a:xfrm>
            <a:off x="5549937" y="5802129"/>
            <a:ext cx="926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1896"/>
            <a:r>
              <a:rPr lang="en-US" altLang="ko-KR" sz="1200" dirty="0">
                <a:solidFill>
                  <a:srgbClr val="FF3300"/>
                </a:solidFill>
                <a:latin typeface="맑은 고딕"/>
                <a:ea typeface="맑은 고딕"/>
              </a:rPr>
              <a:t>Ontology </a:t>
            </a:r>
          </a:p>
          <a:p>
            <a:pPr algn="ctr" defTabSz="911896"/>
            <a:r>
              <a:rPr lang="ko-KR" altLang="en-US" sz="1200" dirty="0">
                <a:solidFill>
                  <a:srgbClr val="FF3300"/>
                </a:solidFill>
                <a:latin typeface="맑은 고딕"/>
                <a:ea typeface="맑은 고딕"/>
              </a:rPr>
              <a:t>자동생성</a:t>
            </a:r>
            <a:endParaRPr lang="ko-KR" altLang="en-US" sz="1200" dirty="0">
              <a:solidFill>
                <a:srgbClr val="FF33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51267A-DB92-D3CF-E1BE-9C4465F6CEF4}"/>
              </a:ext>
            </a:extLst>
          </p:cNvPr>
          <p:cNvSpPr/>
          <p:nvPr/>
        </p:nvSpPr>
        <p:spPr>
          <a:xfrm>
            <a:off x="3527432" y="6075697"/>
            <a:ext cx="1129871" cy="195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원천 데이터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DFF23A-96CA-CCA0-781A-327A7BF965CF}"/>
              </a:ext>
            </a:extLst>
          </p:cNvPr>
          <p:cNvSpPr/>
          <p:nvPr/>
        </p:nvSpPr>
        <p:spPr>
          <a:xfrm>
            <a:off x="7480146" y="5638070"/>
            <a:ext cx="1129871" cy="195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Ontology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9" name="칠각형 8">
            <a:extLst>
              <a:ext uri="{FF2B5EF4-FFF2-40B4-BE49-F238E27FC236}">
                <a16:creationId xmlns:a16="http://schemas.microsoft.com/office/drawing/2014/main" id="{9D951C04-09C5-454C-F677-BF67AB06FF29}"/>
              </a:ext>
            </a:extLst>
          </p:cNvPr>
          <p:cNvSpPr/>
          <p:nvPr/>
        </p:nvSpPr>
        <p:spPr bwMode="auto">
          <a:xfrm>
            <a:off x="3209562" y="3314067"/>
            <a:ext cx="402345" cy="361333"/>
          </a:xfrm>
          <a:prstGeom prst="hep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칠각형 9">
            <a:extLst>
              <a:ext uri="{FF2B5EF4-FFF2-40B4-BE49-F238E27FC236}">
                <a16:creationId xmlns:a16="http://schemas.microsoft.com/office/drawing/2014/main" id="{9D673161-6B69-A3E8-C87B-D3A98281AE16}"/>
              </a:ext>
            </a:extLst>
          </p:cNvPr>
          <p:cNvSpPr/>
          <p:nvPr/>
        </p:nvSpPr>
        <p:spPr bwMode="auto">
          <a:xfrm>
            <a:off x="4340971" y="3037954"/>
            <a:ext cx="402345" cy="361333"/>
          </a:xfrm>
          <a:prstGeom prst="heptagon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7677F0-BA71-4125-35B0-13B88D4376CE}"/>
              </a:ext>
            </a:extLst>
          </p:cNvPr>
          <p:cNvSpPr txBox="1"/>
          <p:nvPr/>
        </p:nvSpPr>
        <p:spPr>
          <a:xfrm>
            <a:off x="1428096" y="2782515"/>
            <a:ext cx="364202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ko-KR" altLang="en-US" dirty="0">
                <a:latin typeface="+mn-ea"/>
                <a:ea typeface="+mn-ea"/>
              </a:rPr>
              <a:t>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A7C53C-EC3C-C372-E0ED-C016AA84DA0A}"/>
              </a:ext>
            </a:extLst>
          </p:cNvPr>
          <p:cNvSpPr txBox="1"/>
          <p:nvPr/>
        </p:nvSpPr>
        <p:spPr>
          <a:xfrm>
            <a:off x="7023699" y="2323307"/>
            <a:ext cx="543739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ko-KR" altLang="en-US" dirty="0">
                <a:latin typeface="+mn-ea"/>
                <a:ea typeface="+mn-ea"/>
              </a:rPr>
              <a:t>서버</a:t>
            </a:r>
          </a:p>
        </p:txBody>
      </p:sp>
    </p:spTree>
    <p:extLst>
      <p:ext uri="{BB962C8B-B14F-4D97-AF65-F5344CB8AC3E}">
        <p14:creationId xmlns:p14="http://schemas.microsoft.com/office/powerpoint/2010/main" val="3655065601"/>
      </p:ext>
    </p:extLst>
  </p:cSld>
  <p:clrMapOvr>
    <a:masterClrMapping/>
  </p:clrMapOvr>
</p:sld>
</file>

<file path=ppt/theme/theme1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185001</TotalTime>
  <Words>731</Words>
  <Application>Microsoft Office PowerPoint</Application>
  <PresentationFormat>A4 용지(210x297mm)</PresentationFormat>
  <Paragraphs>219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굴림</vt:lpstr>
      <vt:lpstr>맑은 고딕</vt:lpstr>
      <vt:lpstr>Arial</vt:lpstr>
      <vt:lpstr>Times New Roman</vt:lpstr>
      <vt:lpstr>Wingdings</vt:lpstr>
      <vt:lpstr>2_디자인 사용자 지정</vt:lpstr>
      <vt:lpstr>PowerPoint 프레젠테이션</vt:lpstr>
      <vt:lpstr>PowerPoint 프레젠테이션</vt:lpstr>
      <vt:lpstr>ECMinerAI™ AIDA 개요</vt:lpstr>
      <vt:lpstr>ECMinerAI™ AIDA 기능</vt:lpstr>
      <vt:lpstr>ECMinerAI™ AIDA 기능</vt:lpstr>
      <vt:lpstr>ECMinerAI™ AIDA 기능</vt:lpstr>
      <vt:lpstr>PowerPoint 프레젠테이션</vt:lpstr>
      <vt:lpstr>PowerPoint 프레젠테이션</vt:lpstr>
      <vt:lpstr>ECMinerAI™ AIDA 기능</vt:lpstr>
      <vt:lpstr>PowerPoint 프레젠테이션</vt:lpstr>
      <vt:lpstr>ECMinerAI™ AIDA 소개</vt:lpstr>
      <vt:lpstr>ECMinerAI™ AIDA 소개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Jinyoon Park</cp:lastModifiedBy>
  <cp:revision>6125</cp:revision>
  <cp:lastPrinted>2025-11-18T00:21:50Z</cp:lastPrinted>
  <dcterms:created xsi:type="dcterms:W3CDTF">2011-12-28T05:39:44Z</dcterms:created>
  <dcterms:modified xsi:type="dcterms:W3CDTF">2026-03-31T00:39:15Z</dcterms:modified>
</cp:coreProperties>
</file>