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trictFirstAndLastChars="0" saveSubsetFonts="1">
  <p:sldMasterIdLst>
    <p:sldMasterId id="2147483800" r:id="rId1"/>
  </p:sldMasterIdLst>
  <p:notesMasterIdLst>
    <p:notesMasterId r:id="rId16"/>
  </p:notesMasterIdLst>
  <p:handoutMasterIdLst>
    <p:handoutMasterId r:id="rId17"/>
  </p:handoutMasterIdLst>
  <p:sldIdLst>
    <p:sldId id="2292" r:id="rId2"/>
    <p:sldId id="6343" r:id="rId3"/>
    <p:sldId id="10266" r:id="rId4"/>
    <p:sldId id="10261" r:id="rId5"/>
    <p:sldId id="10255" r:id="rId6"/>
    <p:sldId id="10181" r:id="rId7"/>
    <p:sldId id="10185" r:id="rId8"/>
    <p:sldId id="10190" r:id="rId9"/>
    <p:sldId id="10186" r:id="rId10"/>
    <p:sldId id="9324" r:id="rId11"/>
    <p:sldId id="10274" r:id="rId12"/>
    <p:sldId id="10242" r:id="rId13"/>
    <p:sldId id="10264" r:id="rId14"/>
    <p:sldId id="10254" r:id="rId15"/>
  </p:sldIdLst>
  <p:sldSz cx="9906000" cy="6858000" type="A4"/>
  <p:notesSz cx="6797675" cy="9926638"/>
  <p:defaultTextStyle>
    <a:defPPr>
      <a:defRPr lang="en-US"/>
    </a:defPPr>
    <a:lvl1pPr algn="l" rtl="0" fontAlgn="base" latinLnBrk="1">
      <a:spcBef>
        <a:spcPct val="0"/>
      </a:spcBef>
      <a:spcAft>
        <a:spcPct val="0"/>
      </a:spcAft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1pPr>
    <a:lvl2pPr marL="457200" algn="l" rtl="0" fontAlgn="base" latinLnBrk="1">
      <a:spcBef>
        <a:spcPct val="0"/>
      </a:spcBef>
      <a:spcAft>
        <a:spcPct val="0"/>
      </a:spcAft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2pPr>
    <a:lvl3pPr marL="914400" algn="l" rtl="0" fontAlgn="base" latinLnBrk="1">
      <a:spcBef>
        <a:spcPct val="0"/>
      </a:spcBef>
      <a:spcAft>
        <a:spcPct val="0"/>
      </a:spcAft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3pPr>
    <a:lvl4pPr marL="1371600" algn="l" rtl="0" fontAlgn="base" latinLnBrk="1">
      <a:spcBef>
        <a:spcPct val="0"/>
      </a:spcBef>
      <a:spcAft>
        <a:spcPct val="0"/>
      </a:spcAft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4pPr>
    <a:lvl5pPr marL="1828800" algn="l" rtl="0" fontAlgn="base" latinLnBrk="1">
      <a:spcBef>
        <a:spcPct val="0"/>
      </a:spcBef>
      <a:spcAft>
        <a:spcPct val="0"/>
      </a:spcAft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5pPr>
    <a:lvl6pPr marL="2286000" algn="l" defTabSz="914400" rtl="0" eaLnBrk="1" latinLnBrk="1" hangingPunct="1"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6pPr>
    <a:lvl7pPr marL="2743200" algn="l" defTabSz="914400" rtl="0" eaLnBrk="1" latinLnBrk="1" hangingPunct="1"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7pPr>
    <a:lvl8pPr marL="3200400" algn="l" defTabSz="914400" rtl="0" eaLnBrk="1" latinLnBrk="1" hangingPunct="1"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8pPr>
    <a:lvl9pPr marL="3657600" algn="l" defTabSz="914400" rtl="0" eaLnBrk="1" latinLnBrk="1" hangingPunct="1"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9pPr>
  </p:defaultTextStyle>
  <p:extLst>
    <p:ext uri="{521415D9-36F7-43E2-AB2F-B90AF26B5E84}">
      <p14:sectionLst xmlns:p14="http://schemas.microsoft.com/office/powerpoint/2010/main">
        <p14:section name="표지" id="{707C9216-9C1C-4BBE-91B0-1579987F7E91}">
          <p14:sldIdLst>
            <p14:sldId id="2292"/>
          </p14:sldIdLst>
        </p14:section>
        <p14:section name="ECMiner소개" id="{B939F423-A372-4C45-AAC8-54D90EAE40BA}">
          <p14:sldIdLst>
            <p14:sldId id="6343"/>
            <p14:sldId id="10266"/>
          </p14:sldIdLst>
        </p14:section>
        <p14:section name="1. ECMiner™ AIDA 개요" id="{6B4AB23E-4349-47E4-97CB-B317E30B40C1}">
          <p14:sldIdLst>
            <p14:sldId id="10261"/>
            <p14:sldId id="10255"/>
            <p14:sldId id="10181"/>
            <p14:sldId id="10185"/>
            <p14:sldId id="10190"/>
            <p14:sldId id="10186"/>
          </p14:sldIdLst>
        </p14:section>
        <p14:section name="ECMiner주요기능" id="{61800976-F551-4895-96B8-1B7D93EF21D2}">
          <p14:sldIdLst>
            <p14:sldId id="9324"/>
            <p14:sldId id="10274"/>
          </p14:sldIdLst>
        </p14:section>
        <p14:section name="기능 시연" id="{1E0EAED4-BA2B-4A10-9DC4-0710154EB161}">
          <p14:sldIdLst/>
        </p14:section>
        <p14:section name="기대효과" id="{FC9946C5-C77A-4F11-BA7A-894312629B68}">
          <p14:sldIdLst>
            <p14:sldId id="10242"/>
            <p14:sldId id="10264"/>
            <p14:sldId id="10254"/>
          </p14:sldIdLst>
        </p14:section>
        <p14:section name="참고자료" id="{9B729AE8-63F1-41BE-9033-4CAA3412EE13}">
          <p14:sldIdLst/>
        </p14:section>
        <p14:section name="IMS연동" id="{8300A1EA-C9B5-4542-93F2-3AA62299CB7F}">
          <p14:sldIdLst/>
        </p14:section>
      </p14:sectionLst>
    </p:ext>
    <p:ext uri="{EFAFB233-063F-42B5-8137-9DF3F51BA10A}">
      <p15:sldGuideLst xmlns:p15="http://schemas.microsoft.com/office/powerpoint/2012/main">
        <p15:guide id="2" orient="horz" pos="3793" userDrawn="1">
          <p15:clr>
            <a:srgbClr val="A4A3A4"/>
          </p15:clr>
        </p15:guide>
        <p15:guide id="4" orient="horz" pos="3884" userDrawn="1">
          <p15:clr>
            <a:srgbClr val="A4A3A4"/>
          </p15:clr>
        </p15:guide>
        <p15:guide id="5" orient="horz" pos="935" userDrawn="1">
          <p15:clr>
            <a:srgbClr val="A4A3A4"/>
          </p15:clr>
        </p15:guide>
        <p15:guide id="6" orient="horz" pos="618" userDrawn="1">
          <p15:clr>
            <a:srgbClr val="A4A3A4"/>
          </p15:clr>
        </p15:guide>
        <p15:guide id="7" pos="172">
          <p15:clr>
            <a:srgbClr val="A4A3A4"/>
          </p15:clr>
        </p15:guide>
        <p15:guide id="8" pos="6068">
          <p15:clr>
            <a:srgbClr val="A4A3A4"/>
          </p15:clr>
        </p15:guide>
        <p15:guide id="9" pos="3120">
          <p15:clr>
            <a:srgbClr val="A4A3A4"/>
          </p15:clr>
        </p15:guide>
        <p15:guide id="10" pos="444" userDrawn="1">
          <p15:clr>
            <a:srgbClr val="A4A3A4"/>
          </p15:clr>
        </p15:guide>
        <p15:guide id="12" pos="338">
          <p15:clr>
            <a:srgbClr val="A4A3A4"/>
          </p15:clr>
        </p15:guide>
        <p15:guide id="13" orient="horz" pos="2251" userDrawn="1">
          <p15:clr>
            <a:srgbClr val="A4A3A4"/>
          </p15:clr>
        </p15:guide>
        <p15:guide id="14" pos="126">
          <p15:clr>
            <a:srgbClr val="A4A3A4"/>
          </p15:clr>
        </p15:guide>
        <p15:guide id="15" orient="horz" pos="107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3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DEADA"/>
    <a:srgbClr val="EE541E"/>
    <a:srgbClr val="CCFFCC"/>
    <a:srgbClr val="F38F15"/>
    <a:srgbClr val="31859C"/>
    <a:srgbClr val="31649C"/>
    <a:srgbClr val="3072C2"/>
    <a:srgbClr val="CB400F"/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E3FDE45-AF77-4B5C-9715-49D594BDF05E}" styleName="밝은 스타일 1 - 강조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46F890A9-2807-4EBB-B81D-B2AA78EC7F39}" styleName="어두운 스타일 2 - 강조 5/강조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어두운 스타일 2 - 강조 3/강조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어두운 스타일 2 - 강조 1/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202B0CA-FC54-4496-8BCA-5EF66A818D29}" styleName="어두운 스타일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632" autoAdjust="0"/>
    <p:restoredTop sz="99709" autoAdjust="0"/>
  </p:normalViewPr>
  <p:slideViewPr>
    <p:cSldViewPr snapToObjects="1" showGuides="1">
      <p:cViewPr varScale="1">
        <p:scale>
          <a:sx n="82" d="100"/>
          <a:sy n="82" d="100"/>
        </p:scale>
        <p:origin x="955" y="72"/>
      </p:cViewPr>
      <p:guideLst>
        <p:guide orient="horz" pos="3793"/>
        <p:guide orient="horz" pos="3884"/>
        <p:guide orient="horz" pos="935"/>
        <p:guide orient="horz" pos="618"/>
        <p:guide pos="172"/>
        <p:guide pos="6068"/>
        <p:guide pos="3120"/>
        <p:guide pos="444"/>
        <p:guide pos="338"/>
        <p:guide orient="horz" pos="2251"/>
        <p:guide pos="126"/>
        <p:guide orient="horz" pos="107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1398"/>
    </p:cViewPr>
  </p:sorterViewPr>
  <p:notesViewPr>
    <p:cSldViewPr snapToObjects="1" showGuides="1">
      <p:cViewPr varScale="1">
        <p:scale>
          <a:sx n="65" d="100"/>
          <a:sy n="65" d="100"/>
        </p:scale>
        <p:origin x="-1644" y="-120"/>
      </p:cViewPr>
      <p:guideLst>
        <p:guide orient="horz" pos="3127"/>
        <p:guide pos="213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6" y="6"/>
            <a:ext cx="2942907" cy="49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4937" tIns="47469" rIns="94937" bIns="47469" numCol="1" anchor="t" anchorCtr="0" compatLnSpc="1">
            <a:prstTxWarp prst="textNoShape">
              <a:avLst/>
            </a:prstTxWarp>
          </a:bodyPr>
          <a:lstStyle>
            <a:lvl1pPr defTabSz="947232" latinLnBrk="0">
              <a:spcBef>
                <a:spcPct val="0"/>
              </a:spcBef>
              <a:defRPr kumimoji="0" sz="1100" b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>
              <a:ea typeface="맑은 고딕" panose="020B0503020000020004" pitchFamily="50" charset="-127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4770" y="6"/>
            <a:ext cx="2942907" cy="49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4937" tIns="47469" rIns="94937" bIns="47469" numCol="1" anchor="t" anchorCtr="0" compatLnSpc="1">
            <a:prstTxWarp prst="textNoShape">
              <a:avLst/>
            </a:prstTxWarp>
          </a:bodyPr>
          <a:lstStyle>
            <a:lvl1pPr algn="r" defTabSz="947232" latinLnBrk="0">
              <a:spcBef>
                <a:spcPct val="0"/>
              </a:spcBef>
              <a:defRPr kumimoji="0" sz="1100" b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>
              <a:ea typeface="맑은 고딕" panose="020B0503020000020004" pitchFamily="50" charset="-127"/>
            </a:endParaRP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6" y="9430308"/>
            <a:ext cx="2942907" cy="49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4937" tIns="47469" rIns="94937" bIns="47469" numCol="1" anchor="b" anchorCtr="0" compatLnSpc="1">
            <a:prstTxWarp prst="textNoShape">
              <a:avLst/>
            </a:prstTxWarp>
          </a:bodyPr>
          <a:lstStyle>
            <a:lvl1pPr defTabSz="947232" latinLnBrk="0">
              <a:spcBef>
                <a:spcPct val="0"/>
              </a:spcBef>
              <a:defRPr kumimoji="0" sz="1100" b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>
              <a:ea typeface="맑은 고딕" panose="020B0503020000020004" pitchFamily="50" charset="-127"/>
            </a:endParaRP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4770" y="9430308"/>
            <a:ext cx="2942907" cy="49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4937" tIns="47469" rIns="94937" bIns="47469" numCol="1" anchor="b" anchorCtr="0" compatLnSpc="1">
            <a:prstTxWarp prst="textNoShape">
              <a:avLst/>
            </a:prstTxWarp>
          </a:bodyPr>
          <a:lstStyle>
            <a:lvl1pPr algn="r" defTabSz="947232" latinLnBrk="0">
              <a:spcBef>
                <a:spcPct val="0"/>
              </a:spcBef>
              <a:defRPr kumimoji="0" sz="1100" b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fld id="{D8414D26-1A5B-4156-888F-DCC378C60C78}" type="slidenum">
              <a:rPr lang="ko-KR" altLang="en-US"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606946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9"/>
            <a:ext cx="2918611" cy="482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94" tIns="45952" rIns="91894" bIns="45952" numCol="1" anchor="t" anchorCtr="0" compatLnSpc="1">
            <a:prstTxWarp prst="textNoShape">
              <a:avLst/>
            </a:prstTxWarp>
          </a:bodyPr>
          <a:lstStyle>
            <a:lvl1pPr defTabSz="916932" latinLnBrk="0">
              <a:spcBef>
                <a:spcPct val="0"/>
              </a:spcBef>
              <a:defRPr kumimoji="0" sz="1100" b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67733" y="9"/>
            <a:ext cx="2918611" cy="482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94" tIns="45952" rIns="91894" bIns="45952" numCol="1" anchor="t" anchorCtr="0" compatLnSpc="1">
            <a:prstTxWarp prst="textNoShape">
              <a:avLst/>
            </a:prstTxWarp>
          </a:bodyPr>
          <a:lstStyle>
            <a:lvl1pPr algn="r" defTabSz="916932" latinLnBrk="0">
              <a:spcBef>
                <a:spcPct val="0"/>
              </a:spcBef>
              <a:defRPr kumimoji="0" sz="1100" b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177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15963" y="723900"/>
            <a:ext cx="5438775" cy="37671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76233" y="4732653"/>
            <a:ext cx="5035494" cy="44860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94" tIns="45952" rIns="91894" bIns="4595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 dirty="0"/>
              <a:t>Click to edit Master text styles</a:t>
            </a:r>
          </a:p>
          <a:p>
            <a:pPr lvl="1"/>
            <a:r>
              <a:rPr lang="en-US" altLang="ko-KR" noProof="0" dirty="0"/>
              <a:t>Second level</a:t>
            </a:r>
          </a:p>
          <a:p>
            <a:pPr lvl="2"/>
            <a:r>
              <a:rPr lang="en-US" altLang="ko-KR" noProof="0" dirty="0"/>
              <a:t>Third level</a:t>
            </a:r>
          </a:p>
          <a:p>
            <a:pPr lvl="3"/>
            <a:r>
              <a:rPr lang="en-US" altLang="ko-KR" noProof="0" dirty="0"/>
              <a:t>Fourth level</a:t>
            </a:r>
          </a:p>
          <a:p>
            <a:pPr lvl="4"/>
            <a:r>
              <a:rPr lang="en-US" altLang="ko-KR" noProof="0" dirty="0"/>
              <a:t>Fifth level</a:t>
            </a: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460532"/>
            <a:ext cx="2918611" cy="480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94" tIns="45952" rIns="91894" bIns="45952" numCol="1" anchor="b" anchorCtr="0" compatLnSpc="1">
            <a:prstTxWarp prst="textNoShape">
              <a:avLst/>
            </a:prstTxWarp>
          </a:bodyPr>
          <a:lstStyle>
            <a:lvl1pPr defTabSz="916932" latinLnBrk="0">
              <a:spcBef>
                <a:spcPct val="0"/>
              </a:spcBef>
              <a:defRPr kumimoji="0" sz="1100" b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67733" y="9460532"/>
            <a:ext cx="2918611" cy="480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94" tIns="45952" rIns="91894" bIns="45952" numCol="1" anchor="b" anchorCtr="0" compatLnSpc="1">
            <a:prstTxWarp prst="textNoShape">
              <a:avLst/>
            </a:prstTxWarp>
          </a:bodyPr>
          <a:lstStyle>
            <a:lvl1pPr algn="r" defTabSz="916932" latinLnBrk="0">
              <a:spcBef>
                <a:spcPct val="0"/>
              </a:spcBef>
              <a:defRPr kumimoji="0" sz="1100" b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79642909-6448-426E-9ED7-EFF6CDC2E25C}" type="slidenum">
              <a:rPr lang="ko-KR" altLang="en-US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99798541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506"/>
            <a:ext cx="9906000" cy="623887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7285" y="6364091"/>
            <a:ext cx="1722052" cy="39600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4" name="Picture 8" descr="logo_goodmark_%5b245%5d">
            <a:extLst>
              <a:ext uri="{FF2B5EF4-FFF2-40B4-BE49-F238E27FC236}">
                <a16:creationId xmlns:a16="http://schemas.microsoft.com/office/drawing/2014/main" id="{1934DBAA-C187-4B71-BC05-DBE92E855E7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0520" y="262067"/>
            <a:ext cx="1143000" cy="5715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7">
            <a:extLst>
              <a:ext uri="{FF2B5EF4-FFF2-40B4-BE49-F238E27FC236}">
                <a16:creationId xmlns:a16="http://schemas.microsoft.com/office/drawing/2014/main" id="{0A8B6B62-1260-49DF-A155-60E5615934C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 cstate="print"/>
          <a:srcRect l="959" t="575" r="68657" b="78969"/>
          <a:stretch/>
        </p:blipFill>
        <p:spPr bwMode="auto">
          <a:xfrm>
            <a:off x="7597286" y="260648"/>
            <a:ext cx="647502" cy="57291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353785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494"/>
            <a:ext cx="9906000" cy="94297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0652" y="6427458"/>
            <a:ext cx="1252399" cy="288000"/>
          </a:xfrm>
          <a:prstGeom prst="rect">
            <a:avLst/>
          </a:prstGeom>
        </p:spPr>
      </p:pic>
      <p:sp>
        <p:nvSpPr>
          <p:cNvPr id="4" name="텍스트 개체 틀 2">
            <a:extLst>
              <a:ext uri="{FF2B5EF4-FFF2-40B4-BE49-F238E27FC236}">
                <a16:creationId xmlns:a16="http://schemas.microsoft.com/office/drawing/2014/main" id="{F2EC38CF-E0DA-4E4F-8879-1DB4A59C6FEA}"/>
              </a:ext>
            </a:extLst>
          </p:cNvPr>
          <p:cNvSpPr txBox="1">
            <a:spLocks/>
          </p:cNvSpPr>
          <p:nvPr userDrawn="1"/>
        </p:nvSpPr>
        <p:spPr>
          <a:xfrm>
            <a:off x="554082" y="188574"/>
            <a:ext cx="8797837" cy="5688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b="1" dirty="0">
                <a:solidFill>
                  <a:schemeClr val="bg1"/>
                </a:solidFill>
                <a:latin typeface="+mn-ea"/>
                <a:cs typeface="한컴돋움" pitchFamily="18" charset="2"/>
              </a:rPr>
              <a:t>CONTENTS</a:t>
            </a:r>
            <a:endParaRPr lang="ko-KR" altLang="en-US" b="1" dirty="0">
              <a:solidFill>
                <a:schemeClr val="bg1"/>
              </a:solidFill>
              <a:latin typeface="+mn-ea"/>
              <a:cs typeface="한컴돋움" pitchFamily="18" charset="2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C3C314B1-2864-4E0A-A4EA-09072E8A1F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22091" y="1997810"/>
            <a:ext cx="4733230" cy="3571718"/>
          </a:xfrm>
          <a:prstGeom prst="rect">
            <a:avLst/>
          </a:prstGeom>
        </p:spPr>
        <p:txBody>
          <a:bodyPr anchor="t"/>
          <a:lstStyle>
            <a:lvl1pPr marL="360363" indent="-360363" algn="l" rtl="0" fontAlgn="base" latinLnBrk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romanUcPeriod"/>
              <a:defRPr kumimoji="1" lang="ko-KR" altLang="en-US" sz="2800" b="1" kern="1200" dirty="0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1pPr>
            <a:lvl2pPr marL="1028700" indent="-571500">
              <a:buFont typeface="+mj-lt"/>
              <a:buAutoNum type="romanUcPeriod"/>
              <a:defRPr/>
            </a:lvl2pPr>
            <a:lvl3pPr marL="1428750" indent="-514350">
              <a:buFont typeface="+mj-lt"/>
              <a:buAutoNum type="romanUcPeriod"/>
              <a:defRPr/>
            </a:lvl3pPr>
            <a:lvl4pPr marL="1885950" indent="-514350">
              <a:buFont typeface="+mj-lt"/>
              <a:buAutoNum type="romanUcPeriod"/>
              <a:defRPr/>
            </a:lvl4pPr>
            <a:lvl5pPr marL="2343150" indent="-514350">
              <a:buFont typeface="+mj-lt"/>
              <a:buAutoNum type="romanUcPeriod"/>
              <a:defRPr/>
            </a:lvl5pPr>
          </a:lstStyle>
          <a:p>
            <a:pPr lvl="0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099029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세부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00" y="0"/>
            <a:ext cx="1952625" cy="68580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0652" y="6427458"/>
            <a:ext cx="1252399" cy="288000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1F2CE6CF-FA78-495B-9442-39017B283AB8}"/>
              </a:ext>
            </a:extLst>
          </p:cNvPr>
          <p:cNvSpPr/>
          <p:nvPr userDrawn="1"/>
        </p:nvSpPr>
        <p:spPr bwMode="auto">
          <a:xfrm>
            <a:off x="2661084" y="1266012"/>
            <a:ext cx="5909568" cy="702000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00"/>
              </a:lnSpc>
            </a:pPr>
            <a:endParaRPr lang="en-US" altLang="ko-KR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4E7EA2D-A154-446D-A624-452F1F9623A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71916" y="1407161"/>
            <a:ext cx="4953000" cy="41970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kumimoji="1" lang="ko-KR" altLang="en-US" sz="2400" b="1" kern="1200" dirty="0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1pPr>
          </a:lstStyle>
          <a:p>
            <a:pPr lvl="0"/>
            <a:r>
              <a:rPr lang="en-US" altLang="ko-KR" dirty="0"/>
              <a:t>I</a:t>
            </a:r>
            <a:r>
              <a:rPr lang="en-US" altLang="ko-KR"/>
              <a:t>. </a:t>
            </a:r>
            <a:endParaRPr lang="ko-KR" altLang="en-US" dirty="0"/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D2AF3831-91CA-4478-A2C9-FA92065CC98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63405" y="2295122"/>
            <a:ext cx="6570115" cy="9144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AutoNum type="arabicPeriod"/>
              <a:defRPr kumimoji="1" lang="ko-KR" altLang="en-US" sz="2000" b="1" kern="1200" dirty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  <a:cs typeface="+mn-cs"/>
                <a:sym typeface="Wingdings" pitchFamily="2" charset="2"/>
              </a:defRPr>
            </a:lvl1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015341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소주제_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1068"/>
          <p:cNvSpPr txBox="1">
            <a:spLocks noChangeArrowheads="1"/>
          </p:cNvSpPr>
          <p:nvPr userDrawn="1"/>
        </p:nvSpPr>
        <p:spPr bwMode="auto">
          <a:xfrm>
            <a:off x="-1513" y="6613337"/>
            <a:ext cx="4162425" cy="2000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23" tIns="45712" rIns="91423" bIns="45712">
            <a:spAutoFit/>
          </a:bodyPr>
          <a:lstStyle/>
          <a:p>
            <a:pPr eaLnBrk="0" latinLnBrk="0" hangingPunct="0">
              <a:defRPr/>
            </a:pPr>
            <a:r>
              <a:rPr kumimoji="0" lang="ko-KR" altLang="en-US" sz="700" b="0" i="0" dirty="0">
                <a:latin typeface="맑은 고딕"/>
                <a:ea typeface="맑은 고딕"/>
              </a:rPr>
              <a:t>  </a:t>
            </a:r>
            <a:r>
              <a:rPr kumimoji="0" lang="en-US" altLang="ko-KR" sz="700" b="0" i="0" dirty="0">
                <a:latin typeface="맑은 고딕"/>
                <a:ea typeface="맑은 고딕"/>
              </a:rPr>
              <a:t>Copyright 2026. ECMiner</a:t>
            </a:r>
            <a:r>
              <a:rPr kumimoji="0" lang="en-US" altLang="ko-KR" sz="700" b="0" i="0" baseline="0" dirty="0">
                <a:latin typeface="맑은 고딕"/>
                <a:ea typeface="맑은 고딕"/>
              </a:rPr>
              <a:t> Co., Ltd. a</a:t>
            </a:r>
            <a:r>
              <a:rPr kumimoji="0" lang="en-US" altLang="ko-KR" sz="700" b="0" i="0" dirty="0">
                <a:latin typeface="맑은 고딕"/>
                <a:ea typeface="맑은 고딕"/>
              </a:rPr>
              <a:t>ll rights reserved.</a:t>
            </a:r>
          </a:p>
        </p:txBody>
      </p:sp>
      <p:sp>
        <p:nvSpPr>
          <p:cNvPr id="7" name="Rectangle 6"/>
          <p:cNvSpPr>
            <a:spLocks noChangeArrowheads="1"/>
          </p:cNvSpPr>
          <p:nvPr userDrawn="1"/>
        </p:nvSpPr>
        <p:spPr bwMode="auto">
          <a:xfrm>
            <a:off x="4797199" y="6597352"/>
            <a:ext cx="311602" cy="19581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13500000">
              <a:schemeClr val="bg2"/>
            </a:prstShdw>
          </a:effectLst>
        </p:spPr>
        <p:txBody>
          <a:bodyPr wrap="none" lIns="90000" tIns="36000" rIns="90000" bIns="36000">
            <a:spAutoFit/>
          </a:bodyPr>
          <a:lstStyle/>
          <a:p>
            <a:pPr algn="ctr">
              <a:defRPr/>
            </a:pPr>
            <a:fld id="{222CA80C-32BB-49ED-A851-5BF43CB034FC}" type="slidenum">
              <a:rPr lang="ko-KR" altLang="en-US" sz="800" b="0">
                <a:solidFill>
                  <a:prstClr val="black"/>
                </a:solidFill>
                <a:latin typeface="+mn-ea"/>
                <a:ea typeface="+mn-ea"/>
              </a:rPr>
              <a:pPr algn="ctr">
                <a:defRPr/>
              </a:pPr>
              <a:t>‹#›</a:t>
            </a:fld>
            <a:endParaRPr lang="en-US" altLang="ko-KR" sz="800" b="0" dirty="0">
              <a:solidFill>
                <a:prstClr val="black"/>
              </a:solidFill>
              <a:latin typeface="+mn-ea"/>
              <a:ea typeface="+mn-ea"/>
            </a:endParaRPr>
          </a:p>
        </p:txBody>
      </p:sp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494"/>
            <a:ext cx="9906000" cy="561975"/>
          </a:xfrm>
          <a:prstGeom prst="rect">
            <a:avLst/>
          </a:prstGeom>
        </p:spPr>
      </p:pic>
      <p:sp>
        <p:nvSpPr>
          <p:cNvPr id="14" name="텍스트 개체 틀 19">
            <a:extLst>
              <a:ext uri="{FF2B5EF4-FFF2-40B4-BE49-F238E27FC236}">
                <a16:creationId xmlns:a16="http://schemas.microsoft.com/office/drawing/2014/main" id="{6BEA6CC4-7B5D-42C1-89CC-4D5372474D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9708" y="572858"/>
            <a:ext cx="9423242" cy="400110"/>
          </a:xfrm>
          <a:prstGeom prst="rect">
            <a:avLst/>
          </a:prstGeom>
        </p:spPr>
        <p:txBody>
          <a:bodyPr lIns="72000" tIns="108000" anchor="ctr"/>
          <a:lstStyle>
            <a:lvl1pPr marL="182563" indent="-182563" algn="l">
              <a:buFont typeface="Wingdings" panose="05000000000000000000" pitchFamily="2" charset="2"/>
              <a:buChar char="§"/>
              <a:tabLst>
                <a:tab pos="0" algn="l"/>
              </a:tabLst>
              <a:defRPr sz="1600" b="1"/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ko-KR"/>
              <a:t> </a:t>
            </a:r>
            <a:endParaRPr lang="ko-KR" altLang="en-US" dirty="0"/>
          </a:p>
        </p:txBody>
      </p:sp>
      <p:sp>
        <p:nvSpPr>
          <p:cNvPr id="15" name="텍스트 개체 틀 21">
            <a:extLst>
              <a:ext uri="{FF2B5EF4-FFF2-40B4-BE49-F238E27FC236}">
                <a16:creationId xmlns:a16="http://schemas.microsoft.com/office/drawing/2014/main" id="{55D5FE98-3A06-4B9D-8C1C-494B1EC85FD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309" y="922627"/>
            <a:ext cx="9270641" cy="708950"/>
          </a:xfrm>
          <a:prstGeom prst="rect">
            <a:avLst/>
          </a:prstGeom>
        </p:spPr>
        <p:txBody>
          <a:bodyPr lIns="72000" tIns="36000"/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</a:lstStyle>
          <a:p>
            <a:pPr lvl="0"/>
            <a:r>
              <a:rPr lang="en-US" altLang="ko-KR"/>
              <a:t> </a:t>
            </a:r>
            <a:endParaRPr lang="ko-KR" altLang="en-US" dirty="0"/>
          </a:p>
        </p:txBody>
      </p:sp>
      <p:sp>
        <p:nvSpPr>
          <p:cNvPr id="16" name="제목 9">
            <a:extLst>
              <a:ext uri="{FF2B5EF4-FFF2-40B4-BE49-F238E27FC236}">
                <a16:creationId xmlns:a16="http://schemas.microsoft.com/office/drawing/2014/main" id="{4218302E-124C-470D-BB79-F671E8D10C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0472" y="76562"/>
            <a:ext cx="8543925" cy="40011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 algn="l">
              <a:defRPr kumimoji="0" lang="ko-KR" altLang="en-US" sz="2000" b="1" i="0" u="none" strike="noStrike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Arial" charset="0"/>
                <a:sym typeface="Wingdings" pitchFamily="2" charset="2"/>
              </a:defRPr>
            </a:lvl1pPr>
          </a:lstStyle>
          <a:p>
            <a:pPr marL="0" marR="0" lvl="0" indent="0" algn="l" defTabSz="914400" eaLnBrk="1" latinLnBrk="0" hangingPunct="1">
              <a:lnSpc>
                <a:spcPct val="100000"/>
              </a:lnSpc>
              <a:spcBef>
                <a:spcPct val="50000"/>
              </a:spcBef>
              <a:buClr>
                <a:srgbClr val="4D4D4D"/>
              </a:buClr>
              <a:buSzTx/>
              <a:buFont typeface="Arial" charset="0"/>
              <a:buNone/>
              <a:tabLst/>
            </a:pPr>
            <a:r>
              <a:rPr lang="en-US" altLang="ko-KR"/>
              <a:t> </a:t>
            </a:r>
            <a:endParaRPr lang="ko-KR" altLang="en-US" dirty="0"/>
          </a:p>
        </p:txBody>
      </p:sp>
      <p:sp>
        <p:nvSpPr>
          <p:cNvPr id="17" name="텍스트 개체 틀 3">
            <a:extLst>
              <a:ext uri="{FF2B5EF4-FFF2-40B4-BE49-F238E27FC236}">
                <a16:creationId xmlns:a16="http://schemas.microsoft.com/office/drawing/2014/main" id="{43F91B20-EC10-49FE-B09E-1E543401CC1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35096" y="273600"/>
            <a:ext cx="2952000" cy="277200"/>
          </a:xfrm>
          <a:prstGeom prst="rect">
            <a:avLst/>
          </a:prstGeom>
        </p:spPr>
        <p:txBody>
          <a:bodyPr anchor="ctr"/>
          <a:lstStyle>
            <a:lvl1pPr marL="0" indent="0" algn="r">
              <a:buFontTx/>
              <a:buNone/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1pPr>
            <a:lvl2pPr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2pPr>
            <a:lvl3pPr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3pPr>
            <a:lvl4pPr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4pPr>
            <a:lvl5pPr>
              <a:defRPr kumimoji="1" lang="ko-KR" altLang="en-US" sz="1200" b="1" kern="12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5pPr>
          </a:lstStyle>
          <a:p>
            <a:pPr lvl="0"/>
            <a:r>
              <a:rPr lang="en-US" altLang="ko-KR"/>
              <a:t> </a:t>
            </a:r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20128D37-A361-89C1-A3C2-2EDD7FC9D1A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0058" y="6588750"/>
            <a:ext cx="939299" cy="2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8544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1068"/>
          <p:cNvSpPr txBox="1">
            <a:spLocks noChangeArrowheads="1"/>
          </p:cNvSpPr>
          <p:nvPr userDrawn="1"/>
        </p:nvSpPr>
        <p:spPr bwMode="auto">
          <a:xfrm>
            <a:off x="-1513" y="6613337"/>
            <a:ext cx="4162425" cy="2000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23" tIns="45712" rIns="91423" bIns="45712">
            <a:spAutoFit/>
          </a:bodyPr>
          <a:lstStyle/>
          <a:p>
            <a:pPr eaLnBrk="0" latinLnBrk="0" hangingPunct="0">
              <a:defRPr/>
            </a:pPr>
            <a:r>
              <a:rPr kumimoji="0" lang="ko-KR" altLang="en-US" sz="700" b="0" i="0" dirty="0">
                <a:latin typeface="맑은 고딕"/>
                <a:ea typeface="맑은 고딕"/>
              </a:rPr>
              <a:t>  </a:t>
            </a:r>
            <a:r>
              <a:rPr kumimoji="0" lang="en-US" altLang="ko-KR" sz="700" b="0" i="0" dirty="0">
                <a:latin typeface="맑은 고딕"/>
                <a:ea typeface="맑은 고딕"/>
              </a:rPr>
              <a:t>Copyright 2026. ECMiner</a:t>
            </a:r>
            <a:r>
              <a:rPr kumimoji="0" lang="en-US" altLang="ko-KR" sz="700" b="0" i="0" baseline="0" dirty="0">
                <a:latin typeface="맑은 고딕"/>
                <a:ea typeface="맑은 고딕"/>
              </a:rPr>
              <a:t> Co., Ltd. a</a:t>
            </a:r>
            <a:r>
              <a:rPr kumimoji="0" lang="en-US" altLang="ko-KR" sz="700" b="0" i="0" dirty="0">
                <a:latin typeface="맑은 고딕"/>
                <a:ea typeface="맑은 고딕"/>
              </a:rPr>
              <a:t>ll rights reserved.</a:t>
            </a:r>
          </a:p>
        </p:txBody>
      </p:sp>
      <p:sp>
        <p:nvSpPr>
          <p:cNvPr id="7" name="Rectangle 6"/>
          <p:cNvSpPr>
            <a:spLocks noChangeArrowheads="1"/>
          </p:cNvSpPr>
          <p:nvPr userDrawn="1"/>
        </p:nvSpPr>
        <p:spPr bwMode="auto">
          <a:xfrm>
            <a:off x="4797199" y="6597352"/>
            <a:ext cx="311602" cy="19581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13500000">
              <a:schemeClr val="bg2"/>
            </a:prstShdw>
          </a:effectLst>
        </p:spPr>
        <p:txBody>
          <a:bodyPr wrap="none" lIns="90000" tIns="36000" rIns="90000" bIns="36000">
            <a:spAutoFit/>
          </a:bodyPr>
          <a:lstStyle/>
          <a:p>
            <a:pPr algn="ctr">
              <a:defRPr/>
            </a:pPr>
            <a:fld id="{222CA80C-32BB-49ED-A851-5BF43CB034FC}" type="slidenum">
              <a:rPr lang="ko-KR" altLang="en-US" sz="800" b="0">
                <a:solidFill>
                  <a:prstClr val="black"/>
                </a:solidFill>
                <a:latin typeface="+mn-ea"/>
                <a:ea typeface="+mn-ea"/>
              </a:rPr>
              <a:pPr algn="ctr">
                <a:defRPr/>
              </a:pPr>
              <a:t>‹#›</a:t>
            </a:fld>
            <a:endParaRPr lang="en-US" altLang="ko-KR" sz="800" b="0" dirty="0">
              <a:solidFill>
                <a:prstClr val="black"/>
              </a:solidFill>
              <a:latin typeface="+mn-ea"/>
              <a:ea typeface="+mn-ea"/>
            </a:endParaRPr>
          </a:p>
        </p:txBody>
      </p:sp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494"/>
            <a:ext cx="9906000" cy="561975"/>
          </a:xfrm>
          <a:prstGeom prst="rect">
            <a:avLst/>
          </a:prstGeom>
        </p:spPr>
      </p:pic>
      <p:sp>
        <p:nvSpPr>
          <p:cNvPr id="15" name="텍스트 개체 틀 21">
            <a:extLst>
              <a:ext uri="{FF2B5EF4-FFF2-40B4-BE49-F238E27FC236}">
                <a16:creationId xmlns:a16="http://schemas.microsoft.com/office/drawing/2014/main" id="{55D5FE98-3A06-4B9D-8C1C-494B1EC85FD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5309" y="603030"/>
            <a:ext cx="9454718" cy="708950"/>
          </a:xfrm>
          <a:prstGeom prst="rect">
            <a:avLst/>
          </a:prstGeom>
        </p:spPr>
        <p:txBody>
          <a:bodyPr lIns="72000" tIns="36000"/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</a:lstStyle>
          <a:p>
            <a:pPr lvl="0"/>
            <a:r>
              <a:rPr lang="en-US" altLang="ko-KR"/>
              <a:t> </a:t>
            </a:r>
            <a:endParaRPr lang="ko-KR" altLang="en-US" dirty="0"/>
          </a:p>
        </p:txBody>
      </p:sp>
      <p:sp>
        <p:nvSpPr>
          <p:cNvPr id="16" name="제목 9">
            <a:extLst>
              <a:ext uri="{FF2B5EF4-FFF2-40B4-BE49-F238E27FC236}">
                <a16:creationId xmlns:a16="http://schemas.microsoft.com/office/drawing/2014/main" id="{4218302E-124C-470D-BB79-F671E8D10C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0472" y="76562"/>
            <a:ext cx="8543925" cy="40011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 algn="l">
              <a:defRPr kumimoji="0" lang="ko-KR" altLang="en-US" sz="2000" b="1" i="0" u="none" strike="noStrike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Arial" charset="0"/>
                <a:sym typeface="Wingdings" pitchFamily="2" charset="2"/>
              </a:defRPr>
            </a:lvl1pPr>
          </a:lstStyle>
          <a:p>
            <a:pPr marL="0" marR="0" lvl="0" indent="0" algn="l" defTabSz="914400" eaLnBrk="1" latinLnBrk="0" hangingPunct="1">
              <a:lnSpc>
                <a:spcPct val="100000"/>
              </a:lnSpc>
              <a:spcBef>
                <a:spcPct val="50000"/>
              </a:spcBef>
              <a:buClr>
                <a:srgbClr val="4D4D4D"/>
              </a:buClr>
              <a:buSzTx/>
              <a:buFont typeface="Arial" charset="0"/>
              <a:buNone/>
              <a:tabLst/>
            </a:pPr>
            <a:r>
              <a:rPr lang="en-US" altLang="ko-KR"/>
              <a:t> </a:t>
            </a:r>
            <a:endParaRPr lang="ko-KR" altLang="en-US" dirty="0"/>
          </a:p>
        </p:txBody>
      </p:sp>
      <p:sp>
        <p:nvSpPr>
          <p:cNvPr id="17" name="텍스트 개체 틀 3">
            <a:extLst>
              <a:ext uri="{FF2B5EF4-FFF2-40B4-BE49-F238E27FC236}">
                <a16:creationId xmlns:a16="http://schemas.microsoft.com/office/drawing/2014/main" id="{43F91B20-EC10-49FE-B09E-1E543401CC1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35096" y="273600"/>
            <a:ext cx="2952000" cy="277200"/>
          </a:xfrm>
          <a:prstGeom prst="rect">
            <a:avLst/>
          </a:prstGeom>
        </p:spPr>
        <p:txBody>
          <a:bodyPr anchor="ctr"/>
          <a:lstStyle>
            <a:lvl1pPr marL="0" indent="0" algn="r">
              <a:buFontTx/>
              <a:buNone/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1pPr>
            <a:lvl2pPr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2pPr>
            <a:lvl3pPr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3pPr>
            <a:lvl4pPr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4pPr>
            <a:lvl5pPr>
              <a:defRPr kumimoji="1" lang="ko-KR" altLang="en-US" sz="1200" b="1" kern="12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5pPr>
          </a:lstStyle>
          <a:p>
            <a:pPr lvl="0"/>
            <a:r>
              <a:rPr lang="en-US" altLang="ko-KR"/>
              <a:t> </a:t>
            </a:r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46F960B-CEE0-D95F-65F1-DB660F57F95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0058" y="6588750"/>
            <a:ext cx="939299" cy="2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4618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종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563"/>
            <a:ext cx="9906000" cy="6238875"/>
          </a:xfrm>
          <a:prstGeom prst="rect">
            <a:avLst/>
          </a:prstGeom>
        </p:spPr>
      </p:pic>
      <p:sp>
        <p:nvSpPr>
          <p:cNvPr id="3" name="Rectangle 10"/>
          <p:cNvSpPr>
            <a:spLocks noChangeArrowheads="1"/>
          </p:cNvSpPr>
          <p:nvPr userDrawn="1"/>
        </p:nvSpPr>
        <p:spPr bwMode="auto">
          <a:xfrm>
            <a:off x="5733086" y="4536505"/>
            <a:ext cx="4056451" cy="1392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marL="342900" indent="-342900" algn="r">
              <a:lnSpc>
                <a:spcPct val="80000"/>
              </a:lnSpc>
              <a:spcBef>
                <a:spcPct val="20000"/>
              </a:spcBef>
            </a:pPr>
            <a:r>
              <a:rPr lang="ko-KR" altLang="en-US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㈜이씨마이너</a:t>
            </a:r>
            <a:endParaRPr lang="en-US" altLang="ko-KR" b="1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 algn="r">
              <a:lnSpc>
                <a:spcPct val="80000"/>
              </a:lnSpc>
              <a:spcBef>
                <a:spcPct val="20000"/>
              </a:spcBef>
            </a:pPr>
            <a:endParaRPr lang="en-US" altLang="ko-KR" b="1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 algn="r">
              <a:lnSpc>
                <a:spcPct val="80000"/>
              </a:lnSpc>
              <a:spcBef>
                <a:spcPct val="20000"/>
              </a:spcBef>
            </a:pPr>
            <a:r>
              <a:rPr lang="ko-KR" altLang="en-US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서울특별시 </a:t>
            </a:r>
            <a:r>
              <a:rPr lang="ko-KR" altLang="en-US" sz="1200" b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강남구 논현로 </a:t>
            </a:r>
            <a:r>
              <a:rPr lang="en-US" altLang="ko-KR" sz="1200" b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28</a:t>
            </a:r>
            <a:r>
              <a:rPr lang="ko-KR" altLang="en-US" sz="1200" b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길 </a:t>
            </a:r>
            <a:r>
              <a:rPr lang="en-US" altLang="ko-KR" sz="1200" b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54, </a:t>
            </a:r>
            <a:r>
              <a:rPr lang="ko-KR" altLang="en-US" sz="1200" b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덕원빌딩 </a:t>
            </a:r>
            <a:r>
              <a:rPr lang="en-US" altLang="ko-KR" sz="1200" b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sz="1200" b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층</a:t>
            </a:r>
            <a:endParaRPr lang="en-US" altLang="ko-KR" sz="1200" b="1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 algn="r">
              <a:lnSpc>
                <a:spcPct val="80000"/>
              </a:lnSpc>
              <a:spcBef>
                <a:spcPct val="20000"/>
              </a:spcBef>
            </a:pPr>
            <a:r>
              <a:rPr lang="en-US" altLang="ko-KR" sz="1200" b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Tel </a:t>
            </a:r>
            <a:r>
              <a:rPr lang="ko-KR" altLang="en-US" sz="1200" b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02-552-5266</a:t>
            </a:r>
          </a:p>
          <a:p>
            <a:pPr marL="342900" indent="-342900" algn="r">
              <a:lnSpc>
                <a:spcPct val="80000"/>
              </a:lnSpc>
              <a:spcBef>
                <a:spcPct val="20000"/>
              </a:spcBef>
            </a:pPr>
            <a:r>
              <a:rPr lang="en-US" altLang="ko-KR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Fax </a:t>
            </a:r>
            <a:r>
              <a:rPr lang="ko-KR" altLang="en-US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02-566-0768</a:t>
            </a:r>
          </a:p>
          <a:p>
            <a:pPr marL="342900" indent="-342900" algn="r">
              <a:lnSpc>
                <a:spcPct val="80000"/>
              </a:lnSpc>
              <a:spcBef>
                <a:spcPct val="20000"/>
              </a:spcBef>
            </a:pPr>
            <a:r>
              <a:rPr lang="en-US" altLang="ko-KR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URL - http://www.ecminer.com</a:t>
            </a:r>
          </a:p>
        </p:txBody>
      </p:sp>
      <p:sp>
        <p:nvSpPr>
          <p:cNvPr id="5" name="Rectangle 14"/>
          <p:cNvSpPr>
            <a:spLocks noChangeArrowheads="1"/>
          </p:cNvSpPr>
          <p:nvPr userDrawn="1"/>
        </p:nvSpPr>
        <p:spPr bwMode="gray">
          <a:xfrm>
            <a:off x="56456" y="6431765"/>
            <a:ext cx="7704856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ko-KR" altLang="en-US" sz="1000" b="1" dirty="0">
                <a:latin typeface="+mn-ea"/>
                <a:ea typeface="+mn-ea"/>
              </a:rPr>
              <a:t>본 문서는 </a:t>
            </a:r>
            <a:r>
              <a:rPr lang="en-US" altLang="ko-KR" sz="1000" b="1" dirty="0">
                <a:latin typeface="+mn-ea"/>
                <a:ea typeface="+mn-ea"/>
              </a:rPr>
              <a:t>㈜</a:t>
            </a:r>
            <a:r>
              <a:rPr lang="ko-KR" altLang="en-US" sz="1000" b="1" dirty="0">
                <a:latin typeface="+mn-ea"/>
                <a:ea typeface="+mn-ea"/>
              </a:rPr>
              <a:t>이씨마이너의 기밀정보 및 영업비밀을 포함하고 있으므로</a:t>
            </a:r>
            <a:r>
              <a:rPr lang="en-US" altLang="ko-KR" sz="1000" b="1" dirty="0">
                <a:latin typeface="+mn-ea"/>
                <a:ea typeface="+mn-ea"/>
              </a:rPr>
              <a:t>, </a:t>
            </a:r>
            <a:r>
              <a:rPr lang="ko-KR" altLang="en-US" sz="1000" b="1" dirty="0">
                <a:latin typeface="+mn-ea"/>
                <a:ea typeface="+mn-ea"/>
              </a:rPr>
              <a:t>제공된 목적 외에 무단으로 복제되거나</a:t>
            </a:r>
            <a:r>
              <a:rPr lang="en-US" altLang="ko-KR" sz="1000" b="1" dirty="0">
                <a:latin typeface="+mn-ea"/>
                <a:ea typeface="+mn-ea"/>
              </a:rPr>
              <a:t> </a:t>
            </a:r>
            <a:r>
              <a:rPr lang="ko-KR" altLang="en-US" sz="1000" b="1" dirty="0">
                <a:latin typeface="+mn-ea"/>
                <a:ea typeface="+mn-ea"/>
              </a:rPr>
              <a:t>배포될 수 없습니다</a:t>
            </a:r>
            <a:r>
              <a:rPr lang="en-US" altLang="ko-KR" sz="1000" b="1" dirty="0">
                <a:latin typeface="+mn-ea"/>
                <a:ea typeface="+mn-ea"/>
              </a:rPr>
              <a:t>.</a:t>
            </a:r>
          </a:p>
        </p:txBody>
      </p:sp>
      <p:sp>
        <p:nvSpPr>
          <p:cNvPr id="6" name="TextBox 5"/>
          <p:cNvSpPr txBox="1"/>
          <p:nvPr userDrawn="1"/>
        </p:nvSpPr>
        <p:spPr>
          <a:xfrm>
            <a:off x="3375123" y="2331628"/>
            <a:ext cx="315342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b="0" dirty="0">
                <a:solidFill>
                  <a:schemeClr val="bg1"/>
                </a:solidFill>
                <a:latin typeface="+mn-ea"/>
                <a:ea typeface="+mn-ea"/>
              </a:rPr>
              <a:t>감사합니다</a:t>
            </a:r>
            <a:r>
              <a:rPr lang="en-US" altLang="ko-KR" sz="4400" b="0" dirty="0">
                <a:solidFill>
                  <a:schemeClr val="bg1"/>
                </a:solidFill>
                <a:latin typeface="+mn-ea"/>
                <a:ea typeface="+mn-ea"/>
              </a:rPr>
              <a:t>.</a:t>
            </a:r>
            <a:endParaRPr lang="ko-KR" altLang="en-US" sz="4400" b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0652" y="6427458"/>
            <a:ext cx="1252399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599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1068"/>
          <p:cNvSpPr txBox="1">
            <a:spLocks noChangeArrowheads="1"/>
          </p:cNvSpPr>
          <p:nvPr userDrawn="1"/>
        </p:nvSpPr>
        <p:spPr bwMode="auto">
          <a:xfrm>
            <a:off x="-1513" y="6613337"/>
            <a:ext cx="4162425" cy="2000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23" tIns="45712" rIns="91423" bIns="45712">
            <a:spAutoFit/>
          </a:bodyPr>
          <a:lstStyle/>
          <a:p>
            <a:pPr eaLnBrk="0" latinLnBrk="0" hangingPunct="0">
              <a:defRPr/>
            </a:pPr>
            <a:r>
              <a:rPr kumimoji="0" lang="ko-KR" altLang="en-US" sz="700" b="0" i="0" dirty="0">
                <a:latin typeface="맑은 고딕"/>
                <a:ea typeface="맑은 고딕"/>
              </a:rPr>
              <a:t>  </a:t>
            </a:r>
            <a:r>
              <a:rPr kumimoji="0" lang="en-US" altLang="ko-KR" sz="700" b="0" i="0" dirty="0">
                <a:latin typeface="맑은 고딕"/>
                <a:ea typeface="맑은 고딕"/>
              </a:rPr>
              <a:t>Copyright 2026. ECMiner</a:t>
            </a:r>
            <a:r>
              <a:rPr kumimoji="0" lang="en-US" altLang="ko-KR" sz="700" b="0" i="0" baseline="0" dirty="0">
                <a:latin typeface="맑은 고딕"/>
                <a:ea typeface="맑은 고딕"/>
              </a:rPr>
              <a:t> Co., Ltd. a</a:t>
            </a:r>
            <a:r>
              <a:rPr kumimoji="0" lang="en-US" altLang="ko-KR" sz="700" b="0" i="0" dirty="0">
                <a:latin typeface="맑은 고딕"/>
                <a:ea typeface="맑은 고딕"/>
              </a:rPr>
              <a:t>ll rights reserved.</a:t>
            </a:r>
          </a:p>
        </p:txBody>
      </p:sp>
      <p:sp>
        <p:nvSpPr>
          <p:cNvPr id="7" name="Rectangle 6"/>
          <p:cNvSpPr>
            <a:spLocks noChangeArrowheads="1"/>
          </p:cNvSpPr>
          <p:nvPr userDrawn="1"/>
        </p:nvSpPr>
        <p:spPr bwMode="auto">
          <a:xfrm>
            <a:off x="4797199" y="6597352"/>
            <a:ext cx="311602" cy="19581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13500000">
              <a:schemeClr val="bg2"/>
            </a:prstShdw>
          </a:effectLst>
        </p:spPr>
        <p:txBody>
          <a:bodyPr wrap="none" lIns="90000" tIns="36000" rIns="90000" bIns="36000">
            <a:spAutoFit/>
          </a:bodyPr>
          <a:lstStyle/>
          <a:p>
            <a:pPr algn="ctr">
              <a:defRPr/>
            </a:pPr>
            <a:fld id="{222CA80C-32BB-49ED-A851-5BF43CB034FC}" type="slidenum">
              <a:rPr lang="ko-KR" altLang="en-US" sz="800" b="0">
                <a:solidFill>
                  <a:prstClr val="black"/>
                </a:solidFill>
                <a:latin typeface="+mn-ea"/>
                <a:ea typeface="+mn-ea"/>
              </a:rPr>
              <a:pPr algn="ctr">
                <a:defRPr/>
              </a:pPr>
              <a:t>‹#›</a:t>
            </a:fld>
            <a:endParaRPr lang="en-US" altLang="ko-KR" sz="800" b="0" dirty="0">
              <a:solidFill>
                <a:prstClr val="black"/>
              </a:solidFill>
              <a:latin typeface="+mn-ea"/>
              <a:ea typeface="+mn-ea"/>
            </a:endParaRPr>
          </a:p>
        </p:txBody>
      </p:sp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8904" y="-7388"/>
            <a:ext cx="9906000" cy="561975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0822" y="6579514"/>
            <a:ext cx="939299" cy="216000"/>
          </a:xfrm>
          <a:prstGeom prst="rect">
            <a:avLst/>
          </a:prstGeom>
        </p:spPr>
      </p:pic>
      <p:sp>
        <p:nvSpPr>
          <p:cNvPr id="14" name="텍스트 개체 틀 19">
            <a:extLst>
              <a:ext uri="{FF2B5EF4-FFF2-40B4-BE49-F238E27FC236}">
                <a16:creationId xmlns:a16="http://schemas.microsoft.com/office/drawing/2014/main" id="{6BEA6CC4-7B5D-42C1-89CC-4D5372474D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9708" y="572858"/>
            <a:ext cx="9423242" cy="400110"/>
          </a:xfrm>
          <a:prstGeom prst="rect">
            <a:avLst/>
          </a:prstGeom>
        </p:spPr>
        <p:txBody>
          <a:bodyPr lIns="72000" tIns="108000" anchor="t" anchorCtr="0"/>
          <a:lstStyle>
            <a:lvl1pPr marL="182563" indent="-182563" algn="l">
              <a:buFont typeface="Wingdings" panose="05000000000000000000" pitchFamily="2" charset="2"/>
              <a:buChar char="§"/>
              <a:tabLst>
                <a:tab pos="0" algn="l"/>
              </a:tabLst>
              <a:defRPr sz="1600" b="1"/>
            </a:lvl1pPr>
            <a:lvl2pPr marL="457200" indent="0">
              <a:buNone/>
              <a:defRPr/>
            </a:lvl2pPr>
          </a:lstStyle>
          <a:p>
            <a:pPr lvl="0"/>
            <a:r>
              <a:rPr lang="ko-KR" altLang="en-US" dirty="0"/>
              <a:t>소주제</a:t>
            </a:r>
          </a:p>
        </p:txBody>
      </p:sp>
      <p:sp>
        <p:nvSpPr>
          <p:cNvPr id="15" name="텍스트 개체 틀 21">
            <a:extLst>
              <a:ext uri="{FF2B5EF4-FFF2-40B4-BE49-F238E27FC236}">
                <a16:creationId xmlns:a16="http://schemas.microsoft.com/office/drawing/2014/main" id="{55D5FE98-3A06-4B9D-8C1C-494B1EC85FD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309" y="922627"/>
            <a:ext cx="9270641" cy="708950"/>
          </a:xfrm>
          <a:prstGeom prst="rect">
            <a:avLst/>
          </a:prstGeom>
        </p:spPr>
        <p:txBody>
          <a:bodyPr lIns="72000" tIns="36000"/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358775" indent="-179388">
              <a:buFont typeface="Arial" panose="020B0604020202020204" pitchFamily="34" charset="0"/>
              <a:buChar char="•"/>
              <a:defRPr sz="1200"/>
            </a:lvl2pPr>
            <a:lvl3pPr marL="361950" indent="0">
              <a:buFontTx/>
              <a:buNone/>
              <a:defRPr sz="1200"/>
            </a:lvl3pPr>
          </a:lstStyle>
          <a:p>
            <a:pPr lvl="0"/>
            <a:r>
              <a:rPr lang="ko-KR" altLang="en-US" dirty="0"/>
              <a:t>내용</a:t>
            </a:r>
            <a:r>
              <a:rPr lang="en-US" altLang="ko-KR" dirty="0"/>
              <a:t>1</a:t>
            </a:r>
          </a:p>
          <a:p>
            <a:pPr lvl="1"/>
            <a:r>
              <a:rPr lang="ko-KR" altLang="en-US" dirty="0"/>
              <a:t>내용</a:t>
            </a:r>
            <a:r>
              <a:rPr lang="en-US" altLang="ko-KR" dirty="0"/>
              <a:t>2</a:t>
            </a:r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0"/>
            <a:endParaRPr lang="en-US" altLang="ko-KR" dirty="0"/>
          </a:p>
          <a:p>
            <a:pPr lvl="0"/>
            <a:endParaRPr lang="en-US" altLang="ko-KR" dirty="0"/>
          </a:p>
          <a:p>
            <a:pPr lvl="0"/>
            <a:endParaRPr lang="en-US" altLang="ko-KR" dirty="0"/>
          </a:p>
        </p:txBody>
      </p:sp>
      <p:sp>
        <p:nvSpPr>
          <p:cNvPr id="16" name="제목 9">
            <a:extLst>
              <a:ext uri="{FF2B5EF4-FFF2-40B4-BE49-F238E27FC236}">
                <a16:creationId xmlns:a16="http://schemas.microsoft.com/office/drawing/2014/main" id="{4218302E-124C-470D-BB79-F671E8D10C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0472" y="76562"/>
            <a:ext cx="8543925" cy="40011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square" anchor="ctr" anchorCtr="0">
            <a:spAutoFit/>
          </a:bodyPr>
          <a:lstStyle>
            <a:lvl1pPr algn="l">
              <a:defRPr kumimoji="0" lang="ko-KR" altLang="en-US" sz="2000" b="1" i="0" u="none" strike="noStrike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Arial" charset="0"/>
                <a:sym typeface="Wingdings" pitchFamily="2" charset="2"/>
              </a:defRPr>
            </a:lvl1pPr>
          </a:lstStyle>
          <a:p>
            <a:pPr marL="0" marR="0" lvl="0" indent="0" algn="l" defTabSz="914400" eaLnBrk="1" latinLnBrk="0" hangingPunct="1">
              <a:lnSpc>
                <a:spcPct val="100000"/>
              </a:lnSpc>
              <a:spcBef>
                <a:spcPct val="50000"/>
              </a:spcBef>
              <a:buClr>
                <a:srgbClr val="4D4D4D"/>
              </a:buClr>
              <a:buSzTx/>
              <a:buFont typeface="Arial" charset="0"/>
              <a:buNone/>
              <a:tabLst/>
            </a:pPr>
            <a:r>
              <a:rPr lang="en-US" altLang="ko-KR" dirty="0"/>
              <a:t>1. </a:t>
            </a:r>
            <a:r>
              <a:rPr lang="ko-KR" altLang="en-US" dirty="0"/>
              <a:t>주제</a:t>
            </a:r>
          </a:p>
        </p:txBody>
      </p:sp>
      <p:sp>
        <p:nvSpPr>
          <p:cNvPr id="17" name="텍스트 개체 틀 3">
            <a:extLst>
              <a:ext uri="{FF2B5EF4-FFF2-40B4-BE49-F238E27FC236}">
                <a16:creationId xmlns:a16="http://schemas.microsoft.com/office/drawing/2014/main" id="{43F91B20-EC10-49FE-B09E-1E543401CC1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19850" y="273600"/>
            <a:ext cx="3467246" cy="277200"/>
          </a:xfrm>
          <a:prstGeom prst="rect">
            <a:avLst/>
          </a:prstGeom>
        </p:spPr>
        <p:txBody>
          <a:bodyPr anchor="ctr"/>
          <a:lstStyle>
            <a:lvl1pPr marL="0" indent="0" algn="r">
              <a:buFontTx/>
              <a:buNone/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1pPr>
            <a:lvl2pPr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2pPr>
            <a:lvl3pPr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3pPr>
            <a:lvl4pPr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4pPr>
            <a:lvl5pPr>
              <a:defRPr kumimoji="1" lang="ko-KR" altLang="en-US" sz="1200" b="1" kern="12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5pPr>
          </a:lstStyle>
          <a:p>
            <a:pPr lvl="0"/>
            <a:r>
              <a:rPr lang="en-US" altLang="ko-KR" dirty="0"/>
              <a:t>I. </a:t>
            </a:r>
            <a:r>
              <a:rPr lang="ko-KR" altLang="en-US" dirty="0"/>
              <a:t>챕터 제목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0CE2578-4421-4EEC-542B-0FE1C37E4228}"/>
              </a:ext>
            </a:extLst>
          </p:cNvPr>
          <p:cNvSpPr/>
          <p:nvPr userDrawn="1"/>
        </p:nvSpPr>
        <p:spPr>
          <a:xfrm>
            <a:off x="6278805" y="12039"/>
            <a:ext cx="3632725" cy="2308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ko-KR" altLang="en-US" sz="9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인공지능 기반 </a:t>
            </a:r>
            <a:r>
              <a:rPr lang="en-US" altLang="ko-KR" sz="9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Smart </a:t>
            </a:r>
            <a:r>
              <a:rPr lang="ko-KR" altLang="en-US" sz="9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용광로 운용을 위한 </a:t>
            </a:r>
            <a:r>
              <a:rPr lang="en-US" altLang="ko-KR" sz="9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Blast Furnace GPT </a:t>
            </a:r>
            <a:r>
              <a:rPr lang="ko-KR" altLang="en-US" sz="9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개발</a:t>
            </a:r>
            <a:endParaRPr lang="ko-KR" altLang="en-US" sz="9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itchFamily="2" charset="-127"/>
              <a:ea typeface="KoPub돋움체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554939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85131E26-A4E2-4298-92B4-9F349C0093F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494"/>
            <a:ext cx="9906000" cy="561975"/>
          </a:xfrm>
          <a:prstGeom prst="rect">
            <a:avLst/>
          </a:prstGeom>
        </p:spPr>
      </p:pic>
      <p:sp>
        <p:nvSpPr>
          <p:cNvPr id="3" name="제목 11">
            <a:extLst>
              <a:ext uri="{FF2B5EF4-FFF2-40B4-BE49-F238E27FC236}">
                <a16:creationId xmlns:a16="http://schemas.microsoft.com/office/drawing/2014/main" id="{FDEECD15-C627-46E2-AC36-835BB0734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600" y="82800"/>
            <a:ext cx="9450000" cy="399600"/>
          </a:xfrm>
          <a:prstGeom prst="rect">
            <a:avLst/>
          </a:prstGeom>
        </p:spPr>
        <p:txBody>
          <a:bodyPr anchor="ctr"/>
          <a:lstStyle>
            <a:lvl1pPr algn="l">
              <a:defRPr kumimoji="0" lang="ko-KR" altLang="en-US" sz="2000" b="1" kern="1200" dirty="0">
                <a:solidFill>
                  <a:schemeClr val="bg1"/>
                </a:solidFill>
                <a:latin typeface="+mj-lt"/>
                <a:ea typeface="+mn-ea"/>
                <a:cs typeface="Arial" charset="0"/>
                <a:sym typeface="Wingdings" pitchFamily="2" charset="2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4" name="텍스트 개체 틀 14">
            <a:extLst>
              <a:ext uri="{FF2B5EF4-FFF2-40B4-BE49-F238E27FC236}">
                <a16:creationId xmlns:a16="http://schemas.microsoft.com/office/drawing/2014/main" id="{93958E5A-13D2-45DF-9F71-C32F6B2E1B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785" y="577144"/>
            <a:ext cx="9216000" cy="361544"/>
          </a:xfrm>
          <a:prstGeom prst="rect">
            <a:avLst/>
          </a:prstGeom>
        </p:spPr>
        <p:txBody>
          <a:bodyPr/>
          <a:lstStyle>
            <a:lvl1pPr marL="180000" indent="-180000">
              <a:buFont typeface="Wingdings" panose="05000000000000000000" pitchFamily="2" charset="2"/>
              <a:buChar char="§"/>
              <a:defRPr kumimoji="1" lang="ko-KR" altLang="en-US" sz="16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rial" charset="0"/>
                <a:sym typeface="Wingdings" pitchFamily="2" charset="2"/>
              </a:defRPr>
            </a:lvl1pPr>
            <a:lvl2pPr marL="360000" indent="0">
              <a:buNone/>
              <a:defRPr sz="1400"/>
            </a:lvl2pPr>
            <a:lvl3pPr marL="900000" indent="-180000">
              <a:defRPr sz="1200"/>
            </a:lvl3pPr>
            <a:lvl4pPr marL="1260000" indent="-180000">
              <a:buFont typeface="Wingdings" panose="05000000000000000000" pitchFamily="2" charset="2"/>
              <a:buChar char="Ø"/>
              <a:defRPr sz="1200"/>
            </a:lvl4pPr>
            <a:lvl5pPr marL="1620000" indent="-180000">
              <a:defRPr sz="1200"/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5" name="텍스트 개체 틀 3">
            <a:extLst>
              <a:ext uri="{FF2B5EF4-FFF2-40B4-BE49-F238E27FC236}">
                <a16:creationId xmlns:a16="http://schemas.microsoft.com/office/drawing/2014/main" id="{7FB1399A-A72F-4F8D-AEEA-73D262544B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969600" y="273600"/>
            <a:ext cx="2952000" cy="277200"/>
          </a:xfrm>
          <a:prstGeom prst="rect">
            <a:avLst/>
          </a:prstGeom>
        </p:spPr>
        <p:txBody>
          <a:bodyPr anchor="ctr"/>
          <a:lstStyle>
            <a:lvl1pPr marL="0" indent="0" algn="r">
              <a:buFontTx/>
              <a:buNone/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1pPr>
            <a:lvl2pPr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2pPr>
            <a:lvl3pPr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3pPr>
            <a:lvl4pPr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4pPr>
            <a:lvl5pPr>
              <a:defRPr kumimoji="1" lang="ko-KR" altLang="en-US" sz="1200" b="1" kern="12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6" name="텍스트 개체 틀 14">
            <a:extLst>
              <a:ext uri="{FF2B5EF4-FFF2-40B4-BE49-F238E27FC236}">
                <a16:creationId xmlns:a16="http://schemas.microsoft.com/office/drawing/2014/main" id="{A1702005-1CD5-48E1-9BBF-08CD8B2BBAE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18600" y="875624"/>
            <a:ext cx="9216000" cy="820453"/>
          </a:xfrm>
          <a:prstGeom prst="rect">
            <a:avLst/>
          </a:prstGeo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kumimoji="1" lang="ko-KR" altLang="en-US" sz="1400" b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rial" charset="0"/>
                <a:sym typeface="Wingdings" pitchFamily="2" charset="2"/>
              </a:defRPr>
            </a:lvl1pPr>
            <a:lvl2pPr marL="360000" indent="0">
              <a:buNone/>
              <a:defRPr sz="1400"/>
            </a:lvl2pPr>
            <a:lvl3pPr marL="900000" indent="-180000">
              <a:defRPr sz="1200"/>
            </a:lvl3pPr>
            <a:lvl4pPr marL="1260000" indent="-180000">
              <a:buFont typeface="Wingdings" panose="05000000000000000000" pitchFamily="2" charset="2"/>
              <a:buChar char="Ø"/>
              <a:defRPr sz="1200"/>
            </a:lvl4pPr>
            <a:lvl5pPr marL="1620000" indent="-180000">
              <a:defRPr sz="1200"/>
            </a:lvl5pPr>
          </a:lstStyle>
          <a:p>
            <a:pPr lvl="0"/>
            <a:r>
              <a:rPr lang="en-US" altLang="ko-KR" dirty="0"/>
              <a:t>1</a:t>
            </a:r>
            <a:r>
              <a:rPr lang="ko-KR" altLang="en-US" dirty="0"/>
              <a:t>마스터 텍스트 스타일 편집</a:t>
            </a:r>
            <a:endParaRPr lang="en-US" altLang="ko-KR" dirty="0"/>
          </a:p>
          <a:p>
            <a:pPr lvl="0"/>
            <a:r>
              <a:rPr lang="en-US" altLang="ko-KR" dirty="0"/>
              <a:t>2</a:t>
            </a:r>
          </a:p>
          <a:p>
            <a:pPr lvl="0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7" name="Text Box 1068">
            <a:extLst>
              <a:ext uri="{FF2B5EF4-FFF2-40B4-BE49-F238E27FC236}">
                <a16:creationId xmlns:a16="http://schemas.microsoft.com/office/drawing/2014/main" id="{10673722-7194-48C8-B01E-7ACF5E1EB2D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-1513" y="6613337"/>
            <a:ext cx="4162425" cy="2000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23" tIns="45712" rIns="91423" bIns="45712">
            <a:spAutoFit/>
          </a:bodyPr>
          <a:lstStyle/>
          <a:p>
            <a:pPr eaLnBrk="0" latinLnBrk="0" hangingPunct="0">
              <a:defRPr/>
            </a:pPr>
            <a:r>
              <a:rPr kumimoji="0" lang="ko-KR" altLang="en-US" sz="700" b="0" i="0" dirty="0">
                <a:latin typeface="맑은 고딕"/>
                <a:ea typeface="맑은 고딕"/>
              </a:rPr>
              <a:t>  </a:t>
            </a:r>
            <a:r>
              <a:rPr kumimoji="0" lang="en-US" altLang="ko-KR" sz="700" b="0" i="0" dirty="0">
                <a:latin typeface="맑은 고딕"/>
                <a:ea typeface="맑은 고딕"/>
              </a:rPr>
              <a:t>Copyright 2026. </a:t>
            </a:r>
            <a:r>
              <a:rPr kumimoji="0" lang="en-US" altLang="ko-KR" sz="700" b="0" i="0" dirty="0" err="1">
                <a:latin typeface="맑은 고딕"/>
                <a:ea typeface="맑은 고딕"/>
              </a:rPr>
              <a:t>ECMiner</a:t>
            </a:r>
            <a:r>
              <a:rPr kumimoji="0" lang="en-US" altLang="ko-KR" sz="700" b="0" i="0" baseline="0" dirty="0">
                <a:latin typeface="맑은 고딕"/>
                <a:ea typeface="맑은 고딕"/>
              </a:rPr>
              <a:t> Co., Ltd. a</a:t>
            </a:r>
            <a:r>
              <a:rPr kumimoji="0" lang="en-US" altLang="ko-KR" sz="700" b="0" i="0" dirty="0">
                <a:latin typeface="맑은 고딕"/>
                <a:ea typeface="맑은 고딕"/>
              </a:rPr>
              <a:t>ll rights reserved.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97681F6E-FA43-4B5F-A92F-5CD53E00B33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797199" y="6597352"/>
            <a:ext cx="311602" cy="19581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13500000">
              <a:schemeClr val="bg2"/>
            </a:prstShdw>
          </a:effectLst>
        </p:spPr>
        <p:txBody>
          <a:bodyPr wrap="none" lIns="90000" tIns="36000" rIns="90000" bIns="36000">
            <a:spAutoFit/>
          </a:bodyPr>
          <a:lstStyle/>
          <a:p>
            <a:pPr algn="ctr">
              <a:defRPr/>
            </a:pPr>
            <a:fld id="{222CA80C-32BB-49ED-A851-5BF43CB034FC}" type="slidenum">
              <a:rPr lang="ko-KR" altLang="en-US" sz="800" b="0">
                <a:solidFill>
                  <a:prstClr val="black"/>
                </a:solidFill>
                <a:latin typeface="+mn-ea"/>
                <a:ea typeface="+mn-ea"/>
              </a:rPr>
              <a:pPr algn="ctr">
                <a:defRPr/>
              </a:pPr>
              <a:t>‹#›</a:t>
            </a:fld>
            <a:endParaRPr lang="en-US" altLang="ko-KR" sz="800" b="0" dirty="0">
              <a:solidFill>
                <a:prstClr val="black"/>
              </a:solidFill>
              <a:latin typeface="+mn-ea"/>
              <a:ea typeface="+mn-ea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E59124E-8DD9-4923-A419-5B89AD8776B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0058" y="6588750"/>
            <a:ext cx="939299" cy="2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5860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1068"/>
          <p:cNvSpPr txBox="1">
            <a:spLocks noChangeArrowheads="1"/>
          </p:cNvSpPr>
          <p:nvPr userDrawn="1"/>
        </p:nvSpPr>
        <p:spPr bwMode="auto">
          <a:xfrm>
            <a:off x="-1513" y="6613337"/>
            <a:ext cx="4162425" cy="2000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23" tIns="45712" rIns="91423" bIns="45712">
            <a:spAutoFit/>
          </a:bodyPr>
          <a:lstStyle/>
          <a:p>
            <a:pPr eaLnBrk="0" latinLnBrk="0" hangingPunct="0">
              <a:defRPr/>
            </a:pPr>
            <a:r>
              <a:rPr kumimoji="0" lang="ko-KR" altLang="en-US" sz="700" b="0" i="0" dirty="0">
                <a:latin typeface="맑은 고딕"/>
                <a:ea typeface="맑은 고딕"/>
              </a:rPr>
              <a:t>  </a:t>
            </a:r>
            <a:r>
              <a:rPr kumimoji="0" lang="en-US" altLang="ko-KR" sz="700" b="0" i="0" dirty="0">
                <a:latin typeface="맑은 고딕"/>
                <a:ea typeface="맑은 고딕"/>
              </a:rPr>
              <a:t>Copyright 2026. ECMiner</a:t>
            </a:r>
            <a:r>
              <a:rPr kumimoji="0" lang="en-US" altLang="ko-KR" sz="700" b="0" i="0" baseline="0" dirty="0">
                <a:latin typeface="맑은 고딕"/>
                <a:ea typeface="맑은 고딕"/>
              </a:rPr>
              <a:t> Co., Ltd. a</a:t>
            </a:r>
            <a:r>
              <a:rPr kumimoji="0" lang="en-US" altLang="ko-KR" sz="700" b="0" i="0" dirty="0">
                <a:latin typeface="맑은 고딕"/>
                <a:ea typeface="맑은 고딕"/>
              </a:rPr>
              <a:t>ll rights reserved.</a:t>
            </a:r>
          </a:p>
        </p:txBody>
      </p:sp>
      <p:sp>
        <p:nvSpPr>
          <p:cNvPr id="7" name="Rectangle 6"/>
          <p:cNvSpPr>
            <a:spLocks noChangeArrowheads="1"/>
          </p:cNvSpPr>
          <p:nvPr userDrawn="1"/>
        </p:nvSpPr>
        <p:spPr bwMode="auto">
          <a:xfrm>
            <a:off x="4797199" y="6597352"/>
            <a:ext cx="311602" cy="19581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13500000">
              <a:schemeClr val="bg2"/>
            </a:prstShdw>
          </a:effectLst>
        </p:spPr>
        <p:txBody>
          <a:bodyPr wrap="none" lIns="90000" tIns="36000" rIns="90000" bIns="36000">
            <a:spAutoFit/>
          </a:bodyPr>
          <a:lstStyle/>
          <a:p>
            <a:pPr algn="ctr">
              <a:defRPr/>
            </a:pPr>
            <a:fld id="{222CA80C-32BB-49ED-A851-5BF43CB034FC}" type="slidenum">
              <a:rPr lang="ko-KR" altLang="en-US" sz="800" b="0">
                <a:solidFill>
                  <a:prstClr val="black"/>
                </a:solidFill>
                <a:latin typeface="+mn-ea"/>
                <a:ea typeface="+mn-ea"/>
              </a:rPr>
              <a:pPr algn="ctr">
                <a:defRPr/>
              </a:pPr>
              <a:t>‹#›</a:t>
            </a:fld>
            <a:endParaRPr lang="en-US" altLang="ko-KR" sz="800" b="0" dirty="0">
              <a:solidFill>
                <a:prstClr val="black"/>
              </a:solidFill>
              <a:latin typeface="+mn-ea"/>
              <a:ea typeface="+mn-ea"/>
            </a:endParaRPr>
          </a:p>
        </p:txBody>
      </p:sp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494"/>
            <a:ext cx="9906000" cy="561975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0822" y="6579514"/>
            <a:ext cx="939299" cy="216000"/>
          </a:xfrm>
          <a:prstGeom prst="rect">
            <a:avLst/>
          </a:prstGeom>
        </p:spPr>
      </p:pic>
      <p:sp>
        <p:nvSpPr>
          <p:cNvPr id="14" name="텍스트 개체 틀 19">
            <a:extLst>
              <a:ext uri="{FF2B5EF4-FFF2-40B4-BE49-F238E27FC236}">
                <a16:creationId xmlns:a16="http://schemas.microsoft.com/office/drawing/2014/main" id="{6BEA6CC4-7B5D-42C1-89CC-4D5372474D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9708" y="559310"/>
            <a:ext cx="9423242" cy="400110"/>
          </a:xfrm>
          <a:prstGeom prst="rect">
            <a:avLst/>
          </a:prstGeom>
        </p:spPr>
        <p:txBody>
          <a:bodyPr lIns="72000" tIns="108000" anchor="ctr"/>
          <a:lstStyle>
            <a:lvl1pPr marL="182563" indent="-182563" algn="l">
              <a:buFont typeface="Wingdings" panose="05000000000000000000" pitchFamily="2" charset="2"/>
              <a:buChar char="§"/>
              <a:tabLst>
                <a:tab pos="0" algn="l"/>
              </a:tabLst>
              <a:defRPr sz="1600" b="1"/>
            </a:lvl1pPr>
            <a:lvl2pPr marL="457200" indent="0">
              <a:buNone/>
              <a:defRPr/>
            </a:lvl2pPr>
          </a:lstStyle>
          <a:p>
            <a:pPr lvl="0"/>
            <a:r>
              <a:rPr lang="ko-KR" altLang="en-US" dirty="0"/>
              <a:t>소주제</a:t>
            </a:r>
          </a:p>
        </p:txBody>
      </p:sp>
      <p:sp>
        <p:nvSpPr>
          <p:cNvPr id="15" name="텍스트 개체 틀 21">
            <a:extLst>
              <a:ext uri="{FF2B5EF4-FFF2-40B4-BE49-F238E27FC236}">
                <a16:creationId xmlns:a16="http://schemas.microsoft.com/office/drawing/2014/main" id="{55D5FE98-3A06-4B9D-8C1C-494B1EC85FD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309" y="979158"/>
            <a:ext cx="9270641" cy="708950"/>
          </a:xfrm>
          <a:prstGeom prst="rect">
            <a:avLst/>
          </a:prstGeom>
        </p:spPr>
        <p:txBody>
          <a:bodyPr lIns="72000" tIns="36000"/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358775" indent="-179388">
              <a:buFont typeface="Arial" panose="020B0604020202020204" pitchFamily="34" charset="0"/>
              <a:buChar char="•"/>
              <a:defRPr sz="1400"/>
            </a:lvl2pPr>
            <a:lvl3pPr marL="542925" indent="-180975">
              <a:buFont typeface="Wingdings" panose="05000000000000000000" pitchFamily="2" charset="2"/>
              <a:buChar char="Ø"/>
              <a:defRPr sz="1400"/>
            </a:lvl3pPr>
          </a:lstStyle>
          <a:p>
            <a:pPr lvl="0"/>
            <a:r>
              <a:rPr lang="ko-KR" altLang="en-US" dirty="0"/>
              <a:t>내용</a:t>
            </a:r>
            <a:r>
              <a:rPr lang="en-US" altLang="ko-KR" dirty="0"/>
              <a:t>1</a:t>
            </a:r>
          </a:p>
          <a:p>
            <a:pPr lvl="1"/>
            <a:r>
              <a:rPr lang="ko-KR" altLang="en-US" dirty="0"/>
              <a:t>내용</a:t>
            </a:r>
            <a:r>
              <a:rPr lang="en-US" altLang="ko-KR" dirty="0"/>
              <a:t>2</a:t>
            </a:r>
          </a:p>
          <a:p>
            <a:pPr lvl="2"/>
            <a:endParaRPr lang="en-US" altLang="ko-KR" dirty="0"/>
          </a:p>
          <a:p>
            <a:pPr lvl="0"/>
            <a:endParaRPr lang="en-US" altLang="ko-KR" dirty="0"/>
          </a:p>
          <a:p>
            <a:pPr lvl="0"/>
            <a:endParaRPr lang="en-US" altLang="ko-KR" dirty="0"/>
          </a:p>
          <a:p>
            <a:pPr lvl="0"/>
            <a:endParaRPr lang="en-US" altLang="ko-KR" dirty="0"/>
          </a:p>
        </p:txBody>
      </p:sp>
      <p:sp>
        <p:nvSpPr>
          <p:cNvPr id="16" name="제목 9">
            <a:extLst>
              <a:ext uri="{FF2B5EF4-FFF2-40B4-BE49-F238E27FC236}">
                <a16:creationId xmlns:a16="http://schemas.microsoft.com/office/drawing/2014/main" id="{4218302E-124C-470D-BB79-F671E8D10C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0472" y="76562"/>
            <a:ext cx="8543925" cy="40011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 algn="l">
              <a:defRPr kumimoji="0" lang="ko-KR" altLang="en-US" sz="2000" b="1" i="0" u="none" strike="noStrike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Arial" charset="0"/>
                <a:sym typeface="Wingdings" pitchFamily="2" charset="2"/>
              </a:defRPr>
            </a:lvl1pPr>
          </a:lstStyle>
          <a:p>
            <a:pPr marL="0" marR="0" lvl="0" indent="0" algn="l" defTabSz="914400" eaLnBrk="1" latinLnBrk="0" hangingPunct="1">
              <a:lnSpc>
                <a:spcPct val="100000"/>
              </a:lnSpc>
              <a:spcBef>
                <a:spcPct val="50000"/>
              </a:spcBef>
              <a:buClr>
                <a:srgbClr val="4D4D4D"/>
              </a:buClr>
              <a:buSzTx/>
              <a:buFont typeface="Arial" charset="0"/>
              <a:buNone/>
              <a:tabLst/>
            </a:pPr>
            <a:r>
              <a:rPr lang="en-US" altLang="ko-KR" dirty="0"/>
              <a:t>1. </a:t>
            </a:r>
            <a:r>
              <a:rPr lang="ko-KR" altLang="en-US" dirty="0"/>
              <a:t>주제</a:t>
            </a:r>
          </a:p>
        </p:txBody>
      </p:sp>
      <p:sp>
        <p:nvSpPr>
          <p:cNvPr id="17" name="텍스트 개체 틀 3">
            <a:extLst>
              <a:ext uri="{FF2B5EF4-FFF2-40B4-BE49-F238E27FC236}">
                <a16:creationId xmlns:a16="http://schemas.microsoft.com/office/drawing/2014/main" id="{43F91B20-EC10-49FE-B09E-1E543401CC1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35096" y="273600"/>
            <a:ext cx="2952000" cy="277200"/>
          </a:xfrm>
          <a:prstGeom prst="rect">
            <a:avLst/>
          </a:prstGeom>
        </p:spPr>
        <p:txBody>
          <a:bodyPr anchor="ctr"/>
          <a:lstStyle>
            <a:lvl1pPr marL="0" indent="0" algn="r">
              <a:buFontTx/>
              <a:buNone/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1pPr>
            <a:lvl2pPr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2pPr>
            <a:lvl3pPr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3pPr>
            <a:lvl4pPr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4pPr>
            <a:lvl5pPr>
              <a:defRPr kumimoji="1" lang="ko-KR" altLang="en-US" sz="1200" b="1" kern="12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5pPr>
          </a:lstStyle>
          <a:p>
            <a:pPr lvl="0"/>
            <a:r>
              <a:rPr lang="en-US" altLang="ko-KR" dirty="0"/>
              <a:t>I. </a:t>
            </a:r>
            <a:r>
              <a:rPr lang="ko-KR" altLang="en-US" dirty="0"/>
              <a:t>챕터 제목</a:t>
            </a:r>
          </a:p>
        </p:txBody>
      </p:sp>
    </p:spTree>
    <p:extLst>
      <p:ext uri="{BB962C8B-B14F-4D97-AF65-F5344CB8AC3E}">
        <p14:creationId xmlns:p14="http://schemas.microsoft.com/office/powerpoint/2010/main" val="11036083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5356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  <p:sldLayoutId id="2147483802" r:id="rId2"/>
    <p:sldLayoutId id="2147483803" r:id="rId3"/>
    <p:sldLayoutId id="2147483804" r:id="rId4"/>
    <p:sldLayoutId id="2147483805" r:id="rId5"/>
    <p:sldLayoutId id="2147483807" r:id="rId6"/>
    <p:sldLayoutId id="2147483812" r:id="rId7"/>
    <p:sldLayoutId id="2147483813" r:id="rId8"/>
    <p:sldLayoutId id="2147483815" r:id="rId9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12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667857" y="1615031"/>
            <a:ext cx="6553397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4400" dirty="0" err="1">
                <a:solidFill>
                  <a:srgbClr val="CCFF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ECMiner</a:t>
            </a:r>
            <a:r>
              <a:rPr lang="en-US" altLang="ko-KR" sz="4400" dirty="0">
                <a:solidFill>
                  <a:srgbClr val="CCFF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™ AIDA </a:t>
            </a:r>
            <a:r>
              <a:rPr lang="ko-KR" altLang="en-US" sz="4400" dirty="0">
                <a:solidFill>
                  <a:srgbClr val="CCFF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소개</a:t>
            </a:r>
            <a:endParaRPr lang="en-US" altLang="ko-KR" sz="4400" dirty="0">
              <a:solidFill>
                <a:srgbClr val="CCFF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en-US" altLang="ko-KR" sz="2400" dirty="0">
                <a:solidFill>
                  <a:srgbClr val="CCFF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(AIDA: Artificial Intelligence Data Analyzer)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9125" y="4509120"/>
            <a:ext cx="20313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2400" dirty="0">
                <a:solidFill>
                  <a:schemeClr val="bg1"/>
                </a:solidFill>
                <a:latin typeface="+mn-ea"/>
                <a:ea typeface="+mn-ea"/>
                <a:cs typeface="Open Sans" panose="020B0606030504020204" pitchFamily="34" charset="0"/>
              </a:rPr>
              <a:t>2026. 04. 27</a:t>
            </a:r>
          </a:p>
          <a:p>
            <a:pPr algn="r"/>
            <a:r>
              <a:rPr lang="ko-KR" altLang="en-US" sz="2400" dirty="0">
                <a:solidFill>
                  <a:schemeClr val="bg1"/>
                </a:solidFill>
                <a:latin typeface="+mn-ea"/>
                <a:ea typeface="+mn-ea"/>
                <a:cs typeface="Open Sans" panose="020B0606030504020204" pitchFamily="34" charset="0"/>
              </a:rPr>
              <a:t>㈜</a:t>
            </a:r>
            <a:r>
              <a:rPr lang="ko-KR" altLang="en-US" sz="2400" dirty="0" err="1">
                <a:solidFill>
                  <a:schemeClr val="bg1"/>
                </a:solidFill>
                <a:latin typeface="+mn-ea"/>
                <a:ea typeface="+mn-ea"/>
                <a:cs typeface="Open Sans" panose="020B0606030504020204" pitchFamily="34" charset="0"/>
              </a:rPr>
              <a:t>이씨마이너</a:t>
            </a:r>
            <a:endParaRPr lang="en-US" altLang="ko-KR" sz="2400" dirty="0">
              <a:solidFill>
                <a:schemeClr val="bg1"/>
              </a:solidFill>
              <a:latin typeface="+mn-ea"/>
              <a:ea typeface="+mn-ea"/>
              <a:cs typeface="Open Sans" panose="020B0606030504020204" pitchFamily="34" charset="0"/>
            </a:endParaRPr>
          </a:p>
        </p:txBody>
      </p:sp>
      <p:pic>
        <p:nvPicPr>
          <p:cNvPr id="6" name="Picture 8" descr="logo_goodmark_%5b245%5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0520" y="262067"/>
            <a:ext cx="1143000" cy="5715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17"/>
          <p:cNvPicPr>
            <a:picLocks noChangeAspect="1" noChangeArrowheads="1"/>
          </p:cNvPicPr>
          <p:nvPr/>
        </p:nvPicPr>
        <p:blipFill rotWithShape="1">
          <a:blip r:embed="rId3" cstate="print"/>
          <a:srcRect l="959" t="575" r="68657" b="78969"/>
          <a:stretch/>
        </p:blipFill>
        <p:spPr bwMode="auto">
          <a:xfrm>
            <a:off x="7597286" y="260648"/>
            <a:ext cx="647502" cy="57291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9276217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55BF87F9-F1FD-4CB6-B0A2-86217A2ADF5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54367" y="1391357"/>
            <a:ext cx="4953000" cy="419702"/>
          </a:xfrm>
        </p:spPr>
        <p:txBody>
          <a:bodyPr/>
          <a:lstStyle/>
          <a:p>
            <a:r>
              <a:rPr lang="en-US" altLang="ko-KR" sz="2400" dirty="0" err="1">
                <a:solidFill>
                  <a:srgbClr val="1F49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ECMiner</a:t>
            </a:r>
            <a:r>
              <a:rPr lang="en-US" altLang="ko-KR" sz="2400" dirty="0">
                <a:solidFill>
                  <a:srgbClr val="1F49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™ AIDA </a:t>
            </a:r>
            <a:r>
              <a:rPr lang="ko-KR" altLang="en-US" sz="2400" dirty="0">
                <a:solidFill>
                  <a:srgbClr val="1F49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소개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16F4872-AF76-F30A-A582-27B531C81E0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54367" y="1952142"/>
            <a:ext cx="6569545" cy="3528392"/>
          </a:xfrm>
        </p:spPr>
        <p:txBody>
          <a:bodyPr/>
          <a:lstStyle/>
          <a:p>
            <a:pPr marL="266700" indent="-266700" eaLnBrk="0" latinLnBrk="0" hangingPunct="0">
              <a:spcBef>
                <a:spcPts val="600"/>
              </a:spcBef>
              <a:buAutoNum type="arabicPeriod"/>
            </a:pPr>
            <a:r>
              <a:rPr kumimoji="0" lang="en-US" altLang="ko-KR" sz="1800" dirty="0" err="1">
                <a:solidFill>
                  <a:schemeClr val="tx1"/>
                </a:solidFill>
                <a:latin typeface="+mn-ea"/>
                <a:ea typeface="+mn-ea"/>
                <a:cs typeface="Arial" charset="0"/>
              </a:rPr>
              <a:t>ECMiner</a:t>
            </a:r>
            <a:r>
              <a:rPr kumimoji="0" lang="en-US" altLang="ko-KR" sz="1800" dirty="0">
                <a:solidFill>
                  <a:schemeClr val="tx1"/>
                </a:solidFill>
                <a:latin typeface="+mn-ea"/>
                <a:ea typeface="+mn-ea"/>
                <a:cs typeface="Arial" charset="0"/>
              </a:rPr>
              <a:t>™ AIDA</a:t>
            </a:r>
            <a:r>
              <a:rPr kumimoji="0" lang="ko-KR" altLang="en-US" sz="1800" dirty="0">
                <a:solidFill>
                  <a:schemeClr val="tx1"/>
                </a:solidFill>
                <a:latin typeface="+mn-ea"/>
                <a:ea typeface="+mn-ea"/>
                <a:cs typeface="Arial" charset="0"/>
              </a:rPr>
              <a:t> 개요</a:t>
            </a:r>
            <a:endParaRPr kumimoji="0" lang="en-US" altLang="ko-KR" sz="1800" dirty="0">
              <a:solidFill>
                <a:schemeClr val="tx1"/>
              </a:solidFill>
              <a:latin typeface="+mn-ea"/>
              <a:ea typeface="+mn-ea"/>
              <a:cs typeface="Arial" charset="0"/>
            </a:endParaRPr>
          </a:p>
          <a:p>
            <a:pPr marL="266700" indent="-266700" eaLnBrk="0" latinLnBrk="0" hangingPunct="0">
              <a:spcBef>
                <a:spcPts val="600"/>
              </a:spcBef>
              <a:buAutoNum type="arabicPeriod"/>
            </a:pPr>
            <a:r>
              <a:rPr kumimoji="0" lang="en-US" altLang="ko-KR" sz="1800" b="1" dirty="0" err="1">
                <a:solidFill>
                  <a:schemeClr val="tx1"/>
                </a:solidFill>
                <a:latin typeface="+mn-ea"/>
                <a:ea typeface="+mn-ea"/>
                <a:cs typeface="Arial" charset="0"/>
              </a:rPr>
              <a:t>ECMiner</a:t>
            </a:r>
            <a:r>
              <a:rPr kumimoji="0" lang="en-US" altLang="ko-KR" sz="1800" b="1" dirty="0">
                <a:solidFill>
                  <a:schemeClr val="tx1"/>
                </a:solidFill>
                <a:latin typeface="+mn-ea"/>
                <a:ea typeface="+mn-ea"/>
                <a:cs typeface="Arial" charset="0"/>
              </a:rPr>
              <a:t>™ AIDA </a:t>
            </a:r>
            <a:r>
              <a:rPr kumimoji="0" lang="ko-KR" altLang="en-US" sz="1800" b="1" dirty="0">
                <a:solidFill>
                  <a:schemeClr val="tx1"/>
                </a:solidFill>
                <a:latin typeface="+mn-ea"/>
                <a:ea typeface="+mn-ea"/>
                <a:cs typeface="Arial" charset="0"/>
              </a:rPr>
              <a:t>주요 기능</a:t>
            </a:r>
            <a:endParaRPr lang="en-US" altLang="ko-KR" sz="1600" b="1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266700" indent="-266700" eaLnBrk="0" latinLnBrk="0" hangingPunct="0">
              <a:spcBef>
                <a:spcPts val="600"/>
              </a:spcBef>
              <a:buAutoNum type="arabicPeriod"/>
            </a:pPr>
            <a:r>
              <a:rPr lang="ko-KR" altLang="en-US" sz="1800" dirty="0">
                <a:solidFill>
                  <a:schemeClr val="tx1"/>
                </a:solidFill>
                <a:latin typeface="+mn-ea"/>
                <a:ea typeface="+mn-ea"/>
              </a:rPr>
              <a:t>기대효과</a:t>
            </a:r>
            <a:endParaRPr lang="en-US" altLang="ko-KR" sz="180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266700" indent="-266700" eaLnBrk="0" latinLnBrk="0" hangingPunct="0">
              <a:spcBef>
                <a:spcPts val="600"/>
              </a:spcBef>
              <a:buAutoNum type="arabicPeriod"/>
            </a:pPr>
            <a:r>
              <a:rPr lang="ko-KR" altLang="en-US" sz="1800" dirty="0">
                <a:solidFill>
                  <a:schemeClr val="tx1"/>
                </a:solidFill>
                <a:latin typeface="+mn-ea"/>
                <a:ea typeface="+mn-ea"/>
              </a:rPr>
              <a:t>시연</a:t>
            </a:r>
            <a:endParaRPr lang="en-US" altLang="ko-KR" sz="18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73414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CA662-D67C-07C7-E555-1CD611405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F6BD3AF-B000-136F-1AAE-CC6A1F6EDC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데이터 분석</a:t>
            </a:r>
            <a:r>
              <a:rPr lang="en-US" altLang="ko-KR" dirty="0"/>
              <a:t>, </a:t>
            </a:r>
            <a:r>
              <a:rPr lang="ko-KR" altLang="en-US" dirty="0"/>
              <a:t>왜 아직도 어렵게 하고 있을까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5FB7DF48-A569-7516-5198-8D283B410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+mn-ea"/>
              </a:rPr>
              <a:t>1. </a:t>
            </a:r>
            <a:r>
              <a:rPr lang="en-US" altLang="ko-KR" dirty="0" err="1">
                <a:solidFill>
                  <a:schemeClr val="bg1"/>
                </a:solidFill>
                <a:latin typeface="+mn-ea"/>
              </a:rPr>
              <a:t>ECMiner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™ AIDA</a:t>
            </a:r>
            <a:r>
              <a:rPr lang="ko-KR" altLang="en-US">
                <a:solidFill>
                  <a:schemeClr val="bg1"/>
                </a:solidFill>
                <a:latin typeface="+mn-ea"/>
              </a:rPr>
              <a:t> 개요</a:t>
            </a:r>
            <a:endParaRPr lang="ko-KR" altLang="en-US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5D4936E-B673-2187-7EF2-0BE020EFC79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hape100">
            <a:extLst>
              <a:ext uri="{FF2B5EF4-FFF2-40B4-BE49-F238E27FC236}">
                <a16:creationId xmlns:a16="http://schemas.microsoft.com/office/drawing/2014/main" id="{297D96F7-AC37-D45D-F350-9DD5DC254556}"/>
              </a:ext>
            </a:extLst>
          </p:cNvPr>
          <p:cNvSpPr/>
          <p:nvPr/>
        </p:nvSpPr>
        <p:spPr>
          <a:xfrm>
            <a:off x="508000" y="41910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ko-KR" altLang="en-US" sz="1400" b="1" dirty="0">
                <a:solidFill>
                  <a:srgbClr val="1F497D"/>
                </a:solidFill>
                <a:latin typeface="+mn-ea"/>
                <a:ea typeface="+mn-ea"/>
              </a:rPr>
              <a:t>AIDA MVP 핵심 분석 흐름</a:t>
            </a:r>
          </a:p>
        </p:txBody>
      </p:sp>
      <p:sp>
        <p:nvSpPr>
          <p:cNvPr id="10" name="Shape101">
            <a:extLst>
              <a:ext uri="{FF2B5EF4-FFF2-40B4-BE49-F238E27FC236}">
                <a16:creationId xmlns:a16="http://schemas.microsoft.com/office/drawing/2014/main" id="{707DD7FF-AA71-C13B-4997-1FE6DE23A3E0}"/>
              </a:ext>
            </a:extLst>
          </p:cNvPr>
          <p:cNvSpPr/>
          <p:nvPr/>
        </p:nvSpPr>
        <p:spPr>
          <a:xfrm>
            <a:off x="444500" y="4508500"/>
            <a:ext cx="1397000" cy="889000"/>
          </a:xfrm>
          <a:prstGeom prst="roundRect">
            <a:avLst/>
          </a:prstGeom>
          <a:solidFill>
            <a:srgbClr val="1F497D"/>
          </a:solidFill>
          <a:ln>
            <a:noFill/>
          </a:ln>
        </p:spPr>
        <p:txBody>
          <a:bodyPr wrap="square" lIns="101600" tIns="76200" rIns="101600" bIns="76200" anchor="ctr"/>
          <a:lstStyle/>
          <a:p>
            <a:pPr algn="ctr"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+mn-ea"/>
                <a:ea typeface="+mn-ea"/>
              </a:rPr>
              <a:t>데이터 이해</a:t>
            </a:r>
          </a:p>
        </p:txBody>
      </p:sp>
      <p:sp>
        <p:nvSpPr>
          <p:cNvPr id="11" name="Shape102">
            <a:extLst>
              <a:ext uri="{FF2B5EF4-FFF2-40B4-BE49-F238E27FC236}">
                <a16:creationId xmlns:a16="http://schemas.microsoft.com/office/drawing/2014/main" id="{4457FB37-FA1F-266D-D1BD-AC8F9403FDDA}"/>
              </a:ext>
            </a:extLst>
          </p:cNvPr>
          <p:cNvSpPr/>
          <p:nvPr/>
        </p:nvSpPr>
        <p:spPr>
          <a:xfrm>
            <a:off x="1892300" y="4775200"/>
            <a:ext cx="406400" cy="355600"/>
          </a:xfrm>
          <a:prstGeom prst="rightArrow">
            <a:avLst/>
          </a:prstGeom>
          <a:solidFill>
            <a:srgbClr val="1F497D"/>
          </a:solidFill>
          <a:ln>
            <a:noFill/>
          </a:ln>
        </p:spPr>
        <p:txBody>
          <a:bodyPr wrap="square" lIns="101600" tIns="76200" rIns="101600" bIns="76200" anchor="ctr"/>
          <a:lstStyle/>
          <a:p>
            <a:endParaRPr lang="ko-KR"/>
          </a:p>
        </p:txBody>
      </p:sp>
      <p:sp>
        <p:nvSpPr>
          <p:cNvPr id="13" name="Shape103">
            <a:extLst>
              <a:ext uri="{FF2B5EF4-FFF2-40B4-BE49-F238E27FC236}">
                <a16:creationId xmlns:a16="http://schemas.microsoft.com/office/drawing/2014/main" id="{DB94CB2E-B741-BD38-D9F4-B6122F6B233D}"/>
              </a:ext>
            </a:extLst>
          </p:cNvPr>
          <p:cNvSpPr/>
          <p:nvPr/>
        </p:nvSpPr>
        <p:spPr>
          <a:xfrm>
            <a:off x="2349500" y="4508500"/>
            <a:ext cx="1397000" cy="889000"/>
          </a:xfrm>
          <a:prstGeom prst="roundRect">
            <a:avLst/>
          </a:prstGeom>
          <a:solidFill>
            <a:srgbClr val="1F497D"/>
          </a:solidFill>
          <a:ln>
            <a:noFill/>
          </a:ln>
        </p:spPr>
        <p:txBody>
          <a:bodyPr wrap="square" lIns="101600" tIns="76200" rIns="101600" bIns="76200" anchor="ctr"/>
          <a:lstStyle/>
          <a:p>
            <a:pPr algn="ctr"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+mn-ea"/>
                <a:ea typeface="+mn-ea"/>
              </a:rPr>
              <a:t>추이 파악</a:t>
            </a:r>
          </a:p>
        </p:txBody>
      </p:sp>
      <p:sp>
        <p:nvSpPr>
          <p:cNvPr id="20" name="Shape104">
            <a:extLst>
              <a:ext uri="{FF2B5EF4-FFF2-40B4-BE49-F238E27FC236}">
                <a16:creationId xmlns:a16="http://schemas.microsoft.com/office/drawing/2014/main" id="{F8171DE4-1495-FD2C-9528-3426D7FD5741}"/>
              </a:ext>
            </a:extLst>
          </p:cNvPr>
          <p:cNvSpPr/>
          <p:nvPr/>
        </p:nvSpPr>
        <p:spPr>
          <a:xfrm>
            <a:off x="3797300" y="4775200"/>
            <a:ext cx="406400" cy="355600"/>
          </a:xfrm>
          <a:prstGeom prst="rightArrow">
            <a:avLst/>
          </a:prstGeom>
          <a:solidFill>
            <a:srgbClr val="1F497D"/>
          </a:solidFill>
          <a:ln>
            <a:noFill/>
          </a:ln>
        </p:spPr>
        <p:txBody>
          <a:bodyPr wrap="square" lIns="101600" tIns="76200" rIns="101600" bIns="76200" anchor="ctr"/>
          <a:lstStyle/>
          <a:p>
            <a:endParaRPr lang="ko-KR"/>
          </a:p>
        </p:txBody>
      </p:sp>
      <p:sp>
        <p:nvSpPr>
          <p:cNvPr id="21" name="Shape105">
            <a:extLst>
              <a:ext uri="{FF2B5EF4-FFF2-40B4-BE49-F238E27FC236}">
                <a16:creationId xmlns:a16="http://schemas.microsoft.com/office/drawing/2014/main" id="{A8C0FE1B-AE96-8B38-EA14-D15FC12DC787}"/>
              </a:ext>
            </a:extLst>
          </p:cNvPr>
          <p:cNvSpPr/>
          <p:nvPr/>
        </p:nvSpPr>
        <p:spPr>
          <a:xfrm>
            <a:off x="4254500" y="4508500"/>
            <a:ext cx="1397000" cy="889000"/>
          </a:xfrm>
          <a:prstGeom prst="roundRect">
            <a:avLst/>
          </a:prstGeom>
          <a:solidFill>
            <a:srgbClr val="1F497D"/>
          </a:solidFill>
          <a:ln>
            <a:noFill/>
          </a:ln>
        </p:spPr>
        <p:txBody>
          <a:bodyPr wrap="square" lIns="101600" tIns="76200" rIns="101600" bIns="76200" anchor="ctr"/>
          <a:lstStyle/>
          <a:p>
            <a:pPr algn="ctr"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+mn-ea"/>
                <a:ea typeface="+mn-ea"/>
              </a:rPr>
              <a:t>관계 분석</a:t>
            </a:r>
          </a:p>
        </p:txBody>
      </p:sp>
      <p:sp>
        <p:nvSpPr>
          <p:cNvPr id="22" name="Shape106">
            <a:extLst>
              <a:ext uri="{FF2B5EF4-FFF2-40B4-BE49-F238E27FC236}">
                <a16:creationId xmlns:a16="http://schemas.microsoft.com/office/drawing/2014/main" id="{9BAC7516-276E-07C2-D89C-AE7CB9529FBB}"/>
              </a:ext>
            </a:extLst>
          </p:cNvPr>
          <p:cNvSpPr/>
          <p:nvPr/>
        </p:nvSpPr>
        <p:spPr>
          <a:xfrm>
            <a:off x="5702300" y="4775200"/>
            <a:ext cx="406400" cy="355600"/>
          </a:xfrm>
          <a:prstGeom prst="rightArrow">
            <a:avLst/>
          </a:prstGeom>
          <a:solidFill>
            <a:srgbClr val="1F497D"/>
          </a:solidFill>
          <a:ln>
            <a:noFill/>
          </a:ln>
        </p:spPr>
        <p:txBody>
          <a:bodyPr wrap="square" lIns="101600" tIns="76200" rIns="101600" bIns="76200" anchor="ctr"/>
          <a:lstStyle/>
          <a:p>
            <a:endParaRPr lang="ko-KR"/>
          </a:p>
        </p:txBody>
      </p:sp>
      <p:sp>
        <p:nvSpPr>
          <p:cNvPr id="27" name="Shape107">
            <a:extLst>
              <a:ext uri="{FF2B5EF4-FFF2-40B4-BE49-F238E27FC236}">
                <a16:creationId xmlns:a16="http://schemas.microsoft.com/office/drawing/2014/main" id="{E7CBBBCD-149E-A764-75E0-166AFF195635}"/>
              </a:ext>
            </a:extLst>
          </p:cNvPr>
          <p:cNvSpPr/>
          <p:nvPr/>
        </p:nvSpPr>
        <p:spPr>
          <a:xfrm>
            <a:off x="6159500" y="4508500"/>
            <a:ext cx="1397000" cy="889000"/>
          </a:xfrm>
          <a:prstGeom prst="roundRect">
            <a:avLst/>
          </a:prstGeom>
          <a:solidFill>
            <a:srgbClr val="1F497D"/>
          </a:solidFill>
          <a:ln>
            <a:noFill/>
          </a:ln>
        </p:spPr>
        <p:txBody>
          <a:bodyPr wrap="square" lIns="101600" tIns="76200" rIns="101600" bIns="76200" anchor="ctr"/>
          <a:lstStyle/>
          <a:p>
            <a:pPr algn="ctr"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+mn-ea"/>
                <a:ea typeface="+mn-ea"/>
              </a:rPr>
              <a:t>비교 분석</a:t>
            </a:r>
          </a:p>
        </p:txBody>
      </p:sp>
      <p:sp>
        <p:nvSpPr>
          <p:cNvPr id="29" name="Shape108">
            <a:extLst>
              <a:ext uri="{FF2B5EF4-FFF2-40B4-BE49-F238E27FC236}">
                <a16:creationId xmlns:a16="http://schemas.microsoft.com/office/drawing/2014/main" id="{C23CC4CD-F904-7AE4-B779-FE8A0250521A}"/>
              </a:ext>
            </a:extLst>
          </p:cNvPr>
          <p:cNvSpPr/>
          <p:nvPr/>
        </p:nvSpPr>
        <p:spPr>
          <a:xfrm>
            <a:off x="7607300" y="4775200"/>
            <a:ext cx="406400" cy="355600"/>
          </a:xfrm>
          <a:prstGeom prst="rightArrow">
            <a:avLst/>
          </a:prstGeom>
          <a:solidFill>
            <a:srgbClr val="1F497D"/>
          </a:solidFill>
          <a:ln>
            <a:noFill/>
          </a:ln>
        </p:spPr>
        <p:txBody>
          <a:bodyPr wrap="square" lIns="101600" tIns="76200" rIns="101600" bIns="76200" anchor="ctr"/>
          <a:lstStyle/>
          <a:p>
            <a:endParaRPr lang="ko-KR"/>
          </a:p>
        </p:txBody>
      </p:sp>
      <p:sp>
        <p:nvSpPr>
          <p:cNvPr id="33" name="Shape109">
            <a:extLst>
              <a:ext uri="{FF2B5EF4-FFF2-40B4-BE49-F238E27FC236}">
                <a16:creationId xmlns:a16="http://schemas.microsoft.com/office/drawing/2014/main" id="{D9951811-6D03-8DCF-174B-D4DF3759ADDD}"/>
              </a:ext>
            </a:extLst>
          </p:cNvPr>
          <p:cNvSpPr/>
          <p:nvPr/>
        </p:nvSpPr>
        <p:spPr>
          <a:xfrm>
            <a:off x="8064500" y="4508500"/>
            <a:ext cx="1397000" cy="889000"/>
          </a:xfrm>
          <a:prstGeom prst="roundRect">
            <a:avLst/>
          </a:prstGeom>
          <a:solidFill>
            <a:srgbClr val="1F497D"/>
          </a:solidFill>
          <a:ln>
            <a:noFill/>
          </a:ln>
        </p:spPr>
        <p:txBody>
          <a:bodyPr wrap="square" lIns="101600" tIns="76200" rIns="101600" bIns="76200" anchor="ctr"/>
          <a:lstStyle/>
          <a:p>
            <a:pPr algn="ctr"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+mn-ea"/>
                <a:ea typeface="+mn-ea"/>
              </a:rPr>
              <a:t>예측</a:t>
            </a:r>
          </a:p>
        </p:txBody>
      </p:sp>
      <p:sp>
        <p:nvSpPr>
          <p:cNvPr id="35" name="Shape110">
            <a:extLst>
              <a:ext uri="{FF2B5EF4-FFF2-40B4-BE49-F238E27FC236}">
                <a16:creationId xmlns:a16="http://schemas.microsoft.com/office/drawing/2014/main" id="{0F4F1892-437B-59A1-24DF-CE1103A89942}"/>
              </a:ext>
            </a:extLst>
          </p:cNvPr>
          <p:cNvSpPr/>
          <p:nvPr/>
        </p:nvSpPr>
        <p:spPr>
          <a:xfrm>
            <a:off x="508000" y="18415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ko-KR" altLang="en-US" sz="1400" b="1" dirty="0">
                <a:solidFill>
                  <a:srgbClr val="1F497D"/>
                </a:solidFill>
                <a:latin typeface="+mn-ea"/>
                <a:ea typeface="+mn-ea"/>
              </a:rPr>
              <a:t>AIDA가 제공하는 분석 경험</a:t>
            </a:r>
          </a:p>
        </p:txBody>
      </p:sp>
      <p:sp>
        <p:nvSpPr>
          <p:cNvPr id="41" name="Shape111">
            <a:extLst>
              <a:ext uri="{FF2B5EF4-FFF2-40B4-BE49-F238E27FC236}">
                <a16:creationId xmlns:a16="http://schemas.microsoft.com/office/drawing/2014/main" id="{777D5833-0D51-6ECE-D718-06C29F25FEF6}"/>
              </a:ext>
            </a:extLst>
          </p:cNvPr>
          <p:cNvSpPr/>
          <p:nvPr/>
        </p:nvSpPr>
        <p:spPr>
          <a:xfrm>
            <a:off x="444500" y="2159000"/>
            <a:ext cx="2794000" cy="1651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497D"/>
            </a:solidFill>
          </a:ln>
        </p:spPr>
        <p:txBody>
          <a:bodyPr wrap="square" lIns="101600" tIns="76200" rIns="101600" bIns="76200" anchor="ctr"/>
          <a:lstStyle/>
          <a:p>
            <a:endParaRPr lang="ko-KR"/>
          </a:p>
        </p:txBody>
      </p:sp>
      <p:sp>
        <p:nvSpPr>
          <p:cNvPr id="44" name="Shape112">
            <a:extLst>
              <a:ext uri="{FF2B5EF4-FFF2-40B4-BE49-F238E27FC236}">
                <a16:creationId xmlns:a16="http://schemas.microsoft.com/office/drawing/2014/main" id="{B92E4816-5E51-FA34-8690-D54C3174B4D5}"/>
              </a:ext>
            </a:extLst>
          </p:cNvPr>
          <p:cNvSpPr/>
          <p:nvPr/>
        </p:nvSpPr>
        <p:spPr>
          <a:xfrm>
            <a:off x="596900" y="2311400"/>
            <a:ext cx="406400" cy="406400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txBody>
          <a:bodyPr wrap="square" lIns="101600" tIns="76200" rIns="101600" bIns="76200" anchor="ctr"/>
          <a:lstStyle/>
          <a:p>
            <a:pPr algn="ctr"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50" name="Shape113">
            <a:extLst>
              <a:ext uri="{FF2B5EF4-FFF2-40B4-BE49-F238E27FC236}">
                <a16:creationId xmlns:a16="http://schemas.microsoft.com/office/drawing/2014/main" id="{DE08B4D4-D53C-8068-6F82-6E2C671F1221}"/>
              </a:ext>
            </a:extLst>
          </p:cNvPr>
          <p:cNvSpPr/>
          <p:nvPr/>
        </p:nvSpPr>
        <p:spPr>
          <a:xfrm>
            <a:off x="1079500" y="2336800"/>
            <a:ext cx="2032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ko-KR" altLang="en-US" sz="1500" b="1" dirty="0">
                <a:solidFill>
                  <a:srgbClr val="1F497D"/>
                </a:solidFill>
                <a:latin typeface="+mn-ea"/>
                <a:ea typeface="+mn-ea"/>
              </a:rPr>
              <a:t>질문만으로 분석</a:t>
            </a:r>
          </a:p>
        </p:txBody>
      </p:sp>
      <p:sp>
        <p:nvSpPr>
          <p:cNvPr id="56" name="Shape114">
            <a:extLst>
              <a:ext uri="{FF2B5EF4-FFF2-40B4-BE49-F238E27FC236}">
                <a16:creationId xmlns:a16="http://schemas.microsoft.com/office/drawing/2014/main" id="{E28ACC03-2FA0-65E8-0E9D-CA28635DF128}"/>
              </a:ext>
            </a:extLst>
          </p:cNvPr>
          <p:cNvSpPr/>
          <p:nvPr/>
        </p:nvSpPr>
        <p:spPr>
          <a:xfrm>
            <a:off x="520700" y="2794000"/>
            <a:ext cx="2641600" cy="1016000"/>
          </a:xfrm>
          <a:prstGeom prst="rect">
            <a:avLst/>
          </a:prstGeom>
          <a:noFill/>
          <a:ln>
            <a:noFill/>
          </a:ln>
        </p:spPr>
        <p:txBody>
          <a:bodyPr wrap="square" lIns="50800" tIns="0" rIns="50800" bIns="0" anchor="t"/>
          <a:lstStyle/>
          <a:p>
            <a:pPr algn="l">
              <a:buNone/>
            </a:pPr>
            <a:r>
              <a:rPr lang="ko-KR" altLang="en-US" sz="1400" dirty="0">
                <a:solidFill>
                  <a:srgbClr val="1A1A1A"/>
                </a:solidFill>
                <a:latin typeface="+mn-ea"/>
                <a:ea typeface="+mn-ea"/>
              </a:rPr>
              <a:t>복잡한 SQL 작성·모델링 없이</a:t>
            </a:r>
          </a:p>
          <a:p>
            <a:pPr algn="l">
              <a:buNone/>
            </a:pPr>
            <a:r>
              <a:rPr lang="ko-KR" altLang="en-US" sz="1400" dirty="0">
                <a:solidFill>
                  <a:srgbClr val="1A1A1A"/>
                </a:solidFill>
                <a:latin typeface="+mn-ea"/>
                <a:ea typeface="+mn-ea"/>
              </a:rPr>
              <a:t>자연어로 데이터 조회·분석</a:t>
            </a:r>
          </a:p>
        </p:txBody>
      </p:sp>
      <p:sp>
        <p:nvSpPr>
          <p:cNvPr id="57" name="Shape115">
            <a:extLst>
              <a:ext uri="{FF2B5EF4-FFF2-40B4-BE49-F238E27FC236}">
                <a16:creationId xmlns:a16="http://schemas.microsoft.com/office/drawing/2014/main" id="{9E37C973-9F72-CD12-722A-5E16310F3922}"/>
              </a:ext>
            </a:extLst>
          </p:cNvPr>
          <p:cNvSpPr/>
          <p:nvPr/>
        </p:nvSpPr>
        <p:spPr>
          <a:xfrm>
            <a:off x="3556000" y="2159000"/>
            <a:ext cx="2794000" cy="1651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497D"/>
            </a:solidFill>
          </a:ln>
        </p:spPr>
        <p:txBody>
          <a:bodyPr wrap="square" lIns="101600" tIns="76200" rIns="101600" bIns="76200" anchor="ctr"/>
          <a:lstStyle/>
          <a:p>
            <a:endParaRPr lang="ko-KR"/>
          </a:p>
        </p:txBody>
      </p:sp>
      <p:sp>
        <p:nvSpPr>
          <p:cNvPr id="58" name="Shape116">
            <a:extLst>
              <a:ext uri="{FF2B5EF4-FFF2-40B4-BE49-F238E27FC236}">
                <a16:creationId xmlns:a16="http://schemas.microsoft.com/office/drawing/2014/main" id="{68DB5C11-AF13-B0DD-FF91-D3D85E2B96A5}"/>
              </a:ext>
            </a:extLst>
          </p:cNvPr>
          <p:cNvSpPr/>
          <p:nvPr/>
        </p:nvSpPr>
        <p:spPr>
          <a:xfrm>
            <a:off x="3708400" y="2311400"/>
            <a:ext cx="406400" cy="406400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txBody>
          <a:bodyPr wrap="square" lIns="101600" tIns="76200" rIns="101600" bIns="76200" anchor="ctr"/>
          <a:lstStyle/>
          <a:p>
            <a:pPr algn="ctr"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+mn-ea"/>
                <a:ea typeface="+mn-ea"/>
              </a:rPr>
              <a:t>2</a:t>
            </a:r>
          </a:p>
        </p:txBody>
      </p:sp>
      <p:sp>
        <p:nvSpPr>
          <p:cNvPr id="60" name="Shape117">
            <a:extLst>
              <a:ext uri="{FF2B5EF4-FFF2-40B4-BE49-F238E27FC236}">
                <a16:creationId xmlns:a16="http://schemas.microsoft.com/office/drawing/2014/main" id="{616CAD60-F6A2-D726-DFAB-8F3A0C2C4686}"/>
              </a:ext>
            </a:extLst>
          </p:cNvPr>
          <p:cNvSpPr/>
          <p:nvPr/>
        </p:nvSpPr>
        <p:spPr>
          <a:xfrm>
            <a:off x="4191000" y="2336800"/>
            <a:ext cx="2032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ko-KR" altLang="en-US" sz="1500" b="1" dirty="0">
                <a:solidFill>
                  <a:srgbClr val="1F497D"/>
                </a:solidFill>
                <a:latin typeface="+mn-ea"/>
                <a:ea typeface="+mn-ea"/>
              </a:rPr>
              <a:t>현재 상태와 변화 이해</a:t>
            </a:r>
          </a:p>
        </p:txBody>
      </p:sp>
      <p:sp>
        <p:nvSpPr>
          <p:cNvPr id="63" name="Shape118">
            <a:extLst>
              <a:ext uri="{FF2B5EF4-FFF2-40B4-BE49-F238E27FC236}">
                <a16:creationId xmlns:a16="http://schemas.microsoft.com/office/drawing/2014/main" id="{5EF39A5C-0006-7632-7545-0C7F199F2DDA}"/>
              </a:ext>
            </a:extLst>
          </p:cNvPr>
          <p:cNvSpPr/>
          <p:nvPr/>
        </p:nvSpPr>
        <p:spPr>
          <a:xfrm>
            <a:off x="3632200" y="2794000"/>
            <a:ext cx="2641600" cy="1016000"/>
          </a:xfrm>
          <a:prstGeom prst="rect">
            <a:avLst/>
          </a:prstGeom>
          <a:noFill/>
          <a:ln>
            <a:noFill/>
          </a:ln>
        </p:spPr>
        <p:txBody>
          <a:bodyPr wrap="square" lIns="50800" tIns="0" rIns="50800" bIns="0" anchor="t"/>
          <a:lstStyle/>
          <a:p>
            <a:pPr algn="l">
              <a:buNone/>
            </a:pPr>
            <a:r>
              <a:rPr lang="ko-KR" altLang="en-US" sz="1400" dirty="0">
                <a:solidFill>
                  <a:srgbClr val="1A1A1A"/>
                </a:solidFill>
                <a:latin typeface="+mn-ea"/>
                <a:ea typeface="+mn-ea"/>
              </a:rPr>
              <a:t>데이터의 현재 상태를 파악하고</a:t>
            </a:r>
          </a:p>
          <a:p>
            <a:pPr algn="l">
              <a:buNone/>
            </a:pPr>
            <a:r>
              <a:rPr lang="ko-KR" altLang="en-US" sz="1400" dirty="0">
                <a:solidFill>
                  <a:srgbClr val="1A1A1A"/>
                </a:solidFill>
                <a:latin typeface="+mn-ea"/>
                <a:ea typeface="+mn-ea"/>
              </a:rPr>
              <a:t>시간에 따른 변화 흐름을 해석</a:t>
            </a:r>
          </a:p>
        </p:txBody>
      </p:sp>
      <p:sp>
        <p:nvSpPr>
          <p:cNvPr id="64" name="Shape119">
            <a:extLst>
              <a:ext uri="{FF2B5EF4-FFF2-40B4-BE49-F238E27FC236}">
                <a16:creationId xmlns:a16="http://schemas.microsoft.com/office/drawing/2014/main" id="{AD91E2C3-B004-83A4-D7C6-0FABD55FFE7F}"/>
              </a:ext>
            </a:extLst>
          </p:cNvPr>
          <p:cNvSpPr/>
          <p:nvPr/>
        </p:nvSpPr>
        <p:spPr>
          <a:xfrm>
            <a:off x="6667500" y="2159000"/>
            <a:ext cx="2794000" cy="1651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497D"/>
            </a:solidFill>
          </a:ln>
        </p:spPr>
        <p:txBody>
          <a:bodyPr wrap="square" lIns="101600" tIns="76200" rIns="101600" bIns="76200" anchor="ctr"/>
          <a:lstStyle/>
          <a:p>
            <a:endParaRPr lang="ko-KR"/>
          </a:p>
        </p:txBody>
      </p:sp>
      <p:sp>
        <p:nvSpPr>
          <p:cNvPr id="65" name="Shape120">
            <a:extLst>
              <a:ext uri="{FF2B5EF4-FFF2-40B4-BE49-F238E27FC236}">
                <a16:creationId xmlns:a16="http://schemas.microsoft.com/office/drawing/2014/main" id="{7F794169-13A4-2721-B698-E3CAC81CF07D}"/>
              </a:ext>
            </a:extLst>
          </p:cNvPr>
          <p:cNvSpPr/>
          <p:nvPr/>
        </p:nvSpPr>
        <p:spPr>
          <a:xfrm>
            <a:off x="6819900" y="2311400"/>
            <a:ext cx="406400" cy="406400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txBody>
          <a:bodyPr wrap="square" lIns="101600" tIns="76200" rIns="101600" bIns="76200" anchor="ctr"/>
          <a:lstStyle/>
          <a:p>
            <a:pPr algn="ctr"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+mn-ea"/>
                <a:ea typeface="+mn-ea"/>
              </a:rPr>
              <a:t>3</a:t>
            </a:r>
          </a:p>
        </p:txBody>
      </p:sp>
      <p:sp>
        <p:nvSpPr>
          <p:cNvPr id="66" name="Shape121">
            <a:extLst>
              <a:ext uri="{FF2B5EF4-FFF2-40B4-BE49-F238E27FC236}">
                <a16:creationId xmlns:a16="http://schemas.microsoft.com/office/drawing/2014/main" id="{94436736-3CBC-7642-D9DD-E354C907E788}"/>
              </a:ext>
            </a:extLst>
          </p:cNvPr>
          <p:cNvSpPr/>
          <p:nvPr/>
        </p:nvSpPr>
        <p:spPr>
          <a:xfrm>
            <a:off x="7302500" y="2336800"/>
            <a:ext cx="2032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ko-KR" altLang="en-US" sz="1500" b="1" dirty="0">
                <a:solidFill>
                  <a:srgbClr val="1F497D"/>
                </a:solidFill>
                <a:latin typeface="+mn-ea"/>
                <a:ea typeface="+mn-ea"/>
              </a:rPr>
              <a:t>관계 분석과 미래 예측</a:t>
            </a:r>
          </a:p>
        </p:txBody>
      </p:sp>
      <p:sp>
        <p:nvSpPr>
          <p:cNvPr id="67" name="Shape122">
            <a:extLst>
              <a:ext uri="{FF2B5EF4-FFF2-40B4-BE49-F238E27FC236}">
                <a16:creationId xmlns:a16="http://schemas.microsoft.com/office/drawing/2014/main" id="{468A3DDF-09F5-AFFC-FBB5-3367BC46D6F0}"/>
              </a:ext>
            </a:extLst>
          </p:cNvPr>
          <p:cNvSpPr/>
          <p:nvPr/>
        </p:nvSpPr>
        <p:spPr>
          <a:xfrm>
            <a:off x="6743700" y="2794000"/>
            <a:ext cx="2641600" cy="1016000"/>
          </a:xfrm>
          <a:prstGeom prst="rect">
            <a:avLst/>
          </a:prstGeom>
          <a:noFill/>
          <a:ln>
            <a:noFill/>
          </a:ln>
        </p:spPr>
        <p:txBody>
          <a:bodyPr wrap="square" lIns="50800" tIns="0" rIns="50800" bIns="0" anchor="t"/>
          <a:lstStyle/>
          <a:p>
            <a:pPr algn="l">
              <a:buNone/>
            </a:pPr>
            <a:r>
              <a:rPr lang="ko-KR" altLang="en-US" sz="1400" dirty="0">
                <a:solidFill>
                  <a:srgbClr val="1A1A1A"/>
                </a:solidFill>
                <a:latin typeface="+mn-ea"/>
                <a:ea typeface="+mn-ea"/>
              </a:rPr>
              <a:t>변수 간 관계를 도출하고</a:t>
            </a:r>
          </a:p>
          <a:p>
            <a:pPr algn="l">
              <a:buNone/>
            </a:pPr>
            <a:r>
              <a:rPr lang="ko-KR" altLang="en-US" sz="1400" dirty="0">
                <a:solidFill>
                  <a:srgbClr val="1A1A1A"/>
                </a:solidFill>
                <a:latin typeface="+mn-ea"/>
                <a:ea typeface="+mn-ea"/>
              </a:rPr>
              <a:t>향후 추이를 예측</a:t>
            </a:r>
          </a:p>
        </p:txBody>
      </p:sp>
      <p:sp>
        <p:nvSpPr>
          <p:cNvPr id="69" name="Shape123">
            <a:extLst>
              <a:ext uri="{FF2B5EF4-FFF2-40B4-BE49-F238E27FC236}">
                <a16:creationId xmlns:a16="http://schemas.microsoft.com/office/drawing/2014/main" id="{55FEE150-3712-45C5-7289-7A128B29393A}"/>
              </a:ext>
            </a:extLst>
          </p:cNvPr>
          <p:cNvSpPr/>
          <p:nvPr/>
        </p:nvSpPr>
        <p:spPr>
          <a:xfrm>
            <a:off x="1270000" y="5651500"/>
            <a:ext cx="7366000" cy="76200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wrap="square" lIns="101600" tIns="76200" rIns="101600" bIns="76200" anchor="ctr"/>
          <a:lstStyle/>
          <a:p>
            <a:pPr algn="ctr">
              <a:buNone/>
            </a:pPr>
            <a:r>
              <a:rPr lang="ko-KR" altLang="en-US" sz="2000" b="1" dirty="0">
                <a:solidFill>
                  <a:srgbClr val="FFFFFF"/>
                </a:solidFill>
                <a:latin typeface="+mn-ea"/>
                <a:ea typeface="+mn-ea"/>
              </a:rPr>
              <a:t>→ 데이터 이해부터 예측까지, 한 흐름으로 자동화</a:t>
            </a:r>
          </a:p>
        </p:txBody>
      </p:sp>
      <p:sp>
        <p:nvSpPr>
          <p:cNvPr id="7" name="텍스트 개체 틀 1">
            <a:extLst>
              <a:ext uri="{FF2B5EF4-FFF2-40B4-BE49-F238E27FC236}">
                <a16:creationId xmlns:a16="http://schemas.microsoft.com/office/drawing/2014/main" id="{5FC398A0-C1AE-E0F8-4076-49814CB5C9E0}"/>
              </a:ext>
            </a:extLst>
          </p:cNvPr>
          <p:cNvSpPr txBox="1">
            <a:spLocks/>
          </p:cNvSpPr>
          <p:nvPr/>
        </p:nvSpPr>
        <p:spPr>
          <a:xfrm>
            <a:off x="362108" y="711710"/>
            <a:ext cx="9423242" cy="400110"/>
          </a:xfrm>
          <a:prstGeom prst="rect">
            <a:avLst/>
          </a:prstGeom>
        </p:spPr>
        <p:txBody>
          <a:bodyPr lIns="72000" tIns="108000" anchor="ctr"/>
          <a:lstStyle>
            <a:lvl1pPr marL="182563" indent="-182563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tabLst>
                <a:tab pos="0" algn="l"/>
              </a:tabLst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0" lang="ko-KR" altLang="en-US" dirty="0"/>
          </a:p>
        </p:txBody>
      </p:sp>
      <p:sp>
        <p:nvSpPr>
          <p:cNvPr id="14" name="텍스트 개체 틀 2">
            <a:extLst>
              <a:ext uri="{FF2B5EF4-FFF2-40B4-BE49-F238E27FC236}">
                <a16:creationId xmlns:a16="http://schemas.microsoft.com/office/drawing/2014/main" id="{AE1A316B-CF2E-E0F0-7626-04A401288D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2309" y="979158"/>
            <a:ext cx="9270641" cy="708950"/>
          </a:xfrm>
        </p:spPr>
        <p:txBody>
          <a:bodyPr/>
          <a:lstStyle/>
          <a:p>
            <a:r>
              <a:rPr lang="en-US" altLang="ko-KR" dirty="0"/>
              <a:t>AIDA</a:t>
            </a:r>
            <a:r>
              <a:rPr lang="ko-KR" altLang="en-US" dirty="0"/>
              <a:t>는 사용자가 글이나 음성으로 질문을 하면 사용자의 질문 의도를 이해하여 </a:t>
            </a:r>
            <a:r>
              <a:rPr lang="en-US" altLang="ko-KR" dirty="0"/>
              <a:t>1) </a:t>
            </a:r>
            <a:r>
              <a:rPr lang="ko-KR" altLang="en-US" dirty="0"/>
              <a:t>생성형 인공지능</a:t>
            </a:r>
            <a:r>
              <a:rPr lang="en-US" altLang="ko-KR" dirty="0"/>
              <a:t>(</a:t>
            </a:r>
            <a:r>
              <a:rPr lang="en-US" altLang="ko-KR" dirty="0" err="1"/>
              <a:t>sLLM</a:t>
            </a:r>
            <a:r>
              <a:rPr lang="en-US" altLang="ko-KR" dirty="0"/>
              <a:t> w/RAG) </a:t>
            </a:r>
            <a:r>
              <a:rPr lang="ko-KR" altLang="en-US" dirty="0"/>
              <a:t>시반 정성적 분석 결과와 </a:t>
            </a:r>
            <a:r>
              <a:rPr lang="en-US" altLang="ko-KR" dirty="0"/>
              <a:t>2) ECMiner™ </a:t>
            </a:r>
            <a:r>
              <a:rPr lang="ko-KR" altLang="en-US" dirty="0"/>
              <a:t>기반 정량적 분석 결과를 융합하여 답변을 제공하는 시스템입니다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157276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CA662-D67C-07C7-E555-1CD611405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F6BD3AF-B000-136F-1AAE-CC6A1F6EDC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데이터 분석</a:t>
            </a:r>
            <a:r>
              <a:rPr lang="en-US" altLang="ko-KR" dirty="0"/>
              <a:t>, </a:t>
            </a:r>
            <a:r>
              <a:rPr lang="ko-KR" altLang="en-US" dirty="0"/>
              <a:t>왜 아직도 어렵게 하고 있을까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892D351-C3BA-C6C1-3883-07167A332A3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2309" y="1135874"/>
            <a:ext cx="9482335" cy="708950"/>
          </a:xfrm>
        </p:spPr>
        <p:txBody>
          <a:bodyPr/>
          <a:lstStyle/>
          <a:p>
            <a:r>
              <a:rPr lang="ko-KR" altLang="en-US" dirty="0"/>
              <a:t>데이터는 어디에나 있지만</a:t>
            </a:r>
            <a:r>
              <a:rPr lang="en-US" altLang="ko-KR" dirty="0"/>
              <a:t>, </a:t>
            </a:r>
            <a:r>
              <a:rPr lang="ko-KR" altLang="en-US" dirty="0"/>
              <a:t>그 데이터를 가치로 바꾸기까지의 과정은 여전히 복잡하고 느립니다</a:t>
            </a:r>
            <a:r>
              <a:rPr lang="en-US" altLang="ko-KR" dirty="0"/>
              <a:t>. </a:t>
            </a:r>
            <a:r>
              <a:rPr lang="ko-KR" altLang="en-US" dirty="0"/>
              <a:t>분석 한 건을 위해 </a:t>
            </a:r>
            <a:r>
              <a:rPr lang="en-US" altLang="ko-KR" dirty="0"/>
              <a:t>SQL, </a:t>
            </a:r>
            <a:r>
              <a:rPr lang="ko-KR" altLang="en-US" dirty="0"/>
              <a:t>가공</a:t>
            </a:r>
            <a:r>
              <a:rPr lang="en-US" altLang="ko-KR" dirty="0"/>
              <a:t>, </a:t>
            </a:r>
            <a:r>
              <a:rPr lang="ko-KR" altLang="en-US" dirty="0"/>
              <a:t>모델링이 반복되고 있습니다</a:t>
            </a:r>
            <a:r>
              <a:rPr lang="en-US" altLang="ko-KR" dirty="0"/>
              <a:t>.</a:t>
            </a:r>
          </a:p>
          <a:p>
            <a:br>
              <a:rPr lang="ko-KR" altLang="en-US" dirty="0"/>
            </a:br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5FB7DF48-A569-7516-5198-8D283B410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+mn-ea"/>
              </a:rPr>
              <a:t>1. </a:t>
            </a:r>
            <a:r>
              <a:rPr lang="en-US" altLang="ko-KR" dirty="0" err="1">
                <a:solidFill>
                  <a:schemeClr val="bg1"/>
                </a:solidFill>
                <a:latin typeface="+mn-ea"/>
              </a:rPr>
              <a:t>ECMiner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™ AIDA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 개요</a:t>
            </a:r>
            <a:endParaRPr lang="ko-KR" altLang="en-US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5D4936E-B673-2187-7EF2-0BE020EFC79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5" name="Shape110">
            <a:extLst>
              <a:ext uri="{FF2B5EF4-FFF2-40B4-BE49-F238E27FC236}">
                <a16:creationId xmlns:a16="http://schemas.microsoft.com/office/drawing/2014/main" id="{0F4F1892-437B-59A1-24DF-CE1103A89942}"/>
              </a:ext>
            </a:extLst>
          </p:cNvPr>
          <p:cNvSpPr/>
          <p:nvPr/>
        </p:nvSpPr>
        <p:spPr>
          <a:xfrm>
            <a:off x="508000" y="2095500"/>
            <a:ext cx="508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ko-KR" altLang="en-US" sz="1400" b="1" dirty="0">
                <a:solidFill>
                  <a:srgbClr val="1F497D"/>
                </a:solidFill>
                <a:latin typeface="+mn-ea"/>
                <a:ea typeface="+mn-ea"/>
              </a:rPr>
              <a:t>기존 데이터 분석의 진입장벽</a:t>
            </a:r>
          </a:p>
        </p:txBody>
      </p:sp>
      <p:sp>
        <p:nvSpPr>
          <p:cNvPr id="41" name="Shape111">
            <a:extLst>
              <a:ext uri="{FF2B5EF4-FFF2-40B4-BE49-F238E27FC236}">
                <a16:creationId xmlns:a16="http://schemas.microsoft.com/office/drawing/2014/main" id="{777D5833-0D51-6ECE-D718-06C29F25FEF6}"/>
              </a:ext>
            </a:extLst>
          </p:cNvPr>
          <p:cNvSpPr/>
          <p:nvPr/>
        </p:nvSpPr>
        <p:spPr>
          <a:xfrm>
            <a:off x="444500" y="2667000"/>
            <a:ext cx="2794000" cy="1905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497D"/>
            </a:solidFill>
          </a:ln>
        </p:spPr>
        <p:txBody>
          <a:bodyPr wrap="square" lIns="101600" tIns="76200" rIns="101600" bIns="76200" anchor="ctr"/>
          <a:lstStyle/>
          <a:p>
            <a:endParaRPr lang="ko-KR"/>
          </a:p>
        </p:txBody>
      </p:sp>
      <p:sp>
        <p:nvSpPr>
          <p:cNvPr id="44" name="Shape112">
            <a:extLst>
              <a:ext uri="{FF2B5EF4-FFF2-40B4-BE49-F238E27FC236}">
                <a16:creationId xmlns:a16="http://schemas.microsoft.com/office/drawing/2014/main" id="{B92E4816-5E51-FA34-8690-D54C3174B4D5}"/>
              </a:ext>
            </a:extLst>
          </p:cNvPr>
          <p:cNvSpPr/>
          <p:nvPr/>
        </p:nvSpPr>
        <p:spPr>
          <a:xfrm>
            <a:off x="596900" y="2819400"/>
            <a:ext cx="406400" cy="406400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txBody>
          <a:bodyPr wrap="square" lIns="101600" tIns="76200" rIns="101600" bIns="76200" anchor="ctr"/>
          <a:lstStyle/>
          <a:p>
            <a:pPr algn="ctr"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50" name="Shape113">
            <a:extLst>
              <a:ext uri="{FF2B5EF4-FFF2-40B4-BE49-F238E27FC236}">
                <a16:creationId xmlns:a16="http://schemas.microsoft.com/office/drawing/2014/main" id="{DE08B4D4-D53C-8068-6F82-6E2C671F1221}"/>
              </a:ext>
            </a:extLst>
          </p:cNvPr>
          <p:cNvSpPr/>
          <p:nvPr/>
        </p:nvSpPr>
        <p:spPr>
          <a:xfrm>
            <a:off x="1079500" y="2844800"/>
            <a:ext cx="2032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ko-KR" altLang="en-US" sz="1500" b="1" dirty="0">
                <a:solidFill>
                  <a:srgbClr val="1F497D"/>
                </a:solidFill>
                <a:latin typeface="+mn-ea"/>
                <a:ea typeface="+mn-ea"/>
              </a:rPr>
              <a:t>복잡한 기술 스택</a:t>
            </a:r>
          </a:p>
        </p:txBody>
      </p:sp>
      <p:sp>
        <p:nvSpPr>
          <p:cNvPr id="56" name="Shape114">
            <a:extLst>
              <a:ext uri="{FF2B5EF4-FFF2-40B4-BE49-F238E27FC236}">
                <a16:creationId xmlns:a16="http://schemas.microsoft.com/office/drawing/2014/main" id="{E28ACC03-2FA0-65E8-0E9D-CA28635DF128}"/>
              </a:ext>
            </a:extLst>
          </p:cNvPr>
          <p:cNvSpPr/>
          <p:nvPr/>
        </p:nvSpPr>
        <p:spPr>
          <a:xfrm>
            <a:off x="622300" y="3365500"/>
            <a:ext cx="2438400" cy="1143000"/>
          </a:xfrm>
          <a:prstGeom prst="rect">
            <a:avLst/>
          </a:prstGeom>
          <a:noFill/>
          <a:ln>
            <a:noFill/>
          </a:ln>
        </p:spPr>
        <p:txBody>
          <a:bodyPr wrap="square" lIns="50800" tIns="0" rIns="50800" bIns="0" anchor="t"/>
          <a:lstStyle/>
          <a:p>
            <a:pPr algn="l">
              <a:buNone/>
            </a:pPr>
            <a:r>
              <a:rPr lang="ko-KR" altLang="en-US" sz="1400" dirty="0">
                <a:solidFill>
                  <a:srgbClr val="1A1A1A"/>
                </a:solidFill>
                <a:latin typeface="+mn-ea"/>
                <a:ea typeface="+mn-ea"/>
              </a:rPr>
              <a:t>SQL 작성, 데이터 가공,</a:t>
            </a:r>
          </a:p>
          <a:p>
            <a:pPr algn="l">
              <a:buNone/>
            </a:pPr>
            <a:r>
              <a:rPr lang="ko-KR" altLang="en-US" sz="1400" dirty="0">
                <a:solidFill>
                  <a:srgbClr val="1A1A1A"/>
                </a:solidFill>
                <a:latin typeface="+mn-ea"/>
                <a:ea typeface="+mn-ea"/>
              </a:rPr>
              <a:t>모델링까지 직접 수행</a:t>
            </a:r>
          </a:p>
        </p:txBody>
      </p:sp>
      <p:sp>
        <p:nvSpPr>
          <p:cNvPr id="57" name="Shape115">
            <a:extLst>
              <a:ext uri="{FF2B5EF4-FFF2-40B4-BE49-F238E27FC236}">
                <a16:creationId xmlns:a16="http://schemas.microsoft.com/office/drawing/2014/main" id="{9E37C973-9F72-CD12-722A-5E16310F3922}"/>
              </a:ext>
            </a:extLst>
          </p:cNvPr>
          <p:cNvSpPr/>
          <p:nvPr/>
        </p:nvSpPr>
        <p:spPr>
          <a:xfrm>
            <a:off x="3556000" y="2667000"/>
            <a:ext cx="2794000" cy="1905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497D"/>
            </a:solidFill>
          </a:ln>
        </p:spPr>
        <p:txBody>
          <a:bodyPr wrap="square" lIns="101600" tIns="76200" rIns="101600" bIns="76200" anchor="ctr"/>
          <a:lstStyle/>
          <a:p>
            <a:endParaRPr lang="ko-KR"/>
          </a:p>
        </p:txBody>
      </p:sp>
      <p:sp>
        <p:nvSpPr>
          <p:cNvPr id="58" name="Shape116">
            <a:extLst>
              <a:ext uri="{FF2B5EF4-FFF2-40B4-BE49-F238E27FC236}">
                <a16:creationId xmlns:a16="http://schemas.microsoft.com/office/drawing/2014/main" id="{68DB5C11-AF13-B0DD-FF91-D3D85E2B96A5}"/>
              </a:ext>
            </a:extLst>
          </p:cNvPr>
          <p:cNvSpPr/>
          <p:nvPr/>
        </p:nvSpPr>
        <p:spPr>
          <a:xfrm>
            <a:off x="3708400" y="2819400"/>
            <a:ext cx="406400" cy="406400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txBody>
          <a:bodyPr wrap="square" lIns="101600" tIns="76200" rIns="101600" bIns="76200" anchor="ctr"/>
          <a:lstStyle/>
          <a:p>
            <a:pPr algn="ctr"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+mn-ea"/>
                <a:ea typeface="+mn-ea"/>
              </a:rPr>
              <a:t>2</a:t>
            </a:r>
          </a:p>
        </p:txBody>
      </p:sp>
      <p:sp>
        <p:nvSpPr>
          <p:cNvPr id="60" name="Shape117">
            <a:extLst>
              <a:ext uri="{FF2B5EF4-FFF2-40B4-BE49-F238E27FC236}">
                <a16:creationId xmlns:a16="http://schemas.microsoft.com/office/drawing/2014/main" id="{616CAD60-F6A2-D726-DFAB-8F3A0C2C4686}"/>
              </a:ext>
            </a:extLst>
          </p:cNvPr>
          <p:cNvSpPr/>
          <p:nvPr/>
        </p:nvSpPr>
        <p:spPr>
          <a:xfrm>
            <a:off x="4191000" y="2844800"/>
            <a:ext cx="2032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ko-KR" altLang="en-US" sz="1500" b="1" dirty="0">
                <a:solidFill>
                  <a:srgbClr val="1F497D"/>
                </a:solidFill>
                <a:latin typeface="+mn-ea"/>
                <a:ea typeface="+mn-ea"/>
              </a:rPr>
              <a:t>높은 전문 지식 요구</a:t>
            </a:r>
          </a:p>
        </p:txBody>
      </p:sp>
      <p:sp>
        <p:nvSpPr>
          <p:cNvPr id="63" name="Shape118">
            <a:extLst>
              <a:ext uri="{FF2B5EF4-FFF2-40B4-BE49-F238E27FC236}">
                <a16:creationId xmlns:a16="http://schemas.microsoft.com/office/drawing/2014/main" id="{5EF39A5C-0006-7632-7545-0C7F199F2DDA}"/>
              </a:ext>
            </a:extLst>
          </p:cNvPr>
          <p:cNvSpPr/>
          <p:nvPr/>
        </p:nvSpPr>
        <p:spPr>
          <a:xfrm>
            <a:off x="3733800" y="3365500"/>
            <a:ext cx="2438400" cy="1143000"/>
          </a:xfrm>
          <a:prstGeom prst="rect">
            <a:avLst/>
          </a:prstGeom>
          <a:noFill/>
          <a:ln>
            <a:noFill/>
          </a:ln>
        </p:spPr>
        <p:txBody>
          <a:bodyPr wrap="square" lIns="50800" tIns="0" rIns="50800" bIns="0" anchor="t"/>
          <a:lstStyle/>
          <a:p>
            <a:pPr algn="l">
              <a:buNone/>
            </a:pPr>
            <a:r>
              <a:rPr lang="ko-KR" altLang="en-US" sz="1400" dirty="0">
                <a:solidFill>
                  <a:srgbClr val="1A1A1A"/>
                </a:solidFill>
                <a:latin typeface="+mn-ea"/>
                <a:ea typeface="+mn-ea"/>
              </a:rPr>
              <a:t>분석까지 많은 시간과</a:t>
            </a:r>
          </a:p>
          <a:p>
            <a:pPr algn="l">
              <a:buNone/>
            </a:pPr>
            <a:r>
              <a:rPr lang="ko-KR" altLang="en-US" sz="1400" dirty="0">
                <a:solidFill>
                  <a:srgbClr val="1A1A1A"/>
                </a:solidFill>
                <a:latin typeface="+mn-ea"/>
                <a:ea typeface="+mn-ea"/>
              </a:rPr>
              <a:t>전문 인력의 개입이 필요</a:t>
            </a:r>
          </a:p>
        </p:txBody>
      </p:sp>
      <p:sp>
        <p:nvSpPr>
          <p:cNvPr id="64" name="Shape119">
            <a:extLst>
              <a:ext uri="{FF2B5EF4-FFF2-40B4-BE49-F238E27FC236}">
                <a16:creationId xmlns:a16="http://schemas.microsoft.com/office/drawing/2014/main" id="{AD91E2C3-B004-83A4-D7C6-0FABD55FFE7F}"/>
              </a:ext>
            </a:extLst>
          </p:cNvPr>
          <p:cNvSpPr/>
          <p:nvPr/>
        </p:nvSpPr>
        <p:spPr>
          <a:xfrm>
            <a:off x="6667500" y="2667000"/>
            <a:ext cx="2794000" cy="1905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497D"/>
            </a:solidFill>
          </a:ln>
        </p:spPr>
        <p:txBody>
          <a:bodyPr wrap="square" lIns="101600" tIns="76200" rIns="101600" bIns="76200" anchor="ctr"/>
          <a:lstStyle/>
          <a:p>
            <a:endParaRPr lang="ko-KR"/>
          </a:p>
        </p:txBody>
      </p:sp>
      <p:sp>
        <p:nvSpPr>
          <p:cNvPr id="65" name="Shape120">
            <a:extLst>
              <a:ext uri="{FF2B5EF4-FFF2-40B4-BE49-F238E27FC236}">
                <a16:creationId xmlns:a16="http://schemas.microsoft.com/office/drawing/2014/main" id="{7F794169-13A4-2721-B698-E3CAC81CF07D}"/>
              </a:ext>
            </a:extLst>
          </p:cNvPr>
          <p:cNvSpPr/>
          <p:nvPr/>
        </p:nvSpPr>
        <p:spPr>
          <a:xfrm>
            <a:off x="6819900" y="2819400"/>
            <a:ext cx="406400" cy="406400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txBody>
          <a:bodyPr wrap="square" lIns="101600" tIns="76200" rIns="101600" bIns="76200" anchor="ctr"/>
          <a:lstStyle/>
          <a:p>
            <a:pPr algn="ctr"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+mn-ea"/>
                <a:ea typeface="+mn-ea"/>
              </a:rPr>
              <a:t>3</a:t>
            </a:r>
          </a:p>
        </p:txBody>
      </p:sp>
      <p:sp>
        <p:nvSpPr>
          <p:cNvPr id="66" name="Shape121">
            <a:extLst>
              <a:ext uri="{FF2B5EF4-FFF2-40B4-BE49-F238E27FC236}">
                <a16:creationId xmlns:a16="http://schemas.microsoft.com/office/drawing/2014/main" id="{94436736-3CBC-7642-D9DD-E354C907E788}"/>
              </a:ext>
            </a:extLst>
          </p:cNvPr>
          <p:cNvSpPr/>
          <p:nvPr/>
        </p:nvSpPr>
        <p:spPr>
          <a:xfrm>
            <a:off x="7302500" y="2844800"/>
            <a:ext cx="2032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ko-KR" altLang="en-US" sz="1500" b="1" dirty="0">
                <a:solidFill>
                  <a:srgbClr val="1F497D"/>
                </a:solidFill>
                <a:latin typeface="+mn-ea"/>
                <a:ea typeface="+mn-ea"/>
              </a:rPr>
              <a:t>반복 업무의 누적</a:t>
            </a:r>
          </a:p>
        </p:txBody>
      </p:sp>
      <p:sp>
        <p:nvSpPr>
          <p:cNvPr id="67" name="Shape122">
            <a:extLst>
              <a:ext uri="{FF2B5EF4-FFF2-40B4-BE49-F238E27FC236}">
                <a16:creationId xmlns:a16="http://schemas.microsoft.com/office/drawing/2014/main" id="{468A3DDF-09F5-AFFC-FBB5-3367BC46D6F0}"/>
              </a:ext>
            </a:extLst>
          </p:cNvPr>
          <p:cNvSpPr/>
          <p:nvPr/>
        </p:nvSpPr>
        <p:spPr>
          <a:xfrm>
            <a:off x="6845300" y="3365500"/>
            <a:ext cx="2438400" cy="1143000"/>
          </a:xfrm>
          <a:prstGeom prst="rect">
            <a:avLst/>
          </a:prstGeom>
          <a:noFill/>
          <a:ln>
            <a:noFill/>
          </a:ln>
        </p:spPr>
        <p:txBody>
          <a:bodyPr wrap="square" lIns="50800" tIns="0" rIns="50800" bIns="0" anchor="t"/>
          <a:lstStyle/>
          <a:p>
            <a:pPr algn="l">
              <a:buNone/>
            </a:pPr>
            <a:r>
              <a:rPr lang="ko-KR" altLang="en-US" sz="1400" dirty="0">
                <a:solidFill>
                  <a:srgbClr val="1A1A1A"/>
                </a:solidFill>
                <a:latin typeface="+mn-ea"/>
                <a:ea typeface="+mn-ea"/>
              </a:rPr>
              <a:t>유사한 분석 요청이</a:t>
            </a:r>
          </a:p>
          <a:p>
            <a:pPr algn="l">
              <a:buNone/>
            </a:pPr>
            <a:r>
              <a:rPr lang="ko-KR" altLang="en-US" sz="1400" dirty="0">
                <a:solidFill>
                  <a:srgbClr val="1A1A1A"/>
                </a:solidFill>
                <a:latin typeface="+mn-ea"/>
                <a:ea typeface="+mn-ea"/>
              </a:rPr>
              <a:t>지속적으로 반복 발생</a:t>
            </a:r>
          </a:p>
        </p:txBody>
      </p:sp>
      <p:sp>
        <p:nvSpPr>
          <p:cNvPr id="69" name="Shape123">
            <a:extLst>
              <a:ext uri="{FF2B5EF4-FFF2-40B4-BE49-F238E27FC236}">
                <a16:creationId xmlns:a16="http://schemas.microsoft.com/office/drawing/2014/main" id="{55FEE150-3712-45C5-7289-7A128B29393A}"/>
              </a:ext>
            </a:extLst>
          </p:cNvPr>
          <p:cNvSpPr/>
          <p:nvPr/>
        </p:nvSpPr>
        <p:spPr>
          <a:xfrm>
            <a:off x="1270000" y="4953000"/>
            <a:ext cx="7366000" cy="76200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wrap="square" lIns="101600" tIns="76200" rIns="101600" bIns="76200" anchor="ctr"/>
          <a:lstStyle/>
          <a:p>
            <a:pPr algn="ctr">
              <a:buNone/>
            </a:pPr>
            <a:r>
              <a:rPr lang="ko-KR" altLang="en-US" sz="2000" b="1" dirty="0">
                <a:solidFill>
                  <a:srgbClr val="FFFFFF"/>
                </a:solidFill>
                <a:latin typeface="+mn-ea"/>
                <a:ea typeface="+mn-ea"/>
              </a:rPr>
              <a:t>→ 분석의 진입장벽이 여전히 높음</a:t>
            </a:r>
          </a:p>
        </p:txBody>
      </p:sp>
    </p:spTree>
    <p:extLst>
      <p:ext uri="{BB962C8B-B14F-4D97-AF65-F5344CB8AC3E}">
        <p14:creationId xmlns:p14="http://schemas.microsoft.com/office/powerpoint/2010/main" val="423777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CA662-D67C-07C7-E555-1CD611405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F6BD3AF-B000-136F-1AAE-CC6A1F6EDC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기존 방식의 한계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892D351-C3BA-C6C1-3883-07167A332A3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2309" y="979158"/>
            <a:ext cx="9482335" cy="708950"/>
          </a:xfrm>
        </p:spPr>
        <p:txBody>
          <a:bodyPr/>
          <a:lstStyle/>
          <a:p>
            <a:r>
              <a:rPr lang="ko-KR" altLang="en-US" dirty="0"/>
              <a:t>기존 분석 프로세스는 단계별로 분절되어 있고</a:t>
            </a:r>
            <a:r>
              <a:rPr lang="en-US" altLang="ko-KR" dirty="0"/>
              <a:t>, </a:t>
            </a:r>
            <a:r>
              <a:rPr lang="ko-KR" altLang="en-US" dirty="0"/>
              <a:t>각 단계마다 사람의 개입이 필요하여 분석 결과 도출까지 상당한 시간이 소요됩니다</a:t>
            </a:r>
            <a:r>
              <a:rPr lang="en-US" altLang="ko-KR" dirty="0"/>
              <a:t>.</a:t>
            </a:r>
          </a:p>
          <a:p>
            <a:br>
              <a:rPr lang="ko-KR" altLang="en-US" dirty="0"/>
            </a:br>
            <a:endParaRPr lang="en-US" altLang="ko-KR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5FB7DF48-A569-7516-5198-8D283B410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+mn-ea"/>
              </a:rPr>
              <a:t>1. </a:t>
            </a:r>
            <a:r>
              <a:rPr lang="en-US" altLang="ko-KR" dirty="0" err="1">
                <a:solidFill>
                  <a:schemeClr val="bg1"/>
                </a:solidFill>
                <a:latin typeface="+mn-ea"/>
              </a:rPr>
              <a:t>ECMiner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™ AIDA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 개요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5D4936E-B673-2187-7EF2-0BE020EFC79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hape100">
            <a:extLst>
              <a:ext uri="{FF2B5EF4-FFF2-40B4-BE49-F238E27FC236}">
                <a16:creationId xmlns:a16="http://schemas.microsoft.com/office/drawing/2014/main" id="{297D96F7-AC37-D45D-F350-9DD5DC254556}"/>
              </a:ext>
            </a:extLst>
          </p:cNvPr>
          <p:cNvSpPr/>
          <p:nvPr/>
        </p:nvSpPr>
        <p:spPr>
          <a:xfrm>
            <a:off x="508000" y="1841500"/>
            <a:ext cx="254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ko-KR" altLang="en-US" sz="1400" b="1" dirty="0">
                <a:solidFill>
                  <a:srgbClr val="1F497D"/>
                </a:solidFill>
                <a:latin typeface="+mn-ea"/>
                <a:ea typeface="+mn-ea"/>
              </a:rPr>
              <a:t>기존 데이터 분석 프로세스</a:t>
            </a:r>
          </a:p>
        </p:txBody>
      </p:sp>
      <p:sp>
        <p:nvSpPr>
          <p:cNvPr id="10" name="Shape101">
            <a:extLst>
              <a:ext uri="{FF2B5EF4-FFF2-40B4-BE49-F238E27FC236}">
                <a16:creationId xmlns:a16="http://schemas.microsoft.com/office/drawing/2014/main" id="{707DD7FF-AA71-C13B-4997-1FE6DE23A3E0}"/>
              </a:ext>
            </a:extLst>
          </p:cNvPr>
          <p:cNvSpPr/>
          <p:nvPr/>
        </p:nvSpPr>
        <p:spPr>
          <a:xfrm>
            <a:off x="444500" y="2222500"/>
            <a:ext cx="1397000" cy="889000"/>
          </a:xfrm>
          <a:prstGeom prst="roundRect">
            <a:avLst/>
          </a:prstGeom>
          <a:solidFill>
            <a:srgbClr val="1F497D"/>
          </a:solidFill>
          <a:ln>
            <a:noFill/>
          </a:ln>
        </p:spPr>
        <p:txBody>
          <a:bodyPr wrap="square" lIns="101600" tIns="76200" rIns="101600" bIns="76200" anchor="ctr"/>
          <a:lstStyle/>
          <a:p>
            <a:pPr algn="ctr"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+mn-ea"/>
                <a:ea typeface="+mn-ea"/>
              </a:rPr>
              <a:t>데이터 추출</a:t>
            </a:r>
          </a:p>
        </p:txBody>
      </p:sp>
      <p:sp>
        <p:nvSpPr>
          <p:cNvPr id="11" name="Shape102">
            <a:extLst>
              <a:ext uri="{FF2B5EF4-FFF2-40B4-BE49-F238E27FC236}">
                <a16:creationId xmlns:a16="http://schemas.microsoft.com/office/drawing/2014/main" id="{4457FB37-FA1F-266D-D1BD-AC8F9403FDDA}"/>
              </a:ext>
            </a:extLst>
          </p:cNvPr>
          <p:cNvSpPr/>
          <p:nvPr/>
        </p:nvSpPr>
        <p:spPr>
          <a:xfrm>
            <a:off x="1892300" y="2489200"/>
            <a:ext cx="406400" cy="355600"/>
          </a:xfrm>
          <a:prstGeom prst="rightArrow">
            <a:avLst/>
          </a:prstGeom>
          <a:solidFill>
            <a:srgbClr val="1F497D"/>
          </a:solidFill>
          <a:ln>
            <a:noFill/>
          </a:ln>
        </p:spPr>
        <p:txBody>
          <a:bodyPr wrap="square" lIns="101600" tIns="76200" rIns="101600" bIns="76200" anchor="ctr"/>
          <a:lstStyle/>
          <a:p>
            <a:endParaRPr lang="ko-KR"/>
          </a:p>
        </p:txBody>
      </p:sp>
      <p:sp>
        <p:nvSpPr>
          <p:cNvPr id="13" name="Shape103">
            <a:extLst>
              <a:ext uri="{FF2B5EF4-FFF2-40B4-BE49-F238E27FC236}">
                <a16:creationId xmlns:a16="http://schemas.microsoft.com/office/drawing/2014/main" id="{DB94CB2E-B741-BD38-D9F4-B6122F6B233D}"/>
              </a:ext>
            </a:extLst>
          </p:cNvPr>
          <p:cNvSpPr/>
          <p:nvPr/>
        </p:nvSpPr>
        <p:spPr>
          <a:xfrm>
            <a:off x="2349500" y="2222500"/>
            <a:ext cx="1397000" cy="889000"/>
          </a:xfrm>
          <a:prstGeom prst="roundRect">
            <a:avLst/>
          </a:prstGeom>
          <a:solidFill>
            <a:srgbClr val="1F497D"/>
          </a:solidFill>
          <a:ln>
            <a:noFill/>
          </a:ln>
        </p:spPr>
        <p:txBody>
          <a:bodyPr wrap="square" lIns="101600" tIns="76200" rIns="101600" bIns="76200" anchor="ctr"/>
          <a:lstStyle/>
          <a:p>
            <a:pPr algn="ctr"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+mn-ea"/>
                <a:ea typeface="+mn-ea"/>
              </a:rPr>
              <a:t>전처리</a:t>
            </a:r>
          </a:p>
        </p:txBody>
      </p:sp>
      <p:sp>
        <p:nvSpPr>
          <p:cNvPr id="20" name="Shape104">
            <a:extLst>
              <a:ext uri="{FF2B5EF4-FFF2-40B4-BE49-F238E27FC236}">
                <a16:creationId xmlns:a16="http://schemas.microsoft.com/office/drawing/2014/main" id="{F8171DE4-1495-FD2C-9528-3426D7FD5741}"/>
              </a:ext>
            </a:extLst>
          </p:cNvPr>
          <p:cNvSpPr/>
          <p:nvPr/>
        </p:nvSpPr>
        <p:spPr>
          <a:xfrm>
            <a:off x="3797300" y="2489200"/>
            <a:ext cx="406400" cy="355600"/>
          </a:xfrm>
          <a:prstGeom prst="rightArrow">
            <a:avLst/>
          </a:prstGeom>
          <a:solidFill>
            <a:srgbClr val="1F497D"/>
          </a:solidFill>
          <a:ln>
            <a:noFill/>
          </a:ln>
        </p:spPr>
        <p:txBody>
          <a:bodyPr wrap="square" lIns="101600" tIns="76200" rIns="101600" bIns="76200" anchor="ctr"/>
          <a:lstStyle/>
          <a:p>
            <a:endParaRPr lang="ko-KR"/>
          </a:p>
        </p:txBody>
      </p:sp>
      <p:sp>
        <p:nvSpPr>
          <p:cNvPr id="21" name="Shape105">
            <a:extLst>
              <a:ext uri="{FF2B5EF4-FFF2-40B4-BE49-F238E27FC236}">
                <a16:creationId xmlns:a16="http://schemas.microsoft.com/office/drawing/2014/main" id="{A8C0FE1B-AE96-8B38-EA14-D15FC12DC787}"/>
              </a:ext>
            </a:extLst>
          </p:cNvPr>
          <p:cNvSpPr/>
          <p:nvPr/>
        </p:nvSpPr>
        <p:spPr>
          <a:xfrm>
            <a:off x="4254500" y="2222500"/>
            <a:ext cx="1397000" cy="889000"/>
          </a:xfrm>
          <a:prstGeom prst="roundRect">
            <a:avLst/>
          </a:prstGeom>
          <a:solidFill>
            <a:srgbClr val="1F497D"/>
          </a:solidFill>
          <a:ln>
            <a:noFill/>
          </a:ln>
        </p:spPr>
        <p:txBody>
          <a:bodyPr wrap="square" lIns="101600" tIns="76200" rIns="101600" bIns="76200" anchor="ctr"/>
          <a:lstStyle/>
          <a:p>
            <a:pPr algn="ctr"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+mn-ea"/>
                <a:ea typeface="+mn-ea"/>
              </a:rPr>
              <a:t>분석</a:t>
            </a:r>
          </a:p>
        </p:txBody>
      </p:sp>
      <p:sp>
        <p:nvSpPr>
          <p:cNvPr id="22" name="Shape106">
            <a:extLst>
              <a:ext uri="{FF2B5EF4-FFF2-40B4-BE49-F238E27FC236}">
                <a16:creationId xmlns:a16="http://schemas.microsoft.com/office/drawing/2014/main" id="{9BAC7516-276E-07C2-D89C-AE7CB9529FBB}"/>
              </a:ext>
            </a:extLst>
          </p:cNvPr>
          <p:cNvSpPr/>
          <p:nvPr/>
        </p:nvSpPr>
        <p:spPr>
          <a:xfrm>
            <a:off x="5702300" y="2489200"/>
            <a:ext cx="406400" cy="355600"/>
          </a:xfrm>
          <a:prstGeom prst="rightArrow">
            <a:avLst/>
          </a:prstGeom>
          <a:solidFill>
            <a:srgbClr val="1F497D"/>
          </a:solidFill>
          <a:ln>
            <a:noFill/>
          </a:ln>
        </p:spPr>
        <p:txBody>
          <a:bodyPr wrap="square" lIns="101600" tIns="76200" rIns="101600" bIns="76200" anchor="ctr"/>
          <a:lstStyle/>
          <a:p>
            <a:endParaRPr lang="ko-KR"/>
          </a:p>
        </p:txBody>
      </p:sp>
      <p:sp>
        <p:nvSpPr>
          <p:cNvPr id="27" name="Shape107">
            <a:extLst>
              <a:ext uri="{FF2B5EF4-FFF2-40B4-BE49-F238E27FC236}">
                <a16:creationId xmlns:a16="http://schemas.microsoft.com/office/drawing/2014/main" id="{E7CBBBCD-149E-A764-75E0-166AFF195635}"/>
              </a:ext>
            </a:extLst>
          </p:cNvPr>
          <p:cNvSpPr/>
          <p:nvPr/>
        </p:nvSpPr>
        <p:spPr>
          <a:xfrm>
            <a:off x="6159500" y="2222500"/>
            <a:ext cx="1397000" cy="889000"/>
          </a:xfrm>
          <a:prstGeom prst="roundRect">
            <a:avLst/>
          </a:prstGeom>
          <a:solidFill>
            <a:srgbClr val="1F497D"/>
          </a:solidFill>
          <a:ln>
            <a:noFill/>
          </a:ln>
        </p:spPr>
        <p:txBody>
          <a:bodyPr wrap="square" lIns="101600" tIns="76200" rIns="101600" bIns="76200" anchor="ctr"/>
          <a:lstStyle/>
          <a:p>
            <a:pPr algn="ctr"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+mn-ea"/>
                <a:ea typeface="+mn-ea"/>
              </a:rPr>
              <a:t>시각화</a:t>
            </a:r>
          </a:p>
        </p:txBody>
      </p:sp>
      <p:sp>
        <p:nvSpPr>
          <p:cNvPr id="29" name="Shape108">
            <a:extLst>
              <a:ext uri="{FF2B5EF4-FFF2-40B4-BE49-F238E27FC236}">
                <a16:creationId xmlns:a16="http://schemas.microsoft.com/office/drawing/2014/main" id="{C23CC4CD-F904-7AE4-B779-FE8A0250521A}"/>
              </a:ext>
            </a:extLst>
          </p:cNvPr>
          <p:cNvSpPr/>
          <p:nvPr/>
        </p:nvSpPr>
        <p:spPr>
          <a:xfrm>
            <a:off x="7607300" y="2489200"/>
            <a:ext cx="406400" cy="355600"/>
          </a:xfrm>
          <a:prstGeom prst="rightArrow">
            <a:avLst/>
          </a:prstGeom>
          <a:solidFill>
            <a:srgbClr val="1F497D"/>
          </a:solidFill>
          <a:ln>
            <a:noFill/>
          </a:ln>
        </p:spPr>
        <p:txBody>
          <a:bodyPr wrap="square" lIns="101600" tIns="76200" rIns="101600" bIns="76200" anchor="ctr"/>
          <a:lstStyle/>
          <a:p>
            <a:endParaRPr lang="ko-KR"/>
          </a:p>
        </p:txBody>
      </p:sp>
      <p:sp>
        <p:nvSpPr>
          <p:cNvPr id="33" name="Shape109">
            <a:extLst>
              <a:ext uri="{FF2B5EF4-FFF2-40B4-BE49-F238E27FC236}">
                <a16:creationId xmlns:a16="http://schemas.microsoft.com/office/drawing/2014/main" id="{D9951811-6D03-8DCF-174B-D4DF3759ADDD}"/>
              </a:ext>
            </a:extLst>
          </p:cNvPr>
          <p:cNvSpPr/>
          <p:nvPr/>
        </p:nvSpPr>
        <p:spPr>
          <a:xfrm>
            <a:off x="8064500" y="2222500"/>
            <a:ext cx="1397000" cy="889000"/>
          </a:xfrm>
          <a:prstGeom prst="roundRect">
            <a:avLst/>
          </a:prstGeom>
          <a:solidFill>
            <a:srgbClr val="1F497D"/>
          </a:solidFill>
          <a:ln>
            <a:noFill/>
          </a:ln>
        </p:spPr>
        <p:txBody>
          <a:bodyPr wrap="square" lIns="101600" tIns="76200" rIns="101600" bIns="76200" anchor="ctr"/>
          <a:lstStyle/>
          <a:p>
            <a:pPr algn="ctr"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+mn-ea"/>
                <a:ea typeface="+mn-ea"/>
              </a:rPr>
              <a:t>해석</a:t>
            </a:r>
          </a:p>
        </p:txBody>
      </p:sp>
      <p:sp>
        <p:nvSpPr>
          <p:cNvPr id="35" name="Shape110">
            <a:extLst>
              <a:ext uri="{FF2B5EF4-FFF2-40B4-BE49-F238E27FC236}">
                <a16:creationId xmlns:a16="http://schemas.microsoft.com/office/drawing/2014/main" id="{0F4F1892-437B-59A1-24DF-CE1103A89942}"/>
              </a:ext>
            </a:extLst>
          </p:cNvPr>
          <p:cNvSpPr/>
          <p:nvPr/>
        </p:nvSpPr>
        <p:spPr>
          <a:xfrm>
            <a:off x="508000" y="33401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ko-KR" altLang="en-US" sz="1400" b="1" dirty="0">
                <a:solidFill>
                  <a:srgbClr val="1F497D"/>
                </a:solidFill>
                <a:latin typeface="+mn-ea"/>
                <a:ea typeface="+mn-ea"/>
              </a:rPr>
              <a:t>주요 한계점</a:t>
            </a:r>
          </a:p>
        </p:txBody>
      </p:sp>
      <p:sp>
        <p:nvSpPr>
          <p:cNvPr id="41" name="Shape111">
            <a:extLst>
              <a:ext uri="{FF2B5EF4-FFF2-40B4-BE49-F238E27FC236}">
                <a16:creationId xmlns:a16="http://schemas.microsoft.com/office/drawing/2014/main" id="{777D5833-0D51-6ECE-D718-06C29F25FEF6}"/>
              </a:ext>
            </a:extLst>
          </p:cNvPr>
          <p:cNvSpPr/>
          <p:nvPr/>
        </p:nvSpPr>
        <p:spPr>
          <a:xfrm>
            <a:off x="444500" y="3683000"/>
            <a:ext cx="2794000" cy="1397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497D"/>
            </a:solidFill>
          </a:ln>
        </p:spPr>
        <p:txBody>
          <a:bodyPr wrap="square" lIns="101600" tIns="76200" rIns="101600" bIns="76200" anchor="ctr"/>
          <a:lstStyle/>
          <a:p>
            <a:endParaRPr lang="ko-KR"/>
          </a:p>
        </p:txBody>
      </p:sp>
      <p:sp>
        <p:nvSpPr>
          <p:cNvPr id="44" name="Shape112">
            <a:extLst>
              <a:ext uri="{FF2B5EF4-FFF2-40B4-BE49-F238E27FC236}">
                <a16:creationId xmlns:a16="http://schemas.microsoft.com/office/drawing/2014/main" id="{B92E4816-5E51-FA34-8690-D54C3174B4D5}"/>
              </a:ext>
            </a:extLst>
          </p:cNvPr>
          <p:cNvSpPr/>
          <p:nvPr/>
        </p:nvSpPr>
        <p:spPr>
          <a:xfrm>
            <a:off x="596900" y="3835400"/>
            <a:ext cx="406400" cy="406400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txBody>
          <a:bodyPr wrap="square" lIns="101600" tIns="76200" rIns="101600" bIns="76200" anchor="ctr"/>
          <a:lstStyle/>
          <a:p>
            <a:pPr algn="ctr"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50" name="Shape113">
            <a:extLst>
              <a:ext uri="{FF2B5EF4-FFF2-40B4-BE49-F238E27FC236}">
                <a16:creationId xmlns:a16="http://schemas.microsoft.com/office/drawing/2014/main" id="{DE08B4D4-D53C-8068-6F82-6E2C671F1221}"/>
              </a:ext>
            </a:extLst>
          </p:cNvPr>
          <p:cNvSpPr/>
          <p:nvPr/>
        </p:nvSpPr>
        <p:spPr>
          <a:xfrm>
            <a:off x="1079500" y="3860800"/>
            <a:ext cx="2032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ko-KR" altLang="en-US" sz="1500" b="1" dirty="0">
                <a:solidFill>
                  <a:srgbClr val="1F497D"/>
                </a:solidFill>
                <a:latin typeface="+mn-ea"/>
                <a:ea typeface="+mn-ea"/>
              </a:rPr>
              <a:t>단계별 작업 분리</a:t>
            </a:r>
          </a:p>
        </p:txBody>
      </p:sp>
      <p:sp>
        <p:nvSpPr>
          <p:cNvPr id="56" name="Shape114">
            <a:extLst>
              <a:ext uri="{FF2B5EF4-FFF2-40B4-BE49-F238E27FC236}">
                <a16:creationId xmlns:a16="http://schemas.microsoft.com/office/drawing/2014/main" id="{E28ACC03-2FA0-65E8-0E9D-CA28635DF128}"/>
              </a:ext>
            </a:extLst>
          </p:cNvPr>
          <p:cNvSpPr/>
          <p:nvPr/>
        </p:nvSpPr>
        <p:spPr>
          <a:xfrm>
            <a:off x="622300" y="4318000"/>
            <a:ext cx="2438400" cy="685800"/>
          </a:xfrm>
          <a:prstGeom prst="rect">
            <a:avLst/>
          </a:prstGeom>
          <a:noFill/>
          <a:ln>
            <a:noFill/>
          </a:ln>
        </p:spPr>
        <p:txBody>
          <a:bodyPr wrap="square" lIns="50800" tIns="0" rIns="50800" bIns="0" anchor="t"/>
          <a:lstStyle/>
          <a:p>
            <a:pPr algn="l">
              <a:buNone/>
            </a:pPr>
            <a:r>
              <a:rPr lang="ko-KR" altLang="en-US" sz="1400" dirty="0">
                <a:solidFill>
                  <a:srgbClr val="1A1A1A"/>
                </a:solidFill>
                <a:latin typeface="+mn-ea"/>
                <a:ea typeface="+mn-ea"/>
              </a:rPr>
              <a:t>프로세스가 분절되어</a:t>
            </a:r>
          </a:p>
          <a:p>
            <a:pPr algn="l">
              <a:buNone/>
            </a:pPr>
            <a:r>
              <a:rPr lang="ko-KR" altLang="en-US" sz="1400" dirty="0">
                <a:solidFill>
                  <a:srgbClr val="1A1A1A"/>
                </a:solidFill>
                <a:latin typeface="+mn-ea"/>
                <a:ea typeface="+mn-ea"/>
              </a:rPr>
              <a:t>전체 흐름이 단절됨</a:t>
            </a:r>
          </a:p>
        </p:txBody>
      </p:sp>
      <p:sp>
        <p:nvSpPr>
          <p:cNvPr id="57" name="Shape115">
            <a:extLst>
              <a:ext uri="{FF2B5EF4-FFF2-40B4-BE49-F238E27FC236}">
                <a16:creationId xmlns:a16="http://schemas.microsoft.com/office/drawing/2014/main" id="{9E37C973-9F72-CD12-722A-5E16310F3922}"/>
              </a:ext>
            </a:extLst>
          </p:cNvPr>
          <p:cNvSpPr/>
          <p:nvPr/>
        </p:nvSpPr>
        <p:spPr>
          <a:xfrm>
            <a:off x="3556000" y="3683000"/>
            <a:ext cx="2794000" cy="1397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497D"/>
            </a:solidFill>
          </a:ln>
        </p:spPr>
        <p:txBody>
          <a:bodyPr wrap="square" lIns="101600" tIns="76200" rIns="101600" bIns="76200" anchor="ctr"/>
          <a:lstStyle/>
          <a:p>
            <a:endParaRPr lang="ko-KR"/>
          </a:p>
        </p:txBody>
      </p:sp>
      <p:sp>
        <p:nvSpPr>
          <p:cNvPr id="58" name="Shape116">
            <a:extLst>
              <a:ext uri="{FF2B5EF4-FFF2-40B4-BE49-F238E27FC236}">
                <a16:creationId xmlns:a16="http://schemas.microsoft.com/office/drawing/2014/main" id="{68DB5C11-AF13-B0DD-FF91-D3D85E2B96A5}"/>
              </a:ext>
            </a:extLst>
          </p:cNvPr>
          <p:cNvSpPr/>
          <p:nvPr/>
        </p:nvSpPr>
        <p:spPr>
          <a:xfrm>
            <a:off x="3708400" y="3835400"/>
            <a:ext cx="406400" cy="406400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txBody>
          <a:bodyPr wrap="square" lIns="101600" tIns="76200" rIns="101600" bIns="76200" anchor="ctr"/>
          <a:lstStyle/>
          <a:p>
            <a:pPr algn="ctr"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+mn-ea"/>
                <a:ea typeface="+mn-ea"/>
              </a:rPr>
              <a:t>2</a:t>
            </a:r>
          </a:p>
        </p:txBody>
      </p:sp>
      <p:sp>
        <p:nvSpPr>
          <p:cNvPr id="60" name="Shape117">
            <a:extLst>
              <a:ext uri="{FF2B5EF4-FFF2-40B4-BE49-F238E27FC236}">
                <a16:creationId xmlns:a16="http://schemas.microsoft.com/office/drawing/2014/main" id="{616CAD60-F6A2-D726-DFAB-8F3A0C2C4686}"/>
              </a:ext>
            </a:extLst>
          </p:cNvPr>
          <p:cNvSpPr/>
          <p:nvPr/>
        </p:nvSpPr>
        <p:spPr>
          <a:xfrm>
            <a:off x="4191000" y="3860800"/>
            <a:ext cx="2032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ko-KR" altLang="en-US" sz="1500" b="1" dirty="0">
                <a:solidFill>
                  <a:srgbClr val="1F497D"/>
                </a:solidFill>
                <a:latin typeface="+mn-ea"/>
                <a:ea typeface="+mn-ea"/>
              </a:rPr>
              <a:t>사람 의존도 높음</a:t>
            </a:r>
          </a:p>
        </p:txBody>
      </p:sp>
      <p:sp>
        <p:nvSpPr>
          <p:cNvPr id="63" name="Shape118">
            <a:extLst>
              <a:ext uri="{FF2B5EF4-FFF2-40B4-BE49-F238E27FC236}">
                <a16:creationId xmlns:a16="http://schemas.microsoft.com/office/drawing/2014/main" id="{5EF39A5C-0006-7632-7545-0C7F199F2DDA}"/>
              </a:ext>
            </a:extLst>
          </p:cNvPr>
          <p:cNvSpPr/>
          <p:nvPr/>
        </p:nvSpPr>
        <p:spPr>
          <a:xfrm>
            <a:off x="3733800" y="4318000"/>
            <a:ext cx="2438400" cy="685800"/>
          </a:xfrm>
          <a:prstGeom prst="rect">
            <a:avLst/>
          </a:prstGeom>
          <a:noFill/>
          <a:ln>
            <a:noFill/>
          </a:ln>
        </p:spPr>
        <p:txBody>
          <a:bodyPr wrap="square" lIns="50800" tIns="0" rIns="50800" bIns="0" anchor="t"/>
          <a:lstStyle/>
          <a:p>
            <a:pPr algn="l">
              <a:buNone/>
            </a:pPr>
            <a:r>
              <a:rPr lang="ko-KR" altLang="en-US" sz="1400" dirty="0">
                <a:solidFill>
                  <a:srgbClr val="1A1A1A"/>
                </a:solidFill>
                <a:latin typeface="+mn-ea"/>
                <a:ea typeface="+mn-ea"/>
              </a:rPr>
              <a:t>수작업 비중이 커</a:t>
            </a:r>
          </a:p>
          <a:p>
            <a:pPr algn="l">
              <a:buNone/>
            </a:pPr>
            <a:r>
              <a:rPr lang="ko-KR" altLang="en-US" sz="1400" dirty="0">
                <a:solidFill>
                  <a:srgbClr val="1A1A1A"/>
                </a:solidFill>
                <a:latin typeface="+mn-ea"/>
                <a:ea typeface="+mn-ea"/>
              </a:rPr>
              <a:t>전문 인력에 의존</a:t>
            </a:r>
          </a:p>
        </p:txBody>
      </p:sp>
      <p:sp>
        <p:nvSpPr>
          <p:cNvPr id="64" name="Shape119">
            <a:extLst>
              <a:ext uri="{FF2B5EF4-FFF2-40B4-BE49-F238E27FC236}">
                <a16:creationId xmlns:a16="http://schemas.microsoft.com/office/drawing/2014/main" id="{AD91E2C3-B004-83A4-D7C6-0FABD55FFE7F}"/>
              </a:ext>
            </a:extLst>
          </p:cNvPr>
          <p:cNvSpPr/>
          <p:nvPr/>
        </p:nvSpPr>
        <p:spPr>
          <a:xfrm>
            <a:off x="6667500" y="3683000"/>
            <a:ext cx="2794000" cy="1397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497D"/>
            </a:solidFill>
          </a:ln>
        </p:spPr>
        <p:txBody>
          <a:bodyPr wrap="square" lIns="101600" tIns="76200" rIns="101600" bIns="76200" anchor="ctr"/>
          <a:lstStyle/>
          <a:p>
            <a:endParaRPr lang="ko-KR"/>
          </a:p>
        </p:txBody>
      </p:sp>
      <p:sp>
        <p:nvSpPr>
          <p:cNvPr id="65" name="Shape120">
            <a:extLst>
              <a:ext uri="{FF2B5EF4-FFF2-40B4-BE49-F238E27FC236}">
                <a16:creationId xmlns:a16="http://schemas.microsoft.com/office/drawing/2014/main" id="{7F794169-13A4-2721-B698-E3CAC81CF07D}"/>
              </a:ext>
            </a:extLst>
          </p:cNvPr>
          <p:cNvSpPr/>
          <p:nvPr/>
        </p:nvSpPr>
        <p:spPr>
          <a:xfrm>
            <a:off x="6819900" y="3835400"/>
            <a:ext cx="406400" cy="406400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txBody>
          <a:bodyPr wrap="square" lIns="101600" tIns="76200" rIns="101600" bIns="76200" anchor="ctr"/>
          <a:lstStyle/>
          <a:p>
            <a:pPr algn="ctr"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+mn-ea"/>
                <a:ea typeface="+mn-ea"/>
              </a:rPr>
              <a:t>3</a:t>
            </a:r>
          </a:p>
        </p:txBody>
      </p:sp>
      <p:sp>
        <p:nvSpPr>
          <p:cNvPr id="66" name="Shape121">
            <a:extLst>
              <a:ext uri="{FF2B5EF4-FFF2-40B4-BE49-F238E27FC236}">
                <a16:creationId xmlns:a16="http://schemas.microsoft.com/office/drawing/2014/main" id="{94436736-3CBC-7642-D9DD-E354C907E788}"/>
              </a:ext>
            </a:extLst>
          </p:cNvPr>
          <p:cNvSpPr/>
          <p:nvPr/>
        </p:nvSpPr>
        <p:spPr>
          <a:xfrm>
            <a:off x="7302500" y="3860800"/>
            <a:ext cx="2032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ko-KR" altLang="en-US" sz="1500" b="1" dirty="0">
                <a:solidFill>
                  <a:srgbClr val="1F497D"/>
                </a:solidFill>
                <a:latin typeface="+mn-ea"/>
                <a:ea typeface="+mn-ea"/>
              </a:rPr>
              <a:t>분석 리드타임 증가</a:t>
            </a:r>
          </a:p>
        </p:txBody>
      </p:sp>
      <p:sp>
        <p:nvSpPr>
          <p:cNvPr id="67" name="Shape122">
            <a:extLst>
              <a:ext uri="{FF2B5EF4-FFF2-40B4-BE49-F238E27FC236}">
                <a16:creationId xmlns:a16="http://schemas.microsoft.com/office/drawing/2014/main" id="{468A3DDF-09F5-AFFC-FBB5-3367BC46D6F0}"/>
              </a:ext>
            </a:extLst>
          </p:cNvPr>
          <p:cNvSpPr/>
          <p:nvPr/>
        </p:nvSpPr>
        <p:spPr>
          <a:xfrm>
            <a:off x="6845300" y="4318000"/>
            <a:ext cx="2438400" cy="685800"/>
          </a:xfrm>
          <a:prstGeom prst="rect">
            <a:avLst/>
          </a:prstGeom>
          <a:noFill/>
          <a:ln>
            <a:noFill/>
          </a:ln>
        </p:spPr>
        <p:txBody>
          <a:bodyPr wrap="square" lIns="50800" tIns="0" rIns="50800" bIns="0" anchor="t"/>
          <a:lstStyle/>
          <a:p>
            <a:pPr algn="l">
              <a:buNone/>
            </a:pPr>
            <a:r>
              <a:rPr lang="ko-KR" altLang="en-US" sz="1400" dirty="0">
                <a:solidFill>
                  <a:srgbClr val="1A1A1A"/>
                </a:solidFill>
                <a:latin typeface="+mn-ea"/>
                <a:ea typeface="+mn-ea"/>
              </a:rPr>
              <a:t>단계 간 핸드오프로</a:t>
            </a:r>
          </a:p>
          <a:p>
            <a:pPr algn="l">
              <a:buNone/>
            </a:pPr>
            <a:r>
              <a:rPr lang="ko-KR" altLang="en-US" sz="1400" dirty="0">
                <a:solidFill>
                  <a:srgbClr val="1A1A1A"/>
                </a:solidFill>
                <a:latin typeface="+mn-ea"/>
                <a:ea typeface="+mn-ea"/>
              </a:rPr>
              <a:t>결과 도출이 지연</a:t>
            </a:r>
          </a:p>
        </p:txBody>
      </p:sp>
      <p:sp>
        <p:nvSpPr>
          <p:cNvPr id="69" name="Shape123">
            <a:extLst>
              <a:ext uri="{FF2B5EF4-FFF2-40B4-BE49-F238E27FC236}">
                <a16:creationId xmlns:a16="http://schemas.microsoft.com/office/drawing/2014/main" id="{55FEE150-3712-45C5-7289-7A128B29393A}"/>
              </a:ext>
            </a:extLst>
          </p:cNvPr>
          <p:cNvSpPr/>
          <p:nvPr/>
        </p:nvSpPr>
        <p:spPr>
          <a:xfrm>
            <a:off x="1270000" y="5397500"/>
            <a:ext cx="7366000" cy="76200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wrap="square" lIns="101600" tIns="76200" rIns="101600" bIns="76200" anchor="ctr"/>
          <a:lstStyle/>
          <a:p>
            <a:pPr algn="ctr"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+mn-ea"/>
                <a:ea typeface="+mn-ea"/>
              </a:rPr>
              <a:t>→ 빠른 의사결정이 어려움</a:t>
            </a:r>
          </a:p>
        </p:txBody>
      </p:sp>
    </p:spTree>
    <p:extLst>
      <p:ext uri="{BB962C8B-B14F-4D97-AF65-F5344CB8AC3E}">
        <p14:creationId xmlns:p14="http://schemas.microsoft.com/office/powerpoint/2010/main" val="28624408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B25A7-35E3-12EF-0E61-2FA0C9CB4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41DA4A3-12DF-BB7C-2B68-4B939E270E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 err="1"/>
              <a:t>ECMinerAI</a:t>
            </a:r>
            <a:r>
              <a:rPr lang="en-US" altLang="ko-KR" dirty="0"/>
              <a:t>™ AIDA: </a:t>
            </a:r>
            <a:r>
              <a:rPr lang="ko-KR" altLang="en-US" dirty="0"/>
              <a:t>인공지능 기반 자동 분석시스템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2515E42-DCA1-DEAF-43CA-B1635EAB4FF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AIDA</a:t>
            </a:r>
            <a:r>
              <a:rPr lang="ko-KR" altLang="en-US" dirty="0"/>
              <a:t>는 사용자가 글이나 음성으로 질문을 하면 사용자의 질문 의도를 이해하여 </a:t>
            </a:r>
            <a:r>
              <a:rPr lang="en-US" altLang="ko-KR" dirty="0"/>
              <a:t>1) </a:t>
            </a:r>
            <a:r>
              <a:rPr lang="ko-KR" altLang="en-US" dirty="0"/>
              <a:t>생성형 인공지능</a:t>
            </a:r>
            <a:r>
              <a:rPr lang="en-US" altLang="ko-KR" dirty="0"/>
              <a:t>(</a:t>
            </a:r>
            <a:r>
              <a:rPr lang="en-US" altLang="ko-KR" dirty="0" err="1"/>
              <a:t>sLLM</a:t>
            </a:r>
            <a:r>
              <a:rPr lang="en-US" altLang="ko-KR" dirty="0"/>
              <a:t> w/RAG) </a:t>
            </a:r>
            <a:r>
              <a:rPr lang="ko-KR" altLang="en-US" dirty="0"/>
              <a:t>시반 정성적 분석 결과와 </a:t>
            </a:r>
            <a:r>
              <a:rPr lang="en-US" altLang="ko-KR" dirty="0"/>
              <a:t>2) ECMiner™ </a:t>
            </a:r>
            <a:r>
              <a:rPr lang="ko-KR" altLang="en-US" dirty="0"/>
              <a:t>기반 정량적 분석 결과를 융합하여 답변을 제공하는 시스템입니다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B9BDEADE-24CB-2ED2-FD59-70B829D96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+mn-ea"/>
              </a:rPr>
              <a:t>1. </a:t>
            </a:r>
            <a:r>
              <a:rPr lang="en-US" altLang="ko-KR" dirty="0" err="1">
                <a:solidFill>
                  <a:schemeClr val="bg1"/>
                </a:solidFill>
                <a:latin typeface="+mn-ea"/>
              </a:rPr>
              <a:t>ECMiner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™ AIDA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 개요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B4F4BEB-563A-A4F2-478D-FEE777B54D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E09965C-9C74-F5DB-989E-A148C2ACC5E4}"/>
              </a:ext>
            </a:extLst>
          </p:cNvPr>
          <p:cNvSpPr/>
          <p:nvPr/>
        </p:nvSpPr>
        <p:spPr>
          <a:xfrm>
            <a:off x="3451826" y="4718427"/>
            <a:ext cx="3573080" cy="68624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7B10621-08D6-2952-4EDD-7CC83426C50F}"/>
              </a:ext>
            </a:extLst>
          </p:cNvPr>
          <p:cNvSpPr/>
          <p:nvPr/>
        </p:nvSpPr>
        <p:spPr>
          <a:xfrm>
            <a:off x="3216828" y="1991262"/>
            <a:ext cx="1811876" cy="24482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AB6FDEB-2F11-72DC-E43D-5EF3DDAB37D7}"/>
              </a:ext>
            </a:extLst>
          </p:cNvPr>
          <p:cNvSpPr/>
          <p:nvPr/>
        </p:nvSpPr>
        <p:spPr>
          <a:xfrm>
            <a:off x="5788151" y="1978137"/>
            <a:ext cx="1811876" cy="24482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pic>
        <p:nvPicPr>
          <p:cNvPr id="11" name="그림 10" descr="만화 영화, 소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01059D6-00DF-68C8-D56F-5F10CC884A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519" y="2486708"/>
            <a:ext cx="877429" cy="1008109"/>
          </a:xfrm>
          <a:prstGeom prst="rect">
            <a:avLst/>
          </a:prstGeom>
        </p:spPr>
      </p:pic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BBA5EBBC-F420-F509-330F-0A56FF489D01}"/>
              </a:ext>
            </a:extLst>
          </p:cNvPr>
          <p:cNvSpPr/>
          <p:nvPr/>
        </p:nvSpPr>
        <p:spPr>
          <a:xfrm>
            <a:off x="3728446" y="2363897"/>
            <a:ext cx="855694" cy="648072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r>
              <a:rPr lang="en-US" altLang="ko-KR" sz="240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맑은 고딕"/>
                <a:ea typeface="맑은 고딕"/>
              </a:rPr>
              <a:t>AI</a:t>
            </a:r>
            <a:endParaRPr lang="ko-KR" altLang="en-US" sz="240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맑은 고딕"/>
              <a:ea typeface="맑은 고딕"/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E19A326D-8C28-54DC-3ED5-396B9EAFBF9A}"/>
              </a:ext>
            </a:extLst>
          </p:cNvPr>
          <p:cNvGrpSpPr/>
          <p:nvPr/>
        </p:nvGrpSpPr>
        <p:grpSpPr>
          <a:xfrm>
            <a:off x="1818171" y="2485755"/>
            <a:ext cx="1910275" cy="296721"/>
            <a:chOff x="1568281" y="2844247"/>
            <a:chExt cx="1599323" cy="296721"/>
          </a:xfrm>
        </p:grpSpPr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0A39F591-8B93-0F95-0047-5180A86361A5}"/>
                </a:ext>
              </a:extLst>
            </p:cNvPr>
            <p:cNvCxnSpPr>
              <a:cxnSpLocks/>
            </p:cNvCxnSpPr>
            <p:nvPr/>
          </p:nvCxnSpPr>
          <p:spPr>
            <a:xfrm>
              <a:off x="1568281" y="2844247"/>
              <a:ext cx="1599323" cy="95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화살표 연결선 26">
              <a:extLst>
                <a:ext uri="{FF2B5EF4-FFF2-40B4-BE49-F238E27FC236}">
                  <a16:creationId xmlns:a16="http://schemas.microsoft.com/office/drawing/2014/main" id="{67F595F8-8DBE-B13B-C632-D8D36BF17D9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68281" y="3140968"/>
              <a:ext cx="159932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9" name="그림 28" descr="도표, 디자인, 일렉트릭 블루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E5C7454-C1D3-7AD3-3C74-D2421AF15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9171" y="2901045"/>
            <a:ext cx="485576" cy="577259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8F335727-9B23-6E93-874B-646DD639A465}"/>
              </a:ext>
            </a:extLst>
          </p:cNvPr>
          <p:cNvSpPr txBox="1"/>
          <p:nvPr/>
        </p:nvSpPr>
        <p:spPr>
          <a:xfrm>
            <a:off x="2258897" y="2223239"/>
            <a:ext cx="441146" cy="24622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질의</a:t>
            </a:r>
          </a:p>
        </p:txBody>
      </p:sp>
      <p:pic>
        <p:nvPicPr>
          <p:cNvPr id="35" name="그림 34" descr="원, 도표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BB4C0DA-E399-983D-02EE-3AEC396CFB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0802" y="3401565"/>
            <a:ext cx="946709" cy="834540"/>
          </a:xfrm>
          <a:prstGeom prst="rect">
            <a:avLst/>
          </a:prstGeom>
          <a:ln>
            <a:solidFill>
              <a:schemeClr val="tx2">
                <a:lumMod val="40000"/>
                <a:lumOff val="60000"/>
              </a:schemeClr>
            </a:solidFill>
          </a:ln>
        </p:spPr>
      </p:pic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860D49D8-53C8-369C-A969-234941772958}"/>
              </a:ext>
            </a:extLst>
          </p:cNvPr>
          <p:cNvCxnSpPr>
            <a:cxnSpLocks/>
            <a:stCxn id="20" idx="2"/>
            <a:endCxn id="35" idx="0"/>
          </p:cNvCxnSpPr>
          <p:nvPr/>
        </p:nvCxnSpPr>
        <p:spPr>
          <a:xfrm>
            <a:off x="4156293" y="3011969"/>
            <a:ext cx="7864" cy="38959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" name="그림 43" descr="텍스트, 스크린샷, 도표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07F26CA-C0C7-CF96-1530-D0867AF56F4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4163"/>
          <a:stretch>
            <a:fillRect/>
          </a:stretch>
        </p:blipFill>
        <p:spPr>
          <a:xfrm>
            <a:off x="5981338" y="2795944"/>
            <a:ext cx="1440160" cy="781584"/>
          </a:xfrm>
          <a:prstGeom prst="rect">
            <a:avLst/>
          </a:prstGeom>
          <a:ln w="6350">
            <a:solidFill>
              <a:schemeClr val="tx2">
                <a:lumMod val="60000"/>
                <a:lumOff val="40000"/>
              </a:schemeClr>
            </a:solidFill>
          </a:ln>
        </p:spPr>
      </p:pic>
      <p:grpSp>
        <p:nvGrpSpPr>
          <p:cNvPr id="50" name="그룹 49">
            <a:extLst>
              <a:ext uri="{FF2B5EF4-FFF2-40B4-BE49-F238E27FC236}">
                <a16:creationId xmlns:a16="http://schemas.microsoft.com/office/drawing/2014/main" id="{6E52C4EF-8FE0-8162-2C59-E896188820D6}"/>
              </a:ext>
            </a:extLst>
          </p:cNvPr>
          <p:cNvGrpSpPr/>
          <p:nvPr/>
        </p:nvGrpSpPr>
        <p:grpSpPr>
          <a:xfrm>
            <a:off x="6567632" y="6120185"/>
            <a:ext cx="243677" cy="40038"/>
            <a:chOff x="4377982" y="5768287"/>
            <a:chExt cx="224707" cy="40038"/>
          </a:xfrm>
        </p:grpSpPr>
        <p:sp>
          <p:nvSpPr>
            <p:cNvPr id="56" name="타원 55">
              <a:extLst>
                <a:ext uri="{FF2B5EF4-FFF2-40B4-BE49-F238E27FC236}">
                  <a16:creationId xmlns:a16="http://schemas.microsoft.com/office/drawing/2014/main" id="{FAC1DDB6-6B23-C3A9-80F0-21245507CAB7}"/>
                </a:ext>
              </a:extLst>
            </p:cNvPr>
            <p:cNvSpPr/>
            <p:nvPr/>
          </p:nvSpPr>
          <p:spPr>
            <a:xfrm>
              <a:off x="4571251" y="5773585"/>
              <a:ext cx="31438" cy="34740"/>
            </a:xfrm>
            <a:prstGeom prst="ellipse">
              <a:avLst/>
            </a:prstGeom>
            <a:solidFill>
              <a:srgbClr val="1AA0CA"/>
            </a:solidFill>
            <a:ln>
              <a:noFill/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endParaRPr lang="ko-KR" altLang="en-US" dirty="0">
                <a:solidFill>
                  <a:prstClr val="white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57" name="타원 56">
              <a:extLst>
                <a:ext uri="{FF2B5EF4-FFF2-40B4-BE49-F238E27FC236}">
                  <a16:creationId xmlns:a16="http://schemas.microsoft.com/office/drawing/2014/main" id="{F3F65AF0-ED2A-468E-94FE-6E63A6D42035}"/>
                </a:ext>
              </a:extLst>
            </p:cNvPr>
            <p:cNvSpPr/>
            <p:nvPr/>
          </p:nvSpPr>
          <p:spPr>
            <a:xfrm>
              <a:off x="4472220" y="5768287"/>
              <a:ext cx="31438" cy="34740"/>
            </a:xfrm>
            <a:prstGeom prst="ellipse">
              <a:avLst/>
            </a:prstGeom>
            <a:solidFill>
              <a:srgbClr val="1AA0CA"/>
            </a:solidFill>
            <a:ln>
              <a:noFill/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endParaRPr lang="ko-KR" altLang="en-US" dirty="0">
                <a:solidFill>
                  <a:prstClr val="white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1B8E7743-3CFC-0790-54E6-660258C97756}"/>
                </a:ext>
              </a:extLst>
            </p:cNvPr>
            <p:cNvSpPr/>
            <p:nvPr/>
          </p:nvSpPr>
          <p:spPr>
            <a:xfrm>
              <a:off x="4377982" y="5773180"/>
              <a:ext cx="31438" cy="34740"/>
            </a:xfrm>
            <a:prstGeom prst="ellipse">
              <a:avLst/>
            </a:prstGeom>
            <a:solidFill>
              <a:srgbClr val="1AA0CA"/>
            </a:solidFill>
            <a:ln>
              <a:noFill/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endParaRPr lang="ko-KR" altLang="en-US" dirty="0">
                <a:solidFill>
                  <a:prstClr val="white"/>
                </a:solidFill>
                <a:latin typeface="맑은 고딕"/>
                <a:ea typeface="맑은 고딕"/>
              </a:endParaRPr>
            </a:p>
          </p:txBody>
        </p:sp>
      </p:grp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650637A4-3010-13EF-9392-6B5EFC24FE97}"/>
              </a:ext>
            </a:extLst>
          </p:cNvPr>
          <p:cNvGrpSpPr/>
          <p:nvPr/>
        </p:nvGrpSpPr>
        <p:grpSpPr>
          <a:xfrm>
            <a:off x="4304928" y="5886646"/>
            <a:ext cx="895588" cy="538696"/>
            <a:chOff x="2477310" y="5534748"/>
            <a:chExt cx="825867" cy="538696"/>
          </a:xfrm>
        </p:grpSpPr>
        <p:sp>
          <p:nvSpPr>
            <p:cNvPr id="63" name="순서도: 자기 디스크 62">
              <a:extLst>
                <a:ext uri="{FF2B5EF4-FFF2-40B4-BE49-F238E27FC236}">
                  <a16:creationId xmlns:a16="http://schemas.microsoft.com/office/drawing/2014/main" id="{6A2F0F29-3F15-BE5A-4F91-5D9F45E89F98}"/>
                </a:ext>
              </a:extLst>
            </p:cNvPr>
            <p:cNvSpPr/>
            <p:nvPr/>
          </p:nvSpPr>
          <p:spPr>
            <a:xfrm>
              <a:off x="2504334" y="5534748"/>
              <a:ext cx="742737" cy="538696"/>
            </a:xfrm>
            <a:prstGeom prst="flowChartMagneticDisk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endParaRPr lang="ko-KR" altLang="en-US" dirty="0">
                <a:solidFill>
                  <a:prstClr val="white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65C1967A-D278-8989-76B7-FF6D84333B99}"/>
                </a:ext>
              </a:extLst>
            </p:cNvPr>
            <p:cNvSpPr txBox="1"/>
            <p:nvPr/>
          </p:nvSpPr>
          <p:spPr>
            <a:xfrm>
              <a:off x="2477310" y="5743608"/>
              <a:ext cx="825867" cy="246221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latin typeface="+mn-ea"/>
                  <a:ea typeface="+mn-ea"/>
                </a:rPr>
                <a:t>운전 데이터</a:t>
              </a:r>
            </a:p>
          </p:txBody>
        </p:sp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D3E1ACB8-7636-E0F5-4B89-8C368F8A8559}"/>
              </a:ext>
            </a:extLst>
          </p:cNvPr>
          <p:cNvGrpSpPr/>
          <p:nvPr/>
        </p:nvGrpSpPr>
        <p:grpSpPr>
          <a:xfrm>
            <a:off x="5659181" y="5886646"/>
            <a:ext cx="805440" cy="538696"/>
            <a:chOff x="3481903" y="5534748"/>
            <a:chExt cx="742737" cy="538696"/>
          </a:xfrm>
        </p:grpSpPr>
        <p:sp>
          <p:nvSpPr>
            <p:cNvPr id="66" name="순서도: 자기 디스크 65">
              <a:extLst>
                <a:ext uri="{FF2B5EF4-FFF2-40B4-BE49-F238E27FC236}">
                  <a16:creationId xmlns:a16="http://schemas.microsoft.com/office/drawing/2014/main" id="{81AA1437-3CF0-0AE3-A872-0EB4BF32152C}"/>
                </a:ext>
              </a:extLst>
            </p:cNvPr>
            <p:cNvSpPr/>
            <p:nvPr/>
          </p:nvSpPr>
          <p:spPr>
            <a:xfrm>
              <a:off x="3481903" y="5534748"/>
              <a:ext cx="742737" cy="538696"/>
            </a:xfrm>
            <a:prstGeom prst="flowChartMagneticDisk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endParaRPr lang="ko-KR" altLang="en-US" dirty="0">
                <a:solidFill>
                  <a:prstClr val="white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3DCEB471-BF83-BC5D-0710-7F6B86DB209D}"/>
                </a:ext>
              </a:extLst>
            </p:cNvPr>
            <p:cNvSpPr txBox="1"/>
            <p:nvPr/>
          </p:nvSpPr>
          <p:spPr>
            <a:xfrm>
              <a:off x="3648302" y="5743207"/>
              <a:ext cx="441146" cy="246221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latin typeface="+mn-ea"/>
                  <a:ea typeface="+mn-ea"/>
                </a:rPr>
                <a:t>품질</a:t>
              </a:r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23BE2C0B-D28C-9D2B-BB4D-C012A0F7B06D}"/>
              </a:ext>
            </a:extLst>
          </p:cNvPr>
          <p:cNvGrpSpPr/>
          <p:nvPr/>
        </p:nvGrpSpPr>
        <p:grpSpPr>
          <a:xfrm>
            <a:off x="7024172" y="5892722"/>
            <a:ext cx="809148" cy="538696"/>
            <a:chOff x="4714022" y="5540824"/>
            <a:chExt cx="746156" cy="538696"/>
          </a:xfrm>
        </p:grpSpPr>
        <p:sp>
          <p:nvSpPr>
            <p:cNvPr id="71" name="순서도: 자기 디스크 70">
              <a:extLst>
                <a:ext uri="{FF2B5EF4-FFF2-40B4-BE49-F238E27FC236}">
                  <a16:creationId xmlns:a16="http://schemas.microsoft.com/office/drawing/2014/main" id="{5E3E4392-976D-C311-2237-4057F989F3D8}"/>
                </a:ext>
              </a:extLst>
            </p:cNvPr>
            <p:cNvSpPr/>
            <p:nvPr/>
          </p:nvSpPr>
          <p:spPr>
            <a:xfrm>
              <a:off x="4714022" y="5540824"/>
              <a:ext cx="742737" cy="538696"/>
            </a:xfrm>
            <a:prstGeom prst="flowChartMagneticDisk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endParaRPr lang="ko-KR" altLang="en-US" dirty="0">
                <a:solidFill>
                  <a:prstClr val="white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284C2D3A-E2A8-9750-6C6C-2765E065B889}"/>
                </a:ext>
              </a:extLst>
            </p:cNvPr>
            <p:cNvSpPr txBox="1"/>
            <p:nvPr/>
          </p:nvSpPr>
          <p:spPr>
            <a:xfrm>
              <a:off x="4717667" y="5745944"/>
              <a:ext cx="742511" cy="246221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latin typeface="+mn-ea"/>
                  <a:ea typeface="+mn-ea"/>
                </a:rPr>
                <a:t>설비 이력</a:t>
              </a:r>
            </a:p>
          </p:txBody>
        </p:sp>
      </p:grp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F9E939AD-21D1-59CA-8F45-EC5C3879F506}"/>
              </a:ext>
            </a:extLst>
          </p:cNvPr>
          <p:cNvGrpSpPr/>
          <p:nvPr/>
        </p:nvGrpSpPr>
        <p:grpSpPr>
          <a:xfrm>
            <a:off x="3794259" y="4811438"/>
            <a:ext cx="742737" cy="539860"/>
            <a:chOff x="6454142" y="5520816"/>
            <a:chExt cx="742737" cy="539860"/>
          </a:xfrm>
        </p:grpSpPr>
        <p:sp>
          <p:nvSpPr>
            <p:cNvPr id="75" name="순서도: 자기 디스크 74">
              <a:extLst>
                <a:ext uri="{FF2B5EF4-FFF2-40B4-BE49-F238E27FC236}">
                  <a16:creationId xmlns:a16="http://schemas.microsoft.com/office/drawing/2014/main" id="{3F030BEE-AAA8-5503-729A-A83C15CFA3C3}"/>
                </a:ext>
              </a:extLst>
            </p:cNvPr>
            <p:cNvSpPr/>
            <p:nvPr/>
          </p:nvSpPr>
          <p:spPr>
            <a:xfrm>
              <a:off x="6454142" y="5520816"/>
              <a:ext cx="742737" cy="538696"/>
            </a:xfrm>
            <a:prstGeom prst="flowChartMagneticDisk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endParaRPr lang="ko-KR" altLang="en-US" dirty="0">
                <a:solidFill>
                  <a:prstClr val="white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A06D9B7B-926D-0597-4CED-3465BAE46A89}"/>
                </a:ext>
              </a:extLst>
            </p:cNvPr>
            <p:cNvSpPr txBox="1"/>
            <p:nvPr/>
          </p:nvSpPr>
          <p:spPr>
            <a:xfrm>
              <a:off x="6499252" y="5660566"/>
              <a:ext cx="697627" cy="40011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latin typeface="+mn-ea"/>
                  <a:ea typeface="+mn-ea"/>
                </a:rPr>
                <a:t>온톨로지</a:t>
              </a:r>
              <a:endParaRPr lang="en-US" altLang="ko-KR" sz="1000" dirty="0">
                <a:latin typeface="+mn-ea"/>
                <a:ea typeface="+mn-ea"/>
              </a:endParaRPr>
            </a:p>
            <a:p>
              <a:pPr algn="ctr"/>
              <a:r>
                <a:rPr lang="en-US" altLang="ko-KR" sz="1000" dirty="0">
                  <a:latin typeface="+mn-ea"/>
                  <a:ea typeface="+mn-ea"/>
                </a:rPr>
                <a:t>DB</a:t>
              </a:r>
              <a:endParaRPr lang="ko-KR" altLang="en-US" sz="1000" dirty="0">
                <a:latin typeface="+mn-ea"/>
                <a:ea typeface="+mn-ea"/>
              </a:endParaRPr>
            </a:p>
          </p:txBody>
        </p:sp>
      </p:grpSp>
      <p:sp>
        <p:nvSpPr>
          <p:cNvPr id="80" name="사각형: 둥근 모서리 79">
            <a:extLst>
              <a:ext uri="{FF2B5EF4-FFF2-40B4-BE49-F238E27FC236}">
                <a16:creationId xmlns:a16="http://schemas.microsoft.com/office/drawing/2014/main" id="{D1BA3A90-D055-1186-6F87-4C81B76D7FBB}"/>
              </a:ext>
            </a:extLst>
          </p:cNvPr>
          <p:cNvSpPr/>
          <p:nvPr/>
        </p:nvSpPr>
        <p:spPr>
          <a:xfrm>
            <a:off x="5981340" y="2219334"/>
            <a:ext cx="1440159" cy="281344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">
            <a:solidFill>
              <a:schemeClr val="tx2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4C908A90-CC5C-A7A5-F566-2BB8DDBE1865}"/>
              </a:ext>
            </a:extLst>
          </p:cNvPr>
          <p:cNvSpPr/>
          <p:nvPr/>
        </p:nvSpPr>
        <p:spPr>
          <a:xfrm>
            <a:off x="5981340" y="3734107"/>
            <a:ext cx="1440158" cy="281344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">
            <a:solidFill>
              <a:schemeClr val="tx2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41B4FBF-841F-E42F-D1C1-8A9820240E26}"/>
              </a:ext>
            </a:extLst>
          </p:cNvPr>
          <p:cNvSpPr txBox="1"/>
          <p:nvPr/>
        </p:nvSpPr>
        <p:spPr>
          <a:xfrm>
            <a:off x="6091299" y="2239342"/>
            <a:ext cx="1221808" cy="26161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b="0" dirty="0">
                <a:latin typeface="+mn-ea"/>
                <a:ea typeface="+mn-ea"/>
              </a:rPr>
              <a:t>자동분석 </a:t>
            </a:r>
            <a:r>
              <a:rPr lang="ko-KR" altLang="en-US" sz="1100" b="0" dirty="0" err="1">
                <a:latin typeface="+mn-ea"/>
                <a:ea typeface="+mn-ea"/>
              </a:rPr>
              <a:t>생성기</a:t>
            </a:r>
            <a:endParaRPr lang="ko-KR" altLang="en-US" sz="1100" b="0" dirty="0">
              <a:latin typeface="+mn-ea"/>
              <a:ea typeface="+mn-ea"/>
            </a:endParaRPr>
          </a:p>
        </p:txBody>
      </p: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2AA3D8A3-A564-1705-0A82-546BED948414}"/>
              </a:ext>
            </a:extLst>
          </p:cNvPr>
          <p:cNvCxnSpPr>
            <a:cxnSpLocks/>
            <a:stCxn id="80" idx="2"/>
            <a:endCxn id="44" idx="0"/>
          </p:cNvCxnSpPr>
          <p:nvPr/>
        </p:nvCxnSpPr>
        <p:spPr>
          <a:xfrm flipH="1">
            <a:off x="6701418" y="2500678"/>
            <a:ext cx="2" cy="2952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화살표 연결선 84">
            <a:extLst>
              <a:ext uri="{FF2B5EF4-FFF2-40B4-BE49-F238E27FC236}">
                <a16:creationId xmlns:a16="http://schemas.microsoft.com/office/drawing/2014/main" id="{6E008BA7-C466-8FB8-D918-8ACADB5A317E}"/>
              </a:ext>
            </a:extLst>
          </p:cNvPr>
          <p:cNvCxnSpPr>
            <a:cxnSpLocks/>
            <a:stCxn id="44" idx="2"/>
            <a:endCxn id="82" idx="0"/>
          </p:cNvCxnSpPr>
          <p:nvPr/>
        </p:nvCxnSpPr>
        <p:spPr>
          <a:xfrm>
            <a:off x="6701418" y="3577528"/>
            <a:ext cx="1" cy="1565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C54AA62C-B03F-4A44-B318-EA40E166D41C}"/>
              </a:ext>
            </a:extLst>
          </p:cNvPr>
          <p:cNvSpPr txBox="1"/>
          <p:nvPr/>
        </p:nvSpPr>
        <p:spPr>
          <a:xfrm>
            <a:off x="6182945" y="3753841"/>
            <a:ext cx="1040670" cy="26161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b="0" dirty="0">
                <a:latin typeface="+mn-ea"/>
                <a:ea typeface="+mn-ea"/>
              </a:rPr>
              <a:t>데이터 </a:t>
            </a:r>
            <a:r>
              <a:rPr lang="en-US" altLang="ko-KR" sz="1100" b="0" dirty="0">
                <a:latin typeface="+mn-ea"/>
                <a:ea typeface="+mn-ea"/>
              </a:rPr>
              <a:t>Agent</a:t>
            </a:r>
            <a:endParaRPr lang="ko-KR" altLang="en-US" sz="1100" b="0" dirty="0">
              <a:latin typeface="+mn-ea"/>
              <a:ea typeface="+mn-ea"/>
            </a:endParaRPr>
          </a:p>
        </p:txBody>
      </p: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0C3C0C4C-3DBB-ED99-2FE2-BA2FA9246984}"/>
              </a:ext>
            </a:extLst>
          </p:cNvPr>
          <p:cNvCxnSpPr>
            <a:cxnSpLocks/>
          </p:cNvCxnSpPr>
          <p:nvPr/>
        </p:nvCxnSpPr>
        <p:spPr>
          <a:xfrm>
            <a:off x="4584140" y="2441147"/>
            <a:ext cx="1181922" cy="9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0" name="그림 89" descr="스크린샷, 도표, 라인이(가) 표시된 사진">
            <a:extLst>
              <a:ext uri="{FF2B5EF4-FFF2-40B4-BE49-F238E27FC236}">
                <a16:creationId xmlns:a16="http://schemas.microsoft.com/office/drawing/2014/main" id="{9C42076F-4644-F313-8910-57BF843B7E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7040" y="3727139"/>
            <a:ext cx="647928" cy="430040"/>
          </a:xfrm>
          <a:prstGeom prst="rect">
            <a:avLst/>
          </a:prstGeom>
          <a:ln>
            <a:solidFill>
              <a:schemeClr val="tx2">
                <a:lumMod val="40000"/>
                <a:lumOff val="6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1" name="그림 90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4A189A5-9189-0220-F059-59A392E02E0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33391" y="2845657"/>
            <a:ext cx="601588" cy="400110"/>
          </a:xfrm>
          <a:prstGeom prst="rect">
            <a:avLst/>
          </a:prstGeom>
          <a:ln>
            <a:solidFill>
              <a:schemeClr val="tx2">
                <a:lumMod val="40000"/>
                <a:lumOff val="60000"/>
              </a:schemeClr>
            </a:solidFill>
          </a:ln>
        </p:spPr>
      </p:pic>
      <p:sp>
        <p:nvSpPr>
          <p:cNvPr id="92" name="TextBox 91">
            <a:extLst>
              <a:ext uri="{FF2B5EF4-FFF2-40B4-BE49-F238E27FC236}">
                <a16:creationId xmlns:a16="http://schemas.microsoft.com/office/drawing/2014/main" id="{8BF377EE-C4C1-7A8A-BAF8-DB20AA962AAD}"/>
              </a:ext>
            </a:extLst>
          </p:cNvPr>
          <p:cNvSpPr txBox="1"/>
          <p:nvPr/>
        </p:nvSpPr>
        <p:spPr>
          <a:xfrm>
            <a:off x="1847978" y="3428834"/>
            <a:ext cx="569387" cy="24622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답변서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26ED925F-56C9-CFAB-574F-78D561250076}"/>
              </a:ext>
            </a:extLst>
          </p:cNvPr>
          <p:cNvSpPr txBox="1"/>
          <p:nvPr/>
        </p:nvSpPr>
        <p:spPr>
          <a:xfrm>
            <a:off x="1797326" y="4194356"/>
            <a:ext cx="697627" cy="24622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분석파일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EA10D397-153E-7607-607F-E43A8D01EAD8}"/>
              </a:ext>
            </a:extLst>
          </p:cNvPr>
          <p:cNvSpPr txBox="1"/>
          <p:nvPr/>
        </p:nvSpPr>
        <p:spPr>
          <a:xfrm>
            <a:off x="5117713" y="3265768"/>
            <a:ext cx="631904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ko-KR" altLang="en-US" sz="800" dirty="0">
                <a:latin typeface="+mn-ea"/>
                <a:ea typeface="+mn-ea"/>
              </a:rPr>
              <a:t>자동</a:t>
            </a:r>
            <a:r>
              <a:rPr lang="en-US" altLang="ko-KR" sz="800" dirty="0">
                <a:latin typeface="+mn-ea"/>
                <a:ea typeface="+mn-ea"/>
              </a:rPr>
              <a:t> </a:t>
            </a:r>
            <a:r>
              <a:rPr lang="ko-KR" altLang="en-US" sz="800" dirty="0">
                <a:latin typeface="+mn-ea"/>
                <a:ea typeface="+mn-ea"/>
              </a:rPr>
              <a:t>분석</a:t>
            </a:r>
            <a:endParaRPr lang="en-US" altLang="ko-KR" sz="800" dirty="0">
              <a:latin typeface="+mn-ea"/>
              <a:ea typeface="+mn-ea"/>
            </a:endParaRPr>
          </a:p>
          <a:p>
            <a:pPr algn="ctr"/>
            <a:r>
              <a:rPr lang="ko-KR" altLang="en-US" sz="800" dirty="0">
                <a:latin typeface="+mn-ea"/>
                <a:ea typeface="+mn-ea"/>
              </a:rPr>
              <a:t>보고서</a:t>
            </a: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D3132AFD-B9A8-DFAC-1325-3D974721C99C}"/>
              </a:ext>
            </a:extLst>
          </p:cNvPr>
          <p:cNvSpPr/>
          <p:nvPr/>
        </p:nvSpPr>
        <p:spPr>
          <a:xfrm>
            <a:off x="3546706" y="1846372"/>
            <a:ext cx="1264256" cy="2861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r>
              <a:rPr lang="en-US" altLang="ko-KR" sz="1200" dirty="0" err="1">
                <a:solidFill>
                  <a:schemeClr val="tx1"/>
                </a:solidFill>
                <a:latin typeface="맑은 고딕"/>
                <a:ea typeface="맑은 고딕"/>
              </a:rPr>
              <a:t>sLLM</a:t>
            </a:r>
            <a:r>
              <a:rPr lang="en-US" altLang="ko-KR" sz="1200" dirty="0">
                <a:solidFill>
                  <a:schemeClr val="tx1"/>
                </a:solidFill>
                <a:latin typeface="맑은 고딕"/>
                <a:ea typeface="맑은 고딕"/>
              </a:rPr>
              <a:t> w/RAG</a:t>
            </a:r>
            <a:endParaRPr lang="ko-KR" altLang="en-US" sz="1200" dirty="0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2C278F90-04E7-9375-06C4-B2E894B9F5DA}"/>
              </a:ext>
            </a:extLst>
          </p:cNvPr>
          <p:cNvSpPr/>
          <p:nvPr/>
        </p:nvSpPr>
        <p:spPr>
          <a:xfrm>
            <a:off x="6054621" y="1819568"/>
            <a:ext cx="1264256" cy="2861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r>
              <a:rPr lang="ko-KR" altLang="en-US" sz="1200" dirty="0">
                <a:solidFill>
                  <a:schemeClr val="tx1"/>
                </a:solidFill>
                <a:latin typeface="맑은 고딕"/>
                <a:ea typeface="맑은 고딕"/>
              </a:rPr>
              <a:t>자동분석시스템</a:t>
            </a:r>
          </a:p>
        </p:txBody>
      </p:sp>
      <p:cxnSp>
        <p:nvCxnSpPr>
          <p:cNvPr id="98" name="연결선: 꺾임 97">
            <a:extLst>
              <a:ext uri="{FF2B5EF4-FFF2-40B4-BE49-F238E27FC236}">
                <a16:creationId xmlns:a16="http://schemas.microsoft.com/office/drawing/2014/main" id="{D971731F-F33E-3E36-136C-450A79104037}"/>
              </a:ext>
            </a:extLst>
          </p:cNvPr>
          <p:cNvCxnSpPr/>
          <p:nvPr/>
        </p:nvCxnSpPr>
        <p:spPr>
          <a:xfrm rot="10800000" flipV="1">
            <a:off x="4323764" y="2725230"/>
            <a:ext cx="1442298" cy="659122"/>
          </a:xfrm>
          <a:prstGeom prst="bentConnector3">
            <a:avLst>
              <a:gd name="adj1" fmla="val 99756"/>
            </a:avLst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CE3A0C00-CFDB-EBC7-02EB-009CF6E77609}"/>
              </a:ext>
            </a:extLst>
          </p:cNvPr>
          <p:cNvSpPr txBox="1"/>
          <p:nvPr/>
        </p:nvSpPr>
        <p:spPr>
          <a:xfrm>
            <a:off x="6202325" y="2748809"/>
            <a:ext cx="10397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 err="1">
                <a:latin typeface="+mn-ea"/>
                <a:ea typeface="+mn-ea"/>
              </a:rPr>
              <a:t>ECMiner</a:t>
            </a:r>
            <a:r>
              <a:rPr lang="en-US" altLang="ko-KR" sz="1200" dirty="0">
                <a:latin typeface="+mn-ea"/>
                <a:ea typeface="+mn-ea"/>
              </a:rPr>
              <a:t>™</a:t>
            </a:r>
            <a:endParaRPr lang="ko-KR" altLang="en-US" sz="1200" dirty="0">
              <a:latin typeface="+mn-ea"/>
              <a:ea typeface="+mn-ea"/>
            </a:endParaRP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1740B28D-9387-9A97-B5A2-9F7848858781}"/>
              </a:ext>
            </a:extLst>
          </p:cNvPr>
          <p:cNvSpPr/>
          <p:nvPr/>
        </p:nvSpPr>
        <p:spPr>
          <a:xfrm>
            <a:off x="1643437" y="6008093"/>
            <a:ext cx="1129871" cy="19528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r>
              <a:rPr lang="ko-KR" altLang="en-US" sz="1200" dirty="0">
                <a:solidFill>
                  <a:schemeClr val="tx1"/>
                </a:solidFill>
                <a:latin typeface="맑은 고딕"/>
                <a:ea typeface="맑은 고딕"/>
              </a:rPr>
              <a:t>원천 데이터</a:t>
            </a: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E0946A3C-4477-27D5-692F-774F18004A16}"/>
              </a:ext>
            </a:extLst>
          </p:cNvPr>
          <p:cNvSpPr/>
          <p:nvPr/>
        </p:nvSpPr>
        <p:spPr>
          <a:xfrm>
            <a:off x="7482996" y="4874204"/>
            <a:ext cx="1195817" cy="37469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r>
              <a:rPr lang="en-US" altLang="ko-KR" sz="1200" dirty="0">
                <a:solidFill>
                  <a:schemeClr val="tx1"/>
                </a:solidFill>
                <a:latin typeface="맑은 고딕"/>
                <a:ea typeface="맑은 고딕"/>
              </a:rPr>
              <a:t>AIDA:</a:t>
            </a:r>
          </a:p>
          <a:p>
            <a:pPr algn="ctr" defTabSz="911896"/>
            <a:r>
              <a:rPr lang="en-US" altLang="ko-KR" sz="1200" dirty="0">
                <a:solidFill>
                  <a:schemeClr val="tx1"/>
                </a:solidFill>
                <a:latin typeface="맑은 고딕"/>
                <a:ea typeface="맑은 고딕"/>
              </a:rPr>
              <a:t>Ontology</a:t>
            </a:r>
            <a:endParaRPr lang="ko-KR" altLang="en-US" sz="1200" dirty="0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7D29A824-7DB2-86B1-18D4-FEF5E4E0D110}"/>
              </a:ext>
            </a:extLst>
          </p:cNvPr>
          <p:cNvGrpSpPr/>
          <p:nvPr/>
        </p:nvGrpSpPr>
        <p:grpSpPr>
          <a:xfrm>
            <a:off x="4953000" y="4805816"/>
            <a:ext cx="859488" cy="573643"/>
            <a:chOff x="5430768" y="4809446"/>
            <a:chExt cx="859488" cy="573643"/>
          </a:xfrm>
        </p:grpSpPr>
        <p:sp>
          <p:nvSpPr>
            <p:cNvPr id="104" name="순서도: 자기 디스크 103">
              <a:extLst>
                <a:ext uri="{FF2B5EF4-FFF2-40B4-BE49-F238E27FC236}">
                  <a16:creationId xmlns:a16="http://schemas.microsoft.com/office/drawing/2014/main" id="{2D09E028-4713-66CB-DAE5-5396CABFF3FA}"/>
                </a:ext>
              </a:extLst>
            </p:cNvPr>
            <p:cNvSpPr/>
            <p:nvPr/>
          </p:nvSpPr>
          <p:spPr>
            <a:xfrm>
              <a:off x="5472854" y="4809446"/>
              <a:ext cx="742737" cy="538696"/>
            </a:xfrm>
            <a:prstGeom prst="flowChartMagneticDisk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endParaRPr lang="ko-KR" altLang="en-US" dirty="0">
                <a:solidFill>
                  <a:prstClr val="white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9E6FC881-9066-9F9E-71BF-DBD1E10B78E0}"/>
                </a:ext>
              </a:extLst>
            </p:cNvPr>
            <p:cNvSpPr txBox="1"/>
            <p:nvPr/>
          </p:nvSpPr>
          <p:spPr>
            <a:xfrm>
              <a:off x="5430768" y="4982979"/>
              <a:ext cx="859488" cy="40011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latin typeface="+mn-ea"/>
                  <a:ea typeface="+mn-ea"/>
                </a:rPr>
                <a:t>메타</a:t>
              </a:r>
              <a:endParaRPr lang="en-US" altLang="ko-KR" sz="1000" dirty="0">
                <a:latin typeface="+mn-ea"/>
                <a:ea typeface="+mn-ea"/>
              </a:endParaRPr>
            </a:p>
            <a:p>
              <a:pPr algn="ctr"/>
              <a:r>
                <a:rPr lang="ko-KR" altLang="en-US" sz="1000" dirty="0">
                  <a:latin typeface="+mn-ea"/>
                  <a:ea typeface="+mn-ea"/>
                </a:rPr>
                <a:t>데이터</a:t>
              </a:r>
            </a:p>
          </p:txBody>
        </p:sp>
      </p:grpSp>
      <p:cxnSp>
        <p:nvCxnSpPr>
          <p:cNvPr id="108" name="연결선: 꺾임 107">
            <a:extLst>
              <a:ext uri="{FF2B5EF4-FFF2-40B4-BE49-F238E27FC236}">
                <a16:creationId xmlns:a16="http://schemas.microsoft.com/office/drawing/2014/main" id="{CEB3ABDE-E9D2-5E58-25BB-FE884813A175}"/>
              </a:ext>
            </a:extLst>
          </p:cNvPr>
          <p:cNvCxnSpPr>
            <a:cxnSpLocks/>
            <a:stCxn id="71" idx="1"/>
            <a:endCxn id="7" idx="2"/>
          </p:cNvCxnSpPr>
          <p:nvPr/>
        </p:nvCxnSpPr>
        <p:spPr>
          <a:xfrm rot="16200000" flipV="1">
            <a:off x="6088605" y="4554435"/>
            <a:ext cx="488049" cy="218852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0BB4B347-39A5-75A6-0F18-A8B2D3C7A04A}"/>
              </a:ext>
            </a:extLst>
          </p:cNvPr>
          <p:cNvGrpSpPr/>
          <p:nvPr/>
        </p:nvGrpSpPr>
        <p:grpSpPr>
          <a:xfrm>
            <a:off x="3008784" y="5868207"/>
            <a:ext cx="895588" cy="538696"/>
            <a:chOff x="2467152" y="5534748"/>
            <a:chExt cx="825867" cy="538696"/>
          </a:xfrm>
        </p:grpSpPr>
        <p:sp>
          <p:nvSpPr>
            <p:cNvPr id="112" name="순서도: 자기 디스크 111">
              <a:extLst>
                <a:ext uri="{FF2B5EF4-FFF2-40B4-BE49-F238E27FC236}">
                  <a16:creationId xmlns:a16="http://schemas.microsoft.com/office/drawing/2014/main" id="{B15C0610-9438-4AF6-20CA-E02BA3C718C2}"/>
                </a:ext>
              </a:extLst>
            </p:cNvPr>
            <p:cNvSpPr/>
            <p:nvPr/>
          </p:nvSpPr>
          <p:spPr>
            <a:xfrm>
              <a:off x="2504334" y="5534748"/>
              <a:ext cx="742737" cy="538696"/>
            </a:xfrm>
            <a:prstGeom prst="flowChartMagneticDisk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endParaRPr lang="ko-KR" altLang="en-US" dirty="0">
                <a:solidFill>
                  <a:prstClr val="white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5016F7C1-AB1D-43F4-5A7E-60BCAFAE2453}"/>
                </a:ext>
              </a:extLst>
            </p:cNvPr>
            <p:cNvSpPr txBox="1"/>
            <p:nvPr/>
          </p:nvSpPr>
          <p:spPr>
            <a:xfrm>
              <a:off x="2467152" y="5721576"/>
              <a:ext cx="825867" cy="246221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latin typeface="+mn-ea"/>
                  <a:ea typeface="+mn-ea"/>
                </a:rPr>
                <a:t>설비 문서</a:t>
              </a:r>
            </a:p>
          </p:txBody>
        </p:sp>
      </p:grpSp>
      <p:grpSp>
        <p:nvGrpSpPr>
          <p:cNvPr id="118" name="그룹 117">
            <a:extLst>
              <a:ext uri="{FF2B5EF4-FFF2-40B4-BE49-F238E27FC236}">
                <a16:creationId xmlns:a16="http://schemas.microsoft.com/office/drawing/2014/main" id="{3BA36441-E44C-D027-D06C-85956730F801}"/>
              </a:ext>
            </a:extLst>
          </p:cNvPr>
          <p:cNvGrpSpPr/>
          <p:nvPr/>
        </p:nvGrpSpPr>
        <p:grpSpPr>
          <a:xfrm>
            <a:off x="6056088" y="4805816"/>
            <a:ext cx="859488" cy="573643"/>
            <a:chOff x="5430768" y="4809446"/>
            <a:chExt cx="859488" cy="573643"/>
          </a:xfrm>
        </p:grpSpPr>
        <p:sp>
          <p:nvSpPr>
            <p:cNvPr id="119" name="순서도: 자기 디스크 118">
              <a:extLst>
                <a:ext uri="{FF2B5EF4-FFF2-40B4-BE49-F238E27FC236}">
                  <a16:creationId xmlns:a16="http://schemas.microsoft.com/office/drawing/2014/main" id="{1575A88A-102A-10A2-B949-9368B076A913}"/>
                </a:ext>
              </a:extLst>
            </p:cNvPr>
            <p:cNvSpPr/>
            <p:nvPr/>
          </p:nvSpPr>
          <p:spPr>
            <a:xfrm>
              <a:off x="5472854" y="4809446"/>
              <a:ext cx="742737" cy="538696"/>
            </a:xfrm>
            <a:prstGeom prst="flowChartMagneticDisk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endParaRPr lang="ko-KR" altLang="en-US" dirty="0">
                <a:solidFill>
                  <a:prstClr val="white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715841EB-756E-9B4C-89D0-3FE5E128CCDF}"/>
                </a:ext>
              </a:extLst>
            </p:cNvPr>
            <p:cNvSpPr txBox="1"/>
            <p:nvPr/>
          </p:nvSpPr>
          <p:spPr>
            <a:xfrm>
              <a:off x="5430768" y="4982979"/>
              <a:ext cx="859488" cy="40011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latin typeface="+mn-ea"/>
                  <a:ea typeface="+mn-ea"/>
                </a:rPr>
                <a:t>분석용</a:t>
              </a:r>
              <a:endParaRPr lang="en-US" altLang="ko-KR" sz="1000" dirty="0">
                <a:latin typeface="+mn-ea"/>
                <a:ea typeface="+mn-ea"/>
              </a:endParaRPr>
            </a:p>
            <a:p>
              <a:pPr algn="ctr"/>
              <a:r>
                <a:rPr lang="ko-KR" altLang="en-US" sz="1000" dirty="0">
                  <a:latin typeface="+mn-ea"/>
                  <a:ea typeface="+mn-ea"/>
                </a:rPr>
                <a:t>데이터</a:t>
              </a:r>
            </a:p>
          </p:txBody>
        </p:sp>
      </p:grpSp>
      <p:cxnSp>
        <p:nvCxnSpPr>
          <p:cNvPr id="123" name="연결선: 꺾임 122">
            <a:extLst>
              <a:ext uri="{FF2B5EF4-FFF2-40B4-BE49-F238E27FC236}">
                <a16:creationId xmlns:a16="http://schemas.microsoft.com/office/drawing/2014/main" id="{8E0D83D7-DA38-BBC9-99A2-4B3E97F52170}"/>
              </a:ext>
            </a:extLst>
          </p:cNvPr>
          <p:cNvCxnSpPr>
            <a:cxnSpLocks/>
            <a:stCxn id="112" idx="1"/>
            <a:endCxn id="7" idx="2"/>
          </p:cNvCxnSpPr>
          <p:nvPr/>
        </p:nvCxnSpPr>
        <p:spPr>
          <a:xfrm rot="5400000" flipH="1" flipV="1">
            <a:off x="4113328" y="4743170"/>
            <a:ext cx="463534" cy="178654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화살표 연결선 123">
            <a:extLst>
              <a:ext uri="{FF2B5EF4-FFF2-40B4-BE49-F238E27FC236}">
                <a16:creationId xmlns:a16="http://schemas.microsoft.com/office/drawing/2014/main" id="{4E41AD7C-9C4A-C392-F732-EF87413004A6}"/>
              </a:ext>
            </a:extLst>
          </p:cNvPr>
          <p:cNvCxnSpPr>
            <a:cxnSpLocks/>
          </p:cNvCxnSpPr>
          <p:nvPr/>
        </p:nvCxnSpPr>
        <p:spPr>
          <a:xfrm>
            <a:off x="7223615" y="4015451"/>
            <a:ext cx="18490" cy="15853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화살표 연결선 124">
            <a:extLst>
              <a:ext uri="{FF2B5EF4-FFF2-40B4-BE49-F238E27FC236}">
                <a16:creationId xmlns:a16="http://schemas.microsoft.com/office/drawing/2014/main" id="{0E53ADBC-3208-4774-E0BD-A9A814486296}"/>
              </a:ext>
            </a:extLst>
          </p:cNvPr>
          <p:cNvCxnSpPr>
            <a:cxnSpLocks/>
            <a:stCxn id="75" idx="1"/>
            <a:endCxn id="35" idx="2"/>
          </p:cNvCxnSpPr>
          <p:nvPr/>
        </p:nvCxnSpPr>
        <p:spPr>
          <a:xfrm flipH="1" flipV="1">
            <a:off x="4164157" y="4236105"/>
            <a:ext cx="1471" cy="57533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직선 화살표 연결선 125">
            <a:extLst>
              <a:ext uri="{FF2B5EF4-FFF2-40B4-BE49-F238E27FC236}">
                <a16:creationId xmlns:a16="http://schemas.microsoft.com/office/drawing/2014/main" id="{2A1E1025-A7F1-3E90-6C03-989F9A180DAB}"/>
              </a:ext>
            </a:extLst>
          </p:cNvPr>
          <p:cNvCxnSpPr/>
          <p:nvPr/>
        </p:nvCxnSpPr>
        <p:spPr>
          <a:xfrm>
            <a:off x="6393160" y="4015451"/>
            <a:ext cx="0" cy="68502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직선 화살표 연결선 129">
            <a:extLst>
              <a:ext uri="{FF2B5EF4-FFF2-40B4-BE49-F238E27FC236}">
                <a16:creationId xmlns:a16="http://schemas.microsoft.com/office/drawing/2014/main" id="{3F8B728B-FEFA-F03F-F976-A30D70DC4B8B}"/>
              </a:ext>
            </a:extLst>
          </p:cNvPr>
          <p:cNvCxnSpPr>
            <a:cxnSpLocks/>
            <a:stCxn id="75" idx="4"/>
            <a:endCxn id="104" idx="2"/>
          </p:cNvCxnSpPr>
          <p:nvPr/>
        </p:nvCxnSpPr>
        <p:spPr>
          <a:xfrm flipV="1">
            <a:off x="4536996" y="5075164"/>
            <a:ext cx="458090" cy="562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화살표 연결선 130">
            <a:extLst>
              <a:ext uri="{FF2B5EF4-FFF2-40B4-BE49-F238E27FC236}">
                <a16:creationId xmlns:a16="http://schemas.microsoft.com/office/drawing/2014/main" id="{4D4DEBC3-097C-C640-E0A1-58B62B97A2A2}"/>
              </a:ext>
            </a:extLst>
          </p:cNvPr>
          <p:cNvCxnSpPr>
            <a:stCxn id="104" idx="4"/>
          </p:cNvCxnSpPr>
          <p:nvPr/>
        </p:nvCxnSpPr>
        <p:spPr>
          <a:xfrm>
            <a:off x="5737823" y="5075164"/>
            <a:ext cx="353476" cy="562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43630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5C6D2-43D3-5AB9-8F02-FE211B702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직사각형 80">
            <a:extLst>
              <a:ext uri="{FF2B5EF4-FFF2-40B4-BE49-F238E27FC236}">
                <a16:creationId xmlns:a16="http://schemas.microsoft.com/office/drawing/2014/main" id="{FAF99521-F519-1C34-AD3D-473BB3DFCF4E}"/>
              </a:ext>
            </a:extLst>
          </p:cNvPr>
          <p:cNvSpPr/>
          <p:nvPr/>
        </p:nvSpPr>
        <p:spPr>
          <a:xfrm>
            <a:off x="3451826" y="4718427"/>
            <a:ext cx="3573080" cy="68624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B543E01F-F362-B13E-74E9-B46F4B96C31D}"/>
              </a:ext>
            </a:extLst>
          </p:cNvPr>
          <p:cNvSpPr/>
          <p:nvPr/>
        </p:nvSpPr>
        <p:spPr>
          <a:xfrm>
            <a:off x="3216828" y="1991262"/>
            <a:ext cx="1811876" cy="24482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2D23BA82-8AB6-958F-177C-F0BB004D9806}"/>
              </a:ext>
            </a:extLst>
          </p:cNvPr>
          <p:cNvSpPr/>
          <p:nvPr/>
        </p:nvSpPr>
        <p:spPr>
          <a:xfrm>
            <a:off x="5788151" y="1978137"/>
            <a:ext cx="1811876" cy="24482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B18CD5DB-EBA0-8A9C-445D-D5286F4024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 err="1"/>
              <a:t>ECMinerAI</a:t>
            </a:r>
            <a:r>
              <a:rPr lang="en-US" altLang="ko-KR" dirty="0"/>
              <a:t>™ AIDA: </a:t>
            </a:r>
            <a:r>
              <a:rPr lang="en-US" altLang="ko-KR" dirty="0" err="1"/>
              <a:t>sLLM</a:t>
            </a:r>
            <a:r>
              <a:rPr lang="en-US" altLang="ko-KR" dirty="0"/>
              <a:t> w/RAG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6C45354-FBEE-02B0-0DF8-EDB16BE8CDD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2309" y="979158"/>
            <a:ext cx="9482335" cy="708950"/>
          </a:xfrm>
        </p:spPr>
        <p:txBody>
          <a:bodyPr/>
          <a:lstStyle/>
          <a:p>
            <a:r>
              <a:rPr lang="en-US" altLang="ko-KR" dirty="0"/>
              <a:t>AIDA</a:t>
            </a:r>
            <a:r>
              <a:rPr lang="ko-KR" altLang="en-US" dirty="0"/>
              <a:t>의 </a:t>
            </a:r>
            <a:r>
              <a:rPr lang="en-US" altLang="ko-KR" dirty="0" err="1"/>
              <a:t>sLLM</a:t>
            </a:r>
            <a:r>
              <a:rPr lang="en-US" altLang="ko-KR" dirty="0"/>
              <a:t> w/RAG</a:t>
            </a:r>
            <a:r>
              <a:rPr lang="ko-KR" altLang="en-US" dirty="0"/>
              <a:t>는 </a:t>
            </a:r>
            <a:r>
              <a:rPr lang="en-US" altLang="ko-KR" dirty="0"/>
              <a:t>1) </a:t>
            </a:r>
            <a:r>
              <a:rPr lang="ko-KR" altLang="en-US" dirty="0"/>
              <a:t>사용자가 직접 도메인 데이터를 구축</a:t>
            </a:r>
            <a:r>
              <a:rPr lang="en-US" altLang="ko-KR" dirty="0"/>
              <a:t>(</a:t>
            </a:r>
            <a:r>
              <a:rPr lang="ko-KR" altLang="en-US" dirty="0"/>
              <a:t>지식 컨텐츠 저장소</a:t>
            </a:r>
            <a:r>
              <a:rPr lang="en-US" altLang="ko-KR" dirty="0"/>
              <a:t>)</a:t>
            </a:r>
            <a:r>
              <a:rPr lang="ko-KR" altLang="en-US" dirty="0"/>
              <a:t>하고</a:t>
            </a:r>
            <a:r>
              <a:rPr lang="en-US" altLang="ko-KR" dirty="0"/>
              <a:t>, 2) On-Premise </a:t>
            </a:r>
            <a:r>
              <a:rPr lang="en-US" altLang="ko-KR" dirty="0" err="1"/>
              <a:t>sLLM</a:t>
            </a:r>
            <a:r>
              <a:rPr lang="en-US" altLang="ko-KR" dirty="0"/>
              <a:t>(Llama, Mistral </a:t>
            </a:r>
            <a:r>
              <a:rPr lang="ko-KR" altLang="en-US" dirty="0"/>
              <a:t>등</a:t>
            </a:r>
            <a:r>
              <a:rPr lang="en-US" altLang="ko-KR" dirty="0"/>
              <a:t>)</a:t>
            </a:r>
            <a:r>
              <a:rPr lang="ko-KR" altLang="en-US" dirty="0"/>
              <a:t>을 선택할 수 있도록 지원합니다</a:t>
            </a:r>
            <a:r>
              <a:rPr lang="en-US" altLang="ko-KR" dirty="0"/>
              <a:t>. </a:t>
            </a:r>
            <a:r>
              <a:rPr lang="ko-KR" altLang="en-US" dirty="0"/>
              <a:t>또한</a:t>
            </a:r>
            <a:r>
              <a:rPr lang="en-US" altLang="ko-KR" dirty="0"/>
              <a:t>, </a:t>
            </a:r>
            <a:r>
              <a:rPr lang="ko-KR" altLang="en-US" dirty="0"/>
              <a:t>확장형 구조로 외부 </a:t>
            </a:r>
            <a:r>
              <a:rPr lang="en-US" altLang="ko-KR" dirty="0"/>
              <a:t>API </a:t>
            </a:r>
            <a:r>
              <a:rPr lang="ko-KR" altLang="en-US" dirty="0"/>
              <a:t>기반 모델까지 유연하게 활용할 수 있습니다</a:t>
            </a:r>
            <a:r>
              <a:rPr lang="en-US" altLang="ko-KR" dirty="0"/>
              <a:t>. </a:t>
            </a:r>
            <a:r>
              <a:rPr lang="ko-KR" altLang="en-US" dirty="0"/>
              <a:t>이를 통해 각 </a:t>
            </a:r>
            <a:r>
              <a:rPr lang="ko-KR" altLang="en-US" b="1" dirty="0">
                <a:solidFill>
                  <a:srgbClr val="C00000"/>
                </a:solidFill>
              </a:rPr>
              <a:t>도메인에 최적화된 맞춤형 </a:t>
            </a:r>
            <a:r>
              <a:rPr lang="en-US" altLang="ko-KR" b="1" dirty="0">
                <a:solidFill>
                  <a:srgbClr val="C00000"/>
                </a:solidFill>
              </a:rPr>
              <a:t>AI </a:t>
            </a:r>
            <a:r>
              <a:rPr lang="ko-KR" altLang="en-US" b="1" dirty="0">
                <a:solidFill>
                  <a:srgbClr val="C00000"/>
                </a:solidFill>
              </a:rPr>
              <a:t>서비스를 제공</a:t>
            </a:r>
            <a:r>
              <a:rPr lang="ko-KR" altLang="en-US" dirty="0"/>
              <a:t>합니다</a:t>
            </a:r>
            <a:r>
              <a:rPr lang="en-US" altLang="ko-KR" dirty="0"/>
              <a:t>. 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7C765542-8FD0-F17F-D501-E397179A5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+mn-ea"/>
              </a:rPr>
              <a:t>1. </a:t>
            </a:r>
            <a:r>
              <a:rPr lang="en-US" altLang="ko-KR" dirty="0" err="1">
                <a:solidFill>
                  <a:schemeClr val="bg1"/>
                </a:solidFill>
                <a:latin typeface="+mn-ea"/>
              </a:rPr>
              <a:t>ECMiner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™ AIDA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 개요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5CCF420-86C5-4201-B3E1-64F001EED30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26" name="그림 25" descr="만화 영화, 소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57F80D9-C89B-2E05-0923-80A145E085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519" y="2486708"/>
            <a:ext cx="877429" cy="1008109"/>
          </a:xfrm>
          <a:prstGeom prst="rect">
            <a:avLst/>
          </a:prstGeom>
        </p:spPr>
      </p:pic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35E50F4A-8161-8602-19BC-54CA87EEBC8F}"/>
              </a:ext>
            </a:extLst>
          </p:cNvPr>
          <p:cNvSpPr/>
          <p:nvPr/>
        </p:nvSpPr>
        <p:spPr>
          <a:xfrm>
            <a:off x="3728446" y="2363897"/>
            <a:ext cx="855694" cy="648072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r>
              <a:rPr lang="en-US" altLang="ko-KR" sz="240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맑은 고딕"/>
                <a:ea typeface="맑은 고딕"/>
              </a:rPr>
              <a:t>AI</a:t>
            </a:r>
            <a:endParaRPr lang="ko-KR" altLang="en-US" sz="240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맑은 고딕"/>
              <a:ea typeface="맑은 고딕"/>
            </a:endParaRPr>
          </a:p>
        </p:txBody>
      </p: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80F120C6-DAA6-DD31-F558-06EFC1820F89}"/>
              </a:ext>
            </a:extLst>
          </p:cNvPr>
          <p:cNvGrpSpPr/>
          <p:nvPr/>
        </p:nvGrpSpPr>
        <p:grpSpPr>
          <a:xfrm>
            <a:off x="1818171" y="2485755"/>
            <a:ext cx="1910275" cy="296721"/>
            <a:chOff x="1568281" y="2844247"/>
            <a:chExt cx="1599323" cy="296721"/>
          </a:xfrm>
        </p:grpSpPr>
        <p:cxnSp>
          <p:nvCxnSpPr>
            <p:cNvPr id="32" name="직선 화살표 연결선 31">
              <a:extLst>
                <a:ext uri="{FF2B5EF4-FFF2-40B4-BE49-F238E27FC236}">
                  <a16:creationId xmlns:a16="http://schemas.microsoft.com/office/drawing/2014/main" id="{CBE1CC87-DCF0-ABFA-10C6-519464D9A391}"/>
                </a:ext>
              </a:extLst>
            </p:cNvPr>
            <p:cNvCxnSpPr>
              <a:cxnSpLocks/>
            </p:cNvCxnSpPr>
            <p:nvPr/>
          </p:nvCxnSpPr>
          <p:spPr>
            <a:xfrm>
              <a:off x="1568281" y="2844247"/>
              <a:ext cx="1599323" cy="95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화살표 연결선 33">
              <a:extLst>
                <a:ext uri="{FF2B5EF4-FFF2-40B4-BE49-F238E27FC236}">
                  <a16:creationId xmlns:a16="http://schemas.microsoft.com/office/drawing/2014/main" id="{A314AFCC-135E-8E81-2C03-75C5E3EFD3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68281" y="3140968"/>
              <a:ext cx="159932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6" name="그림 35" descr="도표, 디자인, 일렉트릭 블루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E9FFF3D-0311-8142-FE75-9E1DA4F988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9171" y="2901045"/>
            <a:ext cx="485576" cy="577259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8F880846-2293-4924-23DF-97D04342B4B2}"/>
              </a:ext>
            </a:extLst>
          </p:cNvPr>
          <p:cNvSpPr txBox="1"/>
          <p:nvPr/>
        </p:nvSpPr>
        <p:spPr>
          <a:xfrm>
            <a:off x="2258897" y="2223239"/>
            <a:ext cx="441146" cy="24622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질의</a:t>
            </a:r>
          </a:p>
        </p:txBody>
      </p:sp>
      <p:pic>
        <p:nvPicPr>
          <p:cNvPr id="40" name="그림 39" descr="원, 도표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DC81D8F-FBAA-5727-B719-EE7BE3989A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0802" y="3401565"/>
            <a:ext cx="946709" cy="834540"/>
          </a:xfrm>
          <a:prstGeom prst="rect">
            <a:avLst/>
          </a:prstGeom>
          <a:ln>
            <a:solidFill>
              <a:schemeClr val="tx2">
                <a:lumMod val="40000"/>
                <a:lumOff val="60000"/>
              </a:schemeClr>
            </a:solidFill>
          </a:ln>
        </p:spPr>
      </p:pic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2D381434-ECA2-0D3E-ACC2-C3BA8EB4CDFD}"/>
              </a:ext>
            </a:extLst>
          </p:cNvPr>
          <p:cNvCxnSpPr>
            <a:cxnSpLocks/>
            <a:stCxn id="30" idx="2"/>
            <a:endCxn id="40" idx="0"/>
          </p:cNvCxnSpPr>
          <p:nvPr/>
        </p:nvCxnSpPr>
        <p:spPr>
          <a:xfrm>
            <a:off x="4156293" y="3011969"/>
            <a:ext cx="7864" cy="38959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그림 44" descr="텍스트, 스크린샷, 도표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87B8D65-C097-A2AE-70B3-434E9F86092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4163"/>
          <a:stretch>
            <a:fillRect/>
          </a:stretch>
        </p:blipFill>
        <p:spPr>
          <a:xfrm>
            <a:off x="5981338" y="2795944"/>
            <a:ext cx="1440160" cy="781584"/>
          </a:xfrm>
          <a:prstGeom prst="rect">
            <a:avLst/>
          </a:prstGeom>
          <a:ln w="6350">
            <a:solidFill>
              <a:schemeClr val="tx2">
                <a:lumMod val="60000"/>
                <a:lumOff val="40000"/>
              </a:schemeClr>
            </a:solidFill>
          </a:ln>
        </p:spPr>
      </p:pic>
      <p:grpSp>
        <p:nvGrpSpPr>
          <p:cNvPr id="31" name="그룹 30">
            <a:extLst>
              <a:ext uri="{FF2B5EF4-FFF2-40B4-BE49-F238E27FC236}">
                <a16:creationId xmlns:a16="http://schemas.microsoft.com/office/drawing/2014/main" id="{EAE8E2BE-E0EE-6C32-70F3-C7EF1B6521D9}"/>
              </a:ext>
            </a:extLst>
          </p:cNvPr>
          <p:cNvGrpSpPr/>
          <p:nvPr/>
        </p:nvGrpSpPr>
        <p:grpSpPr>
          <a:xfrm>
            <a:off x="6567632" y="6120185"/>
            <a:ext cx="243677" cy="40038"/>
            <a:chOff x="4377982" y="5768287"/>
            <a:chExt cx="224707" cy="40038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B5C42BCB-BC98-58F1-44BC-F316AA96D49C}"/>
                </a:ext>
              </a:extLst>
            </p:cNvPr>
            <p:cNvSpPr/>
            <p:nvPr/>
          </p:nvSpPr>
          <p:spPr>
            <a:xfrm>
              <a:off x="4571251" y="5773585"/>
              <a:ext cx="31438" cy="34740"/>
            </a:xfrm>
            <a:prstGeom prst="ellipse">
              <a:avLst/>
            </a:prstGeom>
            <a:solidFill>
              <a:srgbClr val="1AA0CA"/>
            </a:solidFill>
            <a:ln>
              <a:noFill/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endParaRPr lang="ko-KR" altLang="en-US" dirty="0">
                <a:solidFill>
                  <a:prstClr val="white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1CFCB658-2CE4-1DD7-73AA-FBF7BBD1902C}"/>
                </a:ext>
              </a:extLst>
            </p:cNvPr>
            <p:cNvSpPr/>
            <p:nvPr/>
          </p:nvSpPr>
          <p:spPr>
            <a:xfrm>
              <a:off x="4472220" y="5768287"/>
              <a:ext cx="31438" cy="34740"/>
            </a:xfrm>
            <a:prstGeom prst="ellipse">
              <a:avLst/>
            </a:prstGeom>
            <a:solidFill>
              <a:srgbClr val="1AA0CA"/>
            </a:solidFill>
            <a:ln>
              <a:noFill/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endParaRPr lang="ko-KR" altLang="en-US" dirty="0">
                <a:solidFill>
                  <a:prstClr val="white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7AFF3E87-696C-1F42-78B3-E4DD5B5FC4CD}"/>
                </a:ext>
              </a:extLst>
            </p:cNvPr>
            <p:cNvSpPr/>
            <p:nvPr/>
          </p:nvSpPr>
          <p:spPr>
            <a:xfrm>
              <a:off x="4377982" y="5773180"/>
              <a:ext cx="31438" cy="34740"/>
            </a:xfrm>
            <a:prstGeom prst="ellipse">
              <a:avLst/>
            </a:prstGeom>
            <a:solidFill>
              <a:srgbClr val="1AA0CA"/>
            </a:solidFill>
            <a:ln>
              <a:noFill/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endParaRPr lang="ko-KR" altLang="en-US" dirty="0">
                <a:solidFill>
                  <a:prstClr val="white"/>
                </a:solidFill>
                <a:latin typeface="맑은 고딕"/>
                <a:ea typeface="맑은 고딕"/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2E463EC8-B274-4E7F-9E61-97B276F587BB}"/>
              </a:ext>
            </a:extLst>
          </p:cNvPr>
          <p:cNvGrpSpPr/>
          <p:nvPr/>
        </p:nvGrpSpPr>
        <p:grpSpPr>
          <a:xfrm>
            <a:off x="4304928" y="5886646"/>
            <a:ext cx="895588" cy="538696"/>
            <a:chOff x="2477310" y="5534748"/>
            <a:chExt cx="825867" cy="538696"/>
          </a:xfrm>
        </p:grpSpPr>
        <p:sp>
          <p:nvSpPr>
            <p:cNvPr id="15" name="순서도: 자기 디스크 14">
              <a:extLst>
                <a:ext uri="{FF2B5EF4-FFF2-40B4-BE49-F238E27FC236}">
                  <a16:creationId xmlns:a16="http://schemas.microsoft.com/office/drawing/2014/main" id="{D12D651C-38BC-AD0C-FE1E-72C0E55C1BD8}"/>
                </a:ext>
              </a:extLst>
            </p:cNvPr>
            <p:cNvSpPr/>
            <p:nvPr/>
          </p:nvSpPr>
          <p:spPr>
            <a:xfrm>
              <a:off x="2504334" y="5534748"/>
              <a:ext cx="742737" cy="538696"/>
            </a:xfrm>
            <a:prstGeom prst="flowChartMagneticDisk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endParaRPr lang="ko-KR" altLang="en-US" dirty="0">
                <a:solidFill>
                  <a:prstClr val="white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F1935989-3945-43EF-FB02-89BD58266ABC}"/>
                </a:ext>
              </a:extLst>
            </p:cNvPr>
            <p:cNvSpPr txBox="1"/>
            <p:nvPr/>
          </p:nvSpPr>
          <p:spPr>
            <a:xfrm>
              <a:off x="2477310" y="5743608"/>
              <a:ext cx="825867" cy="246221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latin typeface="+mn-ea"/>
                  <a:ea typeface="+mn-ea"/>
                </a:rPr>
                <a:t>운전 데이터</a:t>
              </a: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43153725-19BB-EB2D-0CE0-30EC62F12D26}"/>
              </a:ext>
            </a:extLst>
          </p:cNvPr>
          <p:cNvGrpSpPr/>
          <p:nvPr/>
        </p:nvGrpSpPr>
        <p:grpSpPr>
          <a:xfrm>
            <a:off x="5659181" y="5886646"/>
            <a:ext cx="805440" cy="538696"/>
            <a:chOff x="3481903" y="5534748"/>
            <a:chExt cx="742737" cy="538696"/>
          </a:xfrm>
        </p:grpSpPr>
        <p:sp>
          <p:nvSpPr>
            <p:cNvPr id="8" name="순서도: 자기 디스크 7">
              <a:extLst>
                <a:ext uri="{FF2B5EF4-FFF2-40B4-BE49-F238E27FC236}">
                  <a16:creationId xmlns:a16="http://schemas.microsoft.com/office/drawing/2014/main" id="{EE900C30-E379-3F6E-FA22-F994EA81F574}"/>
                </a:ext>
              </a:extLst>
            </p:cNvPr>
            <p:cNvSpPr/>
            <p:nvPr/>
          </p:nvSpPr>
          <p:spPr>
            <a:xfrm>
              <a:off x="3481903" y="5534748"/>
              <a:ext cx="742737" cy="538696"/>
            </a:xfrm>
            <a:prstGeom prst="flowChartMagneticDisk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endParaRPr lang="ko-KR" altLang="en-US" dirty="0">
                <a:solidFill>
                  <a:prstClr val="white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9A18F389-9125-1D97-E0DD-D847D5CB9F24}"/>
                </a:ext>
              </a:extLst>
            </p:cNvPr>
            <p:cNvSpPr txBox="1"/>
            <p:nvPr/>
          </p:nvSpPr>
          <p:spPr>
            <a:xfrm>
              <a:off x="3648302" y="5743207"/>
              <a:ext cx="441146" cy="246221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latin typeface="+mn-ea"/>
                  <a:ea typeface="+mn-ea"/>
                </a:rPr>
                <a:t>품질</a:t>
              </a: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7358ED4D-E99E-ACA4-129B-7DEC7D582DAE}"/>
              </a:ext>
            </a:extLst>
          </p:cNvPr>
          <p:cNvGrpSpPr/>
          <p:nvPr/>
        </p:nvGrpSpPr>
        <p:grpSpPr>
          <a:xfrm>
            <a:off x="7024172" y="5892722"/>
            <a:ext cx="809148" cy="538696"/>
            <a:chOff x="4714022" y="5540824"/>
            <a:chExt cx="746156" cy="538696"/>
          </a:xfrm>
        </p:grpSpPr>
        <p:sp>
          <p:nvSpPr>
            <p:cNvPr id="14" name="순서도: 자기 디스크 13">
              <a:extLst>
                <a:ext uri="{FF2B5EF4-FFF2-40B4-BE49-F238E27FC236}">
                  <a16:creationId xmlns:a16="http://schemas.microsoft.com/office/drawing/2014/main" id="{0B637A14-5C22-5FE0-F049-BC90EF0F6FD1}"/>
                </a:ext>
              </a:extLst>
            </p:cNvPr>
            <p:cNvSpPr/>
            <p:nvPr/>
          </p:nvSpPr>
          <p:spPr>
            <a:xfrm>
              <a:off x="4714022" y="5540824"/>
              <a:ext cx="742737" cy="538696"/>
            </a:xfrm>
            <a:prstGeom prst="flowChartMagneticDisk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endParaRPr lang="ko-KR" altLang="en-US" dirty="0">
                <a:solidFill>
                  <a:prstClr val="white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624F7528-BC9E-3EB3-6460-D49B6A3C6191}"/>
                </a:ext>
              </a:extLst>
            </p:cNvPr>
            <p:cNvSpPr txBox="1"/>
            <p:nvPr/>
          </p:nvSpPr>
          <p:spPr>
            <a:xfrm>
              <a:off x="4717667" y="5745944"/>
              <a:ext cx="742511" cy="246221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latin typeface="+mn-ea"/>
                  <a:ea typeface="+mn-ea"/>
                </a:rPr>
                <a:t>설비 이력</a:t>
              </a: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70560FD3-D975-A4A8-B473-748AFD85B635}"/>
              </a:ext>
            </a:extLst>
          </p:cNvPr>
          <p:cNvGrpSpPr/>
          <p:nvPr/>
        </p:nvGrpSpPr>
        <p:grpSpPr>
          <a:xfrm>
            <a:off x="3794259" y="4811438"/>
            <a:ext cx="742737" cy="539860"/>
            <a:chOff x="6454142" y="5520816"/>
            <a:chExt cx="742737" cy="539860"/>
          </a:xfrm>
        </p:grpSpPr>
        <p:sp>
          <p:nvSpPr>
            <p:cNvPr id="16" name="순서도: 자기 디스크 15">
              <a:extLst>
                <a:ext uri="{FF2B5EF4-FFF2-40B4-BE49-F238E27FC236}">
                  <a16:creationId xmlns:a16="http://schemas.microsoft.com/office/drawing/2014/main" id="{F9B4D406-B7BF-E95E-9AFB-7E9F57E05E73}"/>
                </a:ext>
              </a:extLst>
            </p:cNvPr>
            <p:cNvSpPr/>
            <p:nvPr/>
          </p:nvSpPr>
          <p:spPr>
            <a:xfrm>
              <a:off x="6454142" y="5520816"/>
              <a:ext cx="742737" cy="538696"/>
            </a:xfrm>
            <a:prstGeom prst="flowChartMagneticDisk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endParaRPr lang="ko-KR" altLang="en-US" dirty="0">
                <a:solidFill>
                  <a:prstClr val="white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C89ECB2C-997D-9152-56F2-1B51B7E1A3FD}"/>
                </a:ext>
              </a:extLst>
            </p:cNvPr>
            <p:cNvSpPr txBox="1"/>
            <p:nvPr/>
          </p:nvSpPr>
          <p:spPr>
            <a:xfrm>
              <a:off x="6499252" y="5660566"/>
              <a:ext cx="697627" cy="40011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latin typeface="+mn-ea"/>
                  <a:ea typeface="+mn-ea"/>
                </a:rPr>
                <a:t>온톨로지</a:t>
              </a:r>
              <a:endParaRPr lang="en-US" altLang="ko-KR" sz="1000" dirty="0">
                <a:latin typeface="+mn-ea"/>
                <a:ea typeface="+mn-ea"/>
              </a:endParaRPr>
            </a:p>
            <a:p>
              <a:pPr algn="ctr"/>
              <a:r>
                <a:rPr lang="en-US" altLang="ko-KR" sz="1000" dirty="0">
                  <a:latin typeface="+mn-ea"/>
                  <a:ea typeface="+mn-ea"/>
                </a:rPr>
                <a:t>DB</a:t>
              </a:r>
              <a:endParaRPr lang="ko-KR" altLang="en-US" sz="1000" dirty="0">
                <a:latin typeface="+mn-ea"/>
                <a:ea typeface="+mn-ea"/>
              </a:endParaRPr>
            </a:p>
          </p:txBody>
        </p:sp>
      </p:grp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636C111E-B21D-17BA-D256-5B1E0CE027EC}"/>
              </a:ext>
            </a:extLst>
          </p:cNvPr>
          <p:cNvSpPr/>
          <p:nvPr/>
        </p:nvSpPr>
        <p:spPr>
          <a:xfrm>
            <a:off x="5981340" y="2219334"/>
            <a:ext cx="1440159" cy="281344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">
            <a:solidFill>
              <a:schemeClr val="tx2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7B279CFA-6FA1-1998-07C4-0762F8058A21}"/>
              </a:ext>
            </a:extLst>
          </p:cNvPr>
          <p:cNvSpPr/>
          <p:nvPr/>
        </p:nvSpPr>
        <p:spPr>
          <a:xfrm>
            <a:off x="5981340" y="3734107"/>
            <a:ext cx="1440158" cy="281344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">
            <a:solidFill>
              <a:schemeClr val="tx2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33B986D-5B28-5055-3397-B534AB0AB31E}"/>
              </a:ext>
            </a:extLst>
          </p:cNvPr>
          <p:cNvSpPr txBox="1"/>
          <p:nvPr/>
        </p:nvSpPr>
        <p:spPr>
          <a:xfrm>
            <a:off x="6091299" y="2239342"/>
            <a:ext cx="1221808" cy="26161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b="0" dirty="0">
                <a:latin typeface="+mn-ea"/>
                <a:ea typeface="+mn-ea"/>
              </a:rPr>
              <a:t>자동분석 </a:t>
            </a:r>
            <a:r>
              <a:rPr lang="ko-KR" altLang="en-US" sz="1100" b="0" dirty="0" err="1">
                <a:latin typeface="+mn-ea"/>
                <a:ea typeface="+mn-ea"/>
              </a:rPr>
              <a:t>생성기</a:t>
            </a:r>
            <a:endParaRPr lang="ko-KR" altLang="en-US" sz="1100" b="0" dirty="0">
              <a:latin typeface="+mn-ea"/>
              <a:ea typeface="+mn-ea"/>
            </a:endParaRPr>
          </a:p>
        </p:txBody>
      </p: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3F20E0CE-F3B2-0086-D294-8E7A2C1A72CC}"/>
              </a:ext>
            </a:extLst>
          </p:cNvPr>
          <p:cNvCxnSpPr>
            <a:cxnSpLocks/>
            <a:stCxn id="52" idx="2"/>
            <a:endCxn id="45" idx="0"/>
          </p:cNvCxnSpPr>
          <p:nvPr/>
        </p:nvCxnSpPr>
        <p:spPr>
          <a:xfrm flipH="1">
            <a:off x="6701418" y="2500678"/>
            <a:ext cx="2" cy="2952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1F93F2DD-5D84-57B7-9F4D-8C6136CDA0A4}"/>
              </a:ext>
            </a:extLst>
          </p:cNvPr>
          <p:cNvCxnSpPr>
            <a:cxnSpLocks/>
            <a:stCxn id="45" idx="2"/>
            <a:endCxn id="53" idx="0"/>
          </p:cNvCxnSpPr>
          <p:nvPr/>
        </p:nvCxnSpPr>
        <p:spPr>
          <a:xfrm>
            <a:off x="6701418" y="3577528"/>
            <a:ext cx="1" cy="1565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99B183D9-4E8F-7FEC-0AD5-02FB21BAC0C5}"/>
              </a:ext>
            </a:extLst>
          </p:cNvPr>
          <p:cNvSpPr txBox="1"/>
          <p:nvPr/>
        </p:nvSpPr>
        <p:spPr>
          <a:xfrm>
            <a:off x="6182945" y="3753841"/>
            <a:ext cx="1040670" cy="26161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b="0" dirty="0">
                <a:latin typeface="+mn-ea"/>
                <a:ea typeface="+mn-ea"/>
              </a:rPr>
              <a:t>데이터 </a:t>
            </a:r>
            <a:r>
              <a:rPr lang="en-US" altLang="ko-KR" sz="1100" b="0" dirty="0">
                <a:latin typeface="+mn-ea"/>
                <a:ea typeface="+mn-ea"/>
              </a:rPr>
              <a:t>Agent</a:t>
            </a:r>
            <a:endParaRPr lang="ko-KR" altLang="en-US" sz="1100" b="0" dirty="0">
              <a:latin typeface="+mn-ea"/>
              <a:ea typeface="+mn-ea"/>
            </a:endParaRPr>
          </a:p>
        </p:txBody>
      </p: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0F8AA677-F687-222D-8A3B-1FD92A91ACE9}"/>
              </a:ext>
            </a:extLst>
          </p:cNvPr>
          <p:cNvCxnSpPr>
            <a:cxnSpLocks/>
          </p:cNvCxnSpPr>
          <p:nvPr/>
        </p:nvCxnSpPr>
        <p:spPr>
          <a:xfrm>
            <a:off x="4584140" y="2441147"/>
            <a:ext cx="1181922" cy="9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5" name="그림 104" descr="스크린샷, 도표, 라인이(가) 표시된 사진">
            <a:extLst>
              <a:ext uri="{FF2B5EF4-FFF2-40B4-BE49-F238E27FC236}">
                <a16:creationId xmlns:a16="http://schemas.microsoft.com/office/drawing/2014/main" id="{01E36231-092C-5D30-ADD2-C52059C35D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7040" y="3727139"/>
            <a:ext cx="647928" cy="430040"/>
          </a:xfrm>
          <a:prstGeom prst="rect">
            <a:avLst/>
          </a:prstGeom>
          <a:ln>
            <a:solidFill>
              <a:schemeClr val="tx2">
                <a:lumMod val="40000"/>
                <a:lumOff val="6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1" name="그림 110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183B93D-1B80-B420-E347-1EBD852CB8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33391" y="2845657"/>
            <a:ext cx="601588" cy="400110"/>
          </a:xfrm>
          <a:prstGeom prst="rect">
            <a:avLst/>
          </a:prstGeom>
          <a:ln>
            <a:solidFill>
              <a:schemeClr val="tx2">
                <a:lumMod val="40000"/>
                <a:lumOff val="60000"/>
              </a:schemeClr>
            </a:solidFill>
          </a:ln>
        </p:spPr>
      </p:pic>
      <p:sp>
        <p:nvSpPr>
          <p:cNvPr id="115" name="TextBox 114">
            <a:extLst>
              <a:ext uri="{FF2B5EF4-FFF2-40B4-BE49-F238E27FC236}">
                <a16:creationId xmlns:a16="http://schemas.microsoft.com/office/drawing/2014/main" id="{3D08EB2A-C468-59E0-D210-9204F504E1B6}"/>
              </a:ext>
            </a:extLst>
          </p:cNvPr>
          <p:cNvSpPr txBox="1"/>
          <p:nvPr/>
        </p:nvSpPr>
        <p:spPr>
          <a:xfrm>
            <a:off x="1847978" y="3428834"/>
            <a:ext cx="569387" cy="24622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답변서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868AFB6E-6ACF-7A1F-D0F1-4ED1D8A1F81D}"/>
              </a:ext>
            </a:extLst>
          </p:cNvPr>
          <p:cNvSpPr txBox="1"/>
          <p:nvPr/>
        </p:nvSpPr>
        <p:spPr>
          <a:xfrm>
            <a:off x="1797326" y="4194356"/>
            <a:ext cx="697627" cy="24622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분석파일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EBD1364D-2091-3868-575A-5B4601164048}"/>
              </a:ext>
            </a:extLst>
          </p:cNvPr>
          <p:cNvSpPr txBox="1"/>
          <p:nvPr/>
        </p:nvSpPr>
        <p:spPr>
          <a:xfrm>
            <a:off x="5117713" y="3265768"/>
            <a:ext cx="631904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ko-KR" altLang="en-US" sz="800" dirty="0">
                <a:latin typeface="+mn-ea"/>
                <a:ea typeface="+mn-ea"/>
              </a:rPr>
              <a:t>자동</a:t>
            </a:r>
            <a:r>
              <a:rPr lang="en-US" altLang="ko-KR" sz="800" dirty="0">
                <a:latin typeface="+mn-ea"/>
                <a:ea typeface="+mn-ea"/>
              </a:rPr>
              <a:t> </a:t>
            </a:r>
            <a:r>
              <a:rPr lang="ko-KR" altLang="en-US" sz="800" dirty="0">
                <a:latin typeface="+mn-ea"/>
                <a:ea typeface="+mn-ea"/>
              </a:rPr>
              <a:t>분석</a:t>
            </a:r>
            <a:endParaRPr lang="en-US" altLang="ko-KR" sz="800" dirty="0">
              <a:latin typeface="+mn-ea"/>
              <a:ea typeface="+mn-ea"/>
            </a:endParaRPr>
          </a:p>
          <a:p>
            <a:pPr algn="ctr"/>
            <a:r>
              <a:rPr lang="ko-KR" altLang="en-US" sz="800" dirty="0">
                <a:latin typeface="+mn-ea"/>
                <a:ea typeface="+mn-ea"/>
              </a:rPr>
              <a:t>보고서</a:t>
            </a:r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BE87DBD9-F3FF-6F8B-4CD4-2B36B92B8253}"/>
              </a:ext>
            </a:extLst>
          </p:cNvPr>
          <p:cNvSpPr/>
          <p:nvPr/>
        </p:nvSpPr>
        <p:spPr>
          <a:xfrm>
            <a:off x="3546706" y="1846372"/>
            <a:ext cx="1264256" cy="2861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r>
              <a:rPr lang="en-US" altLang="ko-KR" sz="1200" dirty="0" err="1">
                <a:solidFill>
                  <a:schemeClr val="tx1"/>
                </a:solidFill>
                <a:latin typeface="맑은 고딕"/>
                <a:ea typeface="맑은 고딕"/>
              </a:rPr>
              <a:t>sLLM</a:t>
            </a:r>
            <a:r>
              <a:rPr lang="en-US" altLang="ko-KR" sz="1200" dirty="0">
                <a:solidFill>
                  <a:schemeClr val="tx1"/>
                </a:solidFill>
                <a:latin typeface="맑은 고딕"/>
                <a:ea typeface="맑은 고딕"/>
              </a:rPr>
              <a:t> w/RAG</a:t>
            </a:r>
            <a:endParaRPr lang="ko-KR" altLang="en-US" sz="1200" dirty="0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7D3E8B28-5662-7E23-CE04-9CE8A852F355}"/>
              </a:ext>
            </a:extLst>
          </p:cNvPr>
          <p:cNvSpPr/>
          <p:nvPr/>
        </p:nvSpPr>
        <p:spPr>
          <a:xfrm>
            <a:off x="6054621" y="1819568"/>
            <a:ext cx="1264256" cy="2861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r>
              <a:rPr lang="ko-KR" altLang="en-US" sz="1200" dirty="0">
                <a:solidFill>
                  <a:schemeClr val="tx1"/>
                </a:solidFill>
                <a:latin typeface="맑은 고딕"/>
                <a:ea typeface="맑은 고딕"/>
              </a:rPr>
              <a:t>자동분석시스템</a:t>
            </a:r>
          </a:p>
        </p:txBody>
      </p:sp>
      <p:cxnSp>
        <p:nvCxnSpPr>
          <p:cNvPr id="132" name="연결선: 꺾임 131">
            <a:extLst>
              <a:ext uri="{FF2B5EF4-FFF2-40B4-BE49-F238E27FC236}">
                <a16:creationId xmlns:a16="http://schemas.microsoft.com/office/drawing/2014/main" id="{DEA5477A-1D44-D96F-7CA7-FE754ED7A34C}"/>
              </a:ext>
            </a:extLst>
          </p:cNvPr>
          <p:cNvCxnSpPr/>
          <p:nvPr/>
        </p:nvCxnSpPr>
        <p:spPr>
          <a:xfrm rot="10800000" flipV="1">
            <a:off x="4323764" y="2725230"/>
            <a:ext cx="1442298" cy="659122"/>
          </a:xfrm>
          <a:prstGeom prst="bentConnector3">
            <a:avLst>
              <a:gd name="adj1" fmla="val 99756"/>
            </a:avLst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E396C3F2-7B5E-3480-FB01-DB2802B20594}"/>
              </a:ext>
            </a:extLst>
          </p:cNvPr>
          <p:cNvSpPr txBox="1"/>
          <p:nvPr/>
        </p:nvSpPr>
        <p:spPr>
          <a:xfrm>
            <a:off x="6202325" y="2748809"/>
            <a:ext cx="10397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 err="1">
                <a:latin typeface="+mn-ea"/>
                <a:ea typeface="+mn-ea"/>
              </a:rPr>
              <a:t>ECMiner</a:t>
            </a:r>
            <a:r>
              <a:rPr lang="en-US" altLang="ko-KR" sz="1200" dirty="0">
                <a:latin typeface="+mn-ea"/>
                <a:ea typeface="+mn-ea"/>
              </a:rPr>
              <a:t>™</a:t>
            </a:r>
            <a:endParaRPr lang="ko-KR" altLang="en-US" sz="1200" dirty="0">
              <a:latin typeface="+mn-ea"/>
              <a:ea typeface="+mn-ea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F79548D-C01B-F3D7-288E-166F6B5DA7D4}"/>
              </a:ext>
            </a:extLst>
          </p:cNvPr>
          <p:cNvSpPr/>
          <p:nvPr/>
        </p:nvSpPr>
        <p:spPr>
          <a:xfrm>
            <a:off x="1643437" y="6008093"/>
            <a:ext cx="1129871" cy="19528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r>
              <a:rPr lang="ko-KR" altLang="en-US" sz="1200" dirty="0">
                <a:solidFill>
                  <a:schemeClr val="tx1"/>
                </a:solidFill>
                <a:latin typeface="맑은 고딕"/>
                <a:ea typeface="맑은 고딕"/>
              </a:rPr>
              <a:t>원천 데이터</a:t>
            </a: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228CF658-99EC-E71B-2A79-B2AAA0770932}"/>
              </a:ext>
            </a:extLst>
          </p:cNvPr>
          <p:cNvGrpSpPr/>
          <p:nvPr/>
        </p:nvGrpSpPr>
        <p:grpSpPr>
          <a:xfrm>
            <a:off x="4953000" y="4805816"/>
            <a:ext cx="859488" cy="573643"/>
            <a:chOff x="5430768" y="4809446"/>
            <a:chExt cx="859488" cy="573643"/>
          </a:xfrm>
        </p:grpSpPr>
        <p:sp>
          <p:nvSpPr>
            <p:cNvPr id="38" name="순서도: 자기 디스크 37">
              <a:extLst>
                <a:ext uri="{FF2B5EF4-FFF2-40B4-BE49-F238E27FC236}">
                  <a16:creationId xmlns:a16="http://schemas.microsoft.com/office/drawing/2014/main" id="{1354D432-1A8A-A47D-A731-77BA4E7BE89D}"/>
                </a:ext>
              </a:extLst>
            </p:cNvPr>
            <p:cNvSpPr/>
            <p:nvPr/>
          </p:nvSpPr>
          <p:spPr>
            <a:xfrm>
              <a:off x="5472854" y="4809446"/>
              <a:ext cx="742737" cy="538696"/>
            </a:xfrm>
            <a:prstGeom prst="flowChartMagneticDisk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endParaRPr lang="ko-KR" altLang="en-US" dirty="0">
                <a:solidFill>
                  <a:prstClr val="white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A09C0F26-20C4-7D2F-BA13-94D95C52AC37}"/>
                </a:ext>
              </a:extLst>
            </p:cNvPr>
            <p:cNvSpPr txBox="1"/>
            <p:nvPr/>
          </p:nvSpPr>
          <p:spPr>
            <a:xfrm>
              <a:off x="5430768" y="4982979"/>
              <a:ext cx="859488" cy="40011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latin typeface="+mn-ea"/>
                  <a:ea typeface="+mn-ea"/>
                </a:rPr>
                <a:t>메타</a:t>
              </a:r>
              <a:endParaRPr lang="en-US" altLang="ko-KR" sz="1000" dirty="0">
                <a:latin typeface="+mn-ea"/>
                <a:ea typeface="+mn-ea"/>
              </a:endParaRPr>
            </a:p>
            <a:p>
              <a:pPr algn="ctr"/>
              <a:r>
                <a:rPr lang="ko-KR" altLang="en-US" sz="1000" dirty="0">
                  <a:latin typeface="+mn-ea"/>
                  <a:ea typeface="+mn-ea"/>
                </a:rPr>
                <a:t>데이터</a:t>
              </a:r>
            </a:p>
          </p:txBody>
        </p:sp>
      </p:grpSp>
      <p:cxnSp>
        <p:nvCxnSpPr>
          <p:cNvPr id="51" name="연결선: 꺾임 50">
            <a:extLst>
              <a:ext uri="{FF2B5EF4-FFF2-40B4-BE49-F238E27FC236}">
                <a16:creationId xmlns:a16="http://schemas.microsoft.com/office/drawing/2014/main" id="{2F514DD1-621E-694B-3AB2-0ED1299C85E9}"/>
              </a:ext>
            </a:extLst>
          </p:cNvPr>
          <p:cNvCxnSpPr>
            <a:cxnSpLocks/>
            <a:stCxn id="14" idx="1"/>
            <a:endCxn id="81" idx="2"/>
          </p:cNvCxnSpPr>
          <p:nvPr/>
        </p:nvCxnSpPr>
        <p:spPr>
          <a:xfrm rot="16200000" flipV="1">
            <a:off x="6088605" y="4554435"/>
            <a:ext cx="488049" cy="218852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B2AEA8A2-E3F4-0FE8-6B86-95296B644C09}"/>
              </a:ext>
            </a:extLst>
          </p:cNvPr>
          <p:cNvGrpSpPr/>
          <p:nvPr/>
        </p:nvGrpSpPr>
        <p:grpSpPr>
          <a:xfrm>
            <a:off x="3008784" y="5868207"/>
            <a:ext cx="895588" cy="538696"/>
            <a:chOff x="2467152" y="5534748"/>
            <a:chExt cx="825867" cy="538696"/>
          </a:xfrm>
        </p:grpSpPr>
        <p:sp>
          <p:nvSpPr>
            <p:cNvPr id="70" name="순서도: 자기 디스크 69">
              <a:extLst>
                <a:ext uri="{FF2B5EF4-FFF2-40B4-BE49-F238E27FC236}">
                  <a16:creationId xmlns:a16="http://schemas.microsoft.com/office/drawing/2014/main" id="{8586022A-2656-65C4-B72E-ECC57D321DC0}"/>
                </a:ext>
              </a:extLst>
            </p:cNvPr>
            <p:cNvSpPr/>
            <p:nvPr/>
          </p:nvSpPr>
          <p:spPr>
            <a:xfrm>
              <a:off x="2504334" y="5534748"/>
              <a:ext cx="742737" cy="538696"/>
            </a:xfrm>
            <a:prstGeom prst="flowChartMagneticDisk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endParaRPr lang="ko-KR" altLang="en-US" dirty="0">
                <a:solidFill>
                  <a:prstClr val="white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2074DEBE-D5E6-6A5A-5732-86423466B7D8}"/>
                </a:ext>
              </a:extLst>
            </p:cNvPr>
            <p:cNvSpPr txBox="1"/>
            <p:nvPr/>
          </p:nvSpPr>
          <p:spPr>
            <a:xfrm>
              <a:off x="2467152" y="5721576"/>
              <a:ext cx="825867" cy="246221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latin typeface="+mn-ea"/>
                  <a:ea typeface="+mn-ea"/>
                </a:rPr>
                <a:t>설비 문서</a:t>
              </a:r>
            </a:p>
          </p:txBody>
        </p:sp>
      </p:grp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0E1BE05B-E8DE-C2B4-FB70-27595B3F7234}"/>
              </a:ext>
            </a:extLst>
          </p:cNvPr>
          <p:cNvGrpSpPr/>
          <p:nvPr/>
        </p:nvGrpSpPr>
        <p:grpSpPr>
          <a:xfrm>
            <a:off x="6056088" y="4805816"/>
            <a:ext cx="859488" cy="573643"/>
            <a:chOff x="5430768" y="4809446"/>
            <a:chExt cx="859488" cy="573643"/>
          </a:xfrm>
        </p:grpSpPr>
        <p:sp>
          <p:nvSpPr>
            <p:cNvPr id="78" name="순서도: 자기 디스크 77">
              <a:extLst>
                <a:ext uri="{FF2B5EF4-FFF2-40B4-BE49-F238E27FC236}">
                  <a16:creationId xmlns:a16="http://schemas.microsoft.com/office/drawing/2014/main" id="{66DAEBFD-197F-1C98-8FE2-6903DDA7584A}"/>
                </a:ext>
              </a:extLst>
            </p:cNvPr>
            <p:cNvSpPr/>
            <p:nvPr/>
          </p:nvSpPr>
          <p:spPr>
            <a:xfrm>
              <a:off x="5472854" y="4809446"/>
              <a:ext cx="742737" cy="538696"/>
            </a:xfrm>
            <a:prstGeom prst="flowChartMagneticDisk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endParaRPr lang="ko-KR" altLang="en-US" dirty="0">
                <a:solidFill>
                  <a:prstClr val="white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F99451EC-7AE8-1B99-6513-C6F0D1CBF67B}"/>
                </a:ext>
              </a:extLst>
            </p:cNvPr>
            <p:cNvSpPr txBox="1"/>
            <p:nvPr/>
          </p:nvSpPr>
          <p:spPr>
            <a:xfrm>
              <a:off x="5430768" y="4982979"/>
              <a:ext cx="859488" cy="40011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latin typeface="+mn-ea"/>
                  <a:ea typeface="+mn-ea"/>
                </a:rPr>
                <a:t>분석용</a:t>
              </a:r>
              <a:endParaRPr lang="en-US" altLang="ko-KR" sz="1000" dirty="0">
                <a:latin typeface="+mn-ea"/>
                <a:ea typeface="+mn-ea"/>
              </a:endParaRPr>
            </a:p>
            <a:p>
              <a:pPr algn="ctr"/>
              <a:r>
                <a:rPr lang="ko-KR" altLang="en-US" sz="1000" dirty="0">
                  <a:latin typeface="+mn-ea"/>
                  <a:ea typeface="+mn-ea"/>
                </a:rPr>
                <a:t>데이터</a:t>
              </a:r>
            </a:p>
          </p:txBody>
        </p:sp>
      </p:grpSp>
      <p:cxnSp>
        <p:nvCxnSpPr>
          <p:cNvPr id="86" name="연결선: 꺾임 85">
            <a:extLst>
              <a:ext uri="{FF2B5EF4-FFF2-40B4-BE49-F238E27FC236}">
                <a16:creationId xmlns:a16="http://schemas.microsoft.com/office/drawing/2014/main" id="{333F8CA0-7592-E30A-DCBF-330D85253BEA}"/>
              </a:ext>
            </a:extLst>
          </p:cNvPr>
          <p:cNvCxnSpPr>
            <a:cxnSpLocks/>
            <a:stCxn id="70" idx="1"/>
            <a:endCxn id="81" idx="2"/>
          </p:cNvCxnSpPr>
          <p:nvPr/>
        </p:nvCxnSpPr>
        <p:spPr>
          <a:xfrm rot="5400000" flipH="1" flipV="1">
            <a:off x="4113328" y="4743170"/>
            <a:ext cx="463534" cy="178654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화살표 연결선 88">
            <a:extLst>
              <a:ext uri="{FF2B5EF4-FFF2-40B4-BE49-F238E27FC236}">
                <a16:creationId xmlns:a16="http://schemas.microsoft.com/office/drawing/2014/main" id="{BD577CBB-6248-6C51-A095-1A8588BFEE7D}"/>
              </a:ext>
            </a:extLst>
          </p:cNvPr>
          <p:cNvCxnSpPr>
            <a:cxnSpLocks/>
          </p:cNvCxnSpPr>
          <p:nvPr/>
        </p:nvCxnSpPr>
        <p:spPr>
          <a:xfrm>
            <a:off x="7223615" y="4015451"/>
            <a:ext cx="18490" cy="15853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화살표 연결선 102">
            <a:extLst>
              <a:ext uri="{FF2B5EF4-FFF2-40B4-BE49-F238E27FC236}">
                <a16:creationId xmlns:a16="http://schemas.microsoft.com/office/drawing/2014/main" id="{F76F0F0F-E216-E437-24D9-4428F31F4D22}"/>
              </a:ext>
            </a:extLst>
          </p:cNvPr>
          <p:cNvCxnSpPr>
            <a:cxnSpLocks/>
            <a:stCxn id="16" idx="1"/>
            <a:endCxn id="40" idx="2"/>
          </p:cNvCxnSpPr>
          <p:nvPr/>
        </p:nvCxnSpPr>
        <p:spPr>
          <a:xfrm flipH="1" flipV="1">
            <a:off x="4164157" y="4236105"/>
            <a:ext cx="1471" cy="57533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화살표 연결선 106">
            <a:extLst>
              <a:ext uri="{FF2B5EF4-FFF2-40B4-BE49-F238E27FC236}">
                <a16:creationId xmlns:a16="http://schemas.microsoft.com/office/drawing/2014/main" id="{667F5857-7872-21F1-8916-2088F278BF4F}"/>
              </a:ext>
            </a:extLst>
          </p:cNvPr>
          <p:cNvCxnSpPr/>
          <p:nvPr/>
        </p:nvCxnSpPr>
        <p:spPr>
          <a:xfrm>
            <a:off x="6393160" y="4015451"/>
            <a:ext cx="0" cy="68502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직선 화살표 연결선 109">
            <a:extLst>
              <a:ext uri="{FF2B5EF4-FFF2-40B4-BE49-F238E27FC236}">
                <a16:creationId xmlns:a16="http://schemas.microsoft.com/office/drawing/2014/main" id="{5AD62007-F8F4-DC9D-94A0-0554C42A7A3C}"/>
              </a:ext>
            </a:extLst>
          </p:cNvPr>
          <p:cNvCxnSpPr>
            <a:cxnSpLocks/>
            <a:stCxn id="16" idx="4"/>
            <a:endCxn id="38" idx="2"/>
          </p:cNvCxnSpPr>
          <p:nvPr/>
        </p:nvCxnSpPr>
        <p:spPr>
          <a:xfrm flipV="1">
            <a:off x="4536996" y="5075164"/>
            <a:ext cx="458090" cy="562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직선 화살표 연결선 113">
            <a:extLst>
              <a:ext uri="{FF2B5EF4-FFF2-40B4-BE49-F238E27FC236}">
                <a16:creationId xmlns:a16="http://schemas.microsoft.com/office/drawing/2014/main" id="{4896A157-09E3-158B-136E-06B040F417F4}"/>
              </a:ext>
            </a:extLst>
          </p:cNvPr>
          <p:cNvCxnSpPr>
            <a:stCxn id="38" idx="4"/>
          </p:cNvCxnSpPr>
          <p:nvPr/>
        </p:nvCxnSpPr>
        <p:spPr>
          <a:xfrm>
            <a:off x="5737823" y="5075164"/>
            <a:ext cx="353476" cy="562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C00BEA81-654E-C72C-1F31-F8C31C13F873}"/>
              </a:ext>
            </a:extLst>
          </p:cNvPr>
          <p:cNvSpPr/>
          <p:nvPr/>
        </p:nvSpPr>
        <p:spPr bwMode="auto">
          <a:xfrm>
            <a:off x="3066919" y="1751618"/>
            <a:ext cx="2127356" cy="2807969"/>
          </a:xfrm>
          <a:prstGeom prst="rect">
            <a:avLst/>
          </a:prstGeom>
          <a:noFill/>
          <a:ln w="38100">
            <a:solidFill>
              <a:srgbClr val="C00000"/>
            </a:solidFill>
            <a:prstDash val="sysDot"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en-US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AC30675-B0C3-4890-B6CE-1A65CA178703}"/>
              </a:ext>
            </a:extLst>
          </p:cNvPr>
          <p:cNvSpPr/>
          <p:nvPr/>
        </p:nvSpPr>
        <p:spPr>
          <a:xfrm>
            <a:off x="7482996" y="4874204"/>
            <a:ext cx="1195817" cy="37469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r>
              <a:rPr lang="en-US" altLang="ko-KR" sz="1200" dirty="0">
                <a:solidFill>
                  <a:schemeClr val="tx1"/>
                </a:solidFill>
                <a:latin typeface="맑은 고딕"/>
                <a:ea typeface="맑은 고딕"/>
              </a:rPr>
              <a:t>AIDA:</a:t>
            </a:r>
          </a:p>
          <a:p>
            <a:pPr algn="ctr" defTabSz="911896"/>
            <a:r>
              <a:rPr lang="en-US" altLang="ko-KR" sz="1200" dirty="0">
                <a:solidFill>
                  <a:schemeClr val="tx1"/>
                </a:solidFill>
                <a:latin typeface="맑은 고딕"/>
                <a:ea typeface="맑은 고딕"/>
              </a:rPr>
              <a:t>Ontology</a:t>
            </a:r>
            <a:endParaRPr lang="ko-KR" altLang="en-US" sz="1200" dirty="0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820665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FF8C6-FDA2-B420-297E-E35587C4C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직사각형 80">
            <a:extLst>
              <a:ext uri="{FF2B5EF4-FFF2-40B4-BE49-F238E27FC236}">
                <a16:creationId xmlns:a16="http://schemas.microsoft.com/office/drawing/2014/main" id="{38EEE9F4-58DB-D032-A0C1-D94E7858C0FD}"/>
              </a:ext>
            </a:extLst>
          </p:cNvPr>
          <p:cNvSpPr/>
          <p:nvPr/>
        </p:nvSpPr>
        <p:spPr>
          <a:xfrm>
            <a:off x="3451826" y="4718427"/>
            <a:ext cx="3573080" cy="68624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C8DE877E-0C8B-B184-82F2-664C6C7BA8B3}"/>
              </a:ext>
            </a:extLst>
          </p:cNvPr>
          <p:cNvSpPr/>
          <p:nvPr/>
        </p:nvSpPr>
        <p:spPr>
          <a:xfrm>
            <a:off x="3216828" y="1991262"/>
            <a:ext cx="1811876" cy="24482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DB935E3D-09C7-8E53-47C7-0CACCC4FA106}"/>
              </a:ext>
            </a:extLst>
          </p:cNvPr>
          <p:cNvSpPr/>
          <p:nvPr/>
        </p:nvSpPr>
        <p:spPr>
          <a:xfrm>
            <a:off x="5788151" y="1978137"/>
            <a:ext cx="1811876" cy="24482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F6515C9-9A1B-3F7E-3E79-C6DB0F842BD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 err="1"/>
              <a:t>ECMinerAI</a:t>
            </a:r>
            <a:r>
              <a:rPr lang="en-US" altLang="ko-KR" dirty="0"/>
              <a:t>™ AIDA: </a:t>
            </a:r>
            <a:r>
              <a:rPr lang="ko-KR" altLang="en-US" dirty="0"/>
              <a:t>자동분석시스템</a:t>
            </a:r>
            <a:r>
              <a:rPr lang="en-US" altLang="ko-KR" dirty="0"/>
              <a:t>(1/2)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145533-7858-BEAD-8B96-18017BE3F12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2309" y="979158"/>
            <a:ext cx="9482335" cy="708950"/>
          </a:xfrm>
        </p:spPr>
        <p:txBody>
          <a:bodyPr/>
          <a:lstStyle/>
          <a:p>
            <a:r>
              <a:rPr lang="en-US" altLang="ko-KR" dirty="0"/>
              <a:t>AIDA</a:t>
            </a:r>
            <a:r>
              <a:rPr lang="ko-KR" altLang="en-US" dirty="0"/>
              <a:t>의 자동분석시스템은 </a:t>
            </a:r>
            <a:r>
              <a:rPr lang="en-US" altLang="ko-KR" dirty="0"/>
              <a:t>1) </a:t>
            </a:r>
            <a:r>
              <a:rPr lang="ko-KR" altLang="en-US" dirty="0"/>
              <a:t>자동분석 생성기를 통해 데이터를 이해하여 사용자 의도에 맞는 분석 프로세스를 생성합니다</a:t>
            </a:r>
            <a:r>
              <a:rPr lang="en-US" altLang="ko-KR" dirty="0"/>
              <a:t>. </a:t>
            </a:r>
            <a:r>
              <a:rPr lang="ko-KR" altLang="en-US" dirty="0"/>
              <a:t>이를 기반으로 </a:t>
            </a:r>
            <a:r>
              <a:rPr lang="en-US" altLang="ko-KR" dirty="0"/>
              <a:t>2) </a:t>
            </a:r>
            <a:r>
              <a:rPr lang="ko-KR" altLang="en-US" dirty="0"/>
              <a:t>데이터 </a:t>
            </a:r>
            <a:r>
              <a:rPr lang="en-US" altLang="ko-KR" dirty="0"/>
              <a:t>Agent</a:t>
            </a:r>
            <a:r>
              <a:rPr lang="ko-KR" altLang="en-US" dirty="0"/>
              <a:t>는 분석용 데이터를 수집하여 </a:t>
            </a:r>
            <a:r>
              <a:rPr lang="en-US" altLang="ko-KR" dirty="0"/>
              <a:t>3) ECMiner™</a:t>
            </a:r>
            <a:r>
              <a:rPr lang="ko-KR" altLang="en-US" dirty="0"/>
              <a:t>에서 탐색적 분석</a:t>
            </a:r>
            <a:r>
              <a:rPr lang="en-US" altLang="ko-KR" dirty="0"/>
              <a:t>, </a:t>
            </a:r>
            <a:r>
              <a:rPr lang="ko-KR" altLang="en-US" dirty="0"/>
              <a:t>시각화</a:t>
            </a:r>
            <a:r>
              <a:rPr lang="en-US" altLang="ko-KR" dirty="0"/>
              <a:t>, </a:t>
            </a:r>
            <a:r>
              <a:rPr lang="ko-KR" altLang="en-US" dirty="0"/>
              <a:t>모델링까지 </a:t>
            </a:r>
            <a:r>
              <a:rPr lang="ko-KR" altLang="en-US" b="1" dirty="0">
                <a:solidFill>
                  <a:srgbClr val="C00000"/>
                </a:solidFill>
              </a:rPr>
              <a:t>수행하고</a:t>
            </a:r>
            <a:r>
              <a:rPr lang="en-US" altLang="ko-KR" b="1" dirty="0">
                <a:solidFill>
                  <a:srgbClr val="C00000"/>
                </a:solidFill>
              </a:rPr>
              <a:t>, </a:t>
            </a:r>
            <a:r>
              <a:rPr lang="ko-KR" altLang="en-US" b="1" dirty="0">
                <a:solidFill>
                  <a:srgbClr val="C00000"/>
                </a:solidFill>
              </a:rPr>
              <a:t>최종적으로 분석 보고서를 제공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78902C75-1269-3B75-DB45-35448C29C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+mn-ea"/>
              </a:rPr>
              <a:t>1. </a:t>
            </a:r>
            <a:r>
              <a:rPr lang="en-US" altLang="ko-KR" dirty="0" err="1">
                <a:solidFill>
                  <a:schemeClr val="bg1"/>
                </a:solidFill>
                <a:latin typeface="+mn-ea"/>
              </a:rPr>
              <a:t>ECMiner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™ AIDA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 개요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9E9AD78-E602-E83E-891F-DEA0F2F5F9E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26" name="그림 25" descr="만화 영화, 소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9AF397A-CFF2-F918-C60D-BE8E898F22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519" y="2486708"/>
            <a:ext cx="877429" cy="1008109"/>
          </a:xfrm>
          <a:prstGeom prst="rect">
            <a:avLst/>
          </a:prstGeom>
        </p:spPr>
      </p:pic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2F361544-AA46-8BBC-BC70-7E35A7A24B04}"/>
              </a:ext>
            </a:extLst>
          </p:cNvPr>
          <p:cNvSpPr/>
          <p:nvPr/>
        </p:nvSpPr>
        <p:spPr>
          <a:xfrm>
            <a:off x="3728446" y="2363897"/>
            <a:ext cx="855694" cy="648072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r>
              <a:rPr lang="en-US" altLang="ko-KR" sz="240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맑은 고딕"/>
                <a:ea typeface="맑은 고딕"/>
              </a:rPr>
              <a:t>AI</a:t>
            </a:r>
            <a:endParaRPr lang="ko-KR" altLang="en-US" sz="240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맑은 고딕"/>
              <a:ea typeface="맑은 고딕"/>
            </a:endParaRPr>
          </a:p>
        </p:txBody>
      </p: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AE494EE7-1618-C8E7-C8DD-9870216CB67A}"/>
              </a:ext>
            </a:extLst>
          </p:cNvPr>
          <p:cNvGrpSpPr/>
          <p:nvPr/>
        </p:nvGrpSpPr>
        <p:grpSpPr>
          <a:xfrm>
            <a:off x="1818171" y="2485755"/>
            <a:ext cx="1910275" cy="296721"/>
            <a:chOff x="1568281" y="2844247"/>
            <a:chExt cx="1599323" cy="296721"/>
          </a:xfrm>
        </p:grpSpPr>
        <p:cxnSp>
          <p:nvCxnSpPr>
            <p:cNvPr id="32" name="직선 화살표 연결선 31">
              <a:extLst>
                <a:ext uri="{FF2B5EF4-FFF2-40B4-BE49-F238E27FC236}">
                  <a16:creationId xmlns:a16="http://schemas.microsoft.com/office/drawing/2014/main" id="{59DC32B3-18DD-B5E3-9207-E14175432C72}"/>
                </a:ext>
              </a:extLst>
            </p:cNvPr>
            <p:cNvCxnSpPr>
              <a:cxnSpLocks/>
            </p:cNvCxnSpPr>
            <p:nvPr/>
          </p:nvCxnSpPr>
          <p:spPr>
            <a:xfrm>
              <a:off x="1568281" y="2844247"/>
              <a:ext cx="1599323" cy="95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화살표 연결선 33">
              <a:extLst>
                <a:ext uri="{FF2B5EF4-FFF2-40B4-BE49-F238E27FC236}">
                  <a16:creationId xmlns:a16="http://schemas.microsoft.com/office/drawing/2014/main" id="{EE944836-EA05-A466-FD29-AEE7EEF5FBA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68281" y="3140968"/>
              <a:ext cx="159932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6" name="그림 35" descr="도표, 디자인, 일렉트릭 블루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12ADA94-276A-447F-61CF-A082817FD5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9171" y="2901045"/>
            <a:ext cx="485576" cy="577259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3A68DA3A-14FF-D8B4-220A-52EA07E5DCF2}"/>
              </a:ext>
            </a:extLst>
          </p:cNvPr>
          <p:cNvSpPr txBox="1"/>
          <p:nvPr/>
        </p:nvSpPr>
        <p:spPr>
          <a:xfrm>
            <a:off x="2258897" y="2223239"/>
            <a:ext cx="441146" cy="24622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질의</a:t>
            </a:r>
          </a:p>
        </p:txBody>
      </p:sp>
      <p:pic>
        <p:nvPicPr>
          <p:cNvPr id="40" name="그림 39" descr="원, 도표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27BE218-CCD6-0605-28F2-EA61EA9B1E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0802" y="3401565"/>
            <a:ext cx="946709" cy="834540"/>
          </a:xfrm>
          <a:prstGeom prst="rect">
            <a:avLst/>
          </a:prstGeom>
          <a:ln>
            <a:solidFill>
              <a:schemeClr val="tx2">
                <a:lumMod val="40000"/>
                <a:lumOff val="60000"/>
              </a:schemeClr>
            </a:solidFill>
          </a:ln>
        </p:spPr>
      </p:pic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CEAEEF25-ED63-EEC7-588C-9757A64B7776}"/>
              </a:ext>
            </a:extLst>
          </p:cNvPr>
          <p:cNvCxnSpPr>
            <a:cxnSpLocks/>
            <a:stCxn id="30" idx="2"/>
            <a:endCxn id="40" idx="0"/>
          </p:cNvCxnSpPr>
          <p:nvPr/>
        </p:nvCxnSpPr>
        <p:spPr>
          <a:xfrm>
            <a:off x="4156293" y="3011969"/>
            <a:ext cx="7864" cy="38959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그림 44" descr="텍스트, 스크린샷, 도표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E5D7A6C-24A9-D0F3-7B9D-04754AB696E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4163"/>
          <a:stretch>
            <a:fillRect/>
          </a:stretch>
        </p:blipFill>
        <p:spPr>
          <a:xfrm>
            <a:off x="5981338" y="2795944"/>
            <a:ext cx="1440160" cy="781584"/>
          </a:xfrm>
          <a:prstGeom prst="rect">
            <a:avLst/>
          </a:prstGeom>
          <a:ln w="6350">
            <a:solidFill>
              <a:schemeClr val="tx2">
                <a:lumMod val="60000"/>
                <a:lumOff val="40000"/>
              </a:schemeClr>
            </a:solidFill>
          </a:ln>
        </p:spPr>
      </p:pic>
      <p:grpSp>
        <p:nvGrpSpPr>
          <p:cNvPr id="31" name="그룹 30">
            <a:extLst>
              <a:ext uri="{FF2B5EF4-FFF2-40B4-BE49-F238E27FC236}">
                <a16:creationId xmlns:a16="http://schemas.microsoft.com/office/drawing/2014/main" id="{0BCD9083-4BF5-7A4D-7CD2-44870CBA498D}"/>
              </a:ext>
            </a:extLst>
          </p:cNvPr>
          <p:cNvGrpSpPr/>
          <p:nvPr/>
        </p:nvGrpSpPr>
        <p:grpSpPr>
          <a:xfrm>
            <a:off x="6567632" y="6120185"/>
            <a:ext cx="243677" cy="40038"/>
            <a:chOff x="4377982" y="5768287"/>
            <a:chExt cx="224707" cy="40038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176BD8A6-2784-7F90-41DE-ABD8FCE9404A}"/>
                </a:ext>
              </a:extLst>
            </p:cNvPr>
            <p:cNvSpPr/>
            <p:nvPr/>
          </p:nvSpPr>
          <p:spPr>
            <a:xfrm>
              <a:off x="4571251" y="5773585"/>
              <a:ext cx="31438" cy="34740"/>
            </a:xfrm>
            <a:prstGeom prst="ellipse">
              <a:avLst/>
            </a:prstGeom>
            <a:solidFill>
              <a:srgbClr val="1AA0CA"/>
            </a:solidFill>
            <a:ln>
              <a:noFill/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endParaRPr lang="ko-KR" altLang="en-US" dirty="0">
                <a:solidFill>
                  <a:prstClr val="white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1D470BA8-C9C6-7604-0110-85C80CF32D3B}"/>
                </a:ext>
              </a:extLst>
            </p:cNvPr>
            <p:cNvSpPr/>
            <p:nvPr/>
          </p:nvSpPr>
          <p:spPr>
            <a:xfrm>
              <a:off x="4472220" y="5768287"/>
              <a:ext cx="31438" cy="34740"/>
            </a:xfrm>
            <a:prstGeom prst="ellipse">
              <a:avLst/>
            </a:prstGeom>
            <a:solidFill>
              <a:srgbClr val="1AA0CA"/>
            </a:solidFill>
            <a:ln>
              <a:noFill/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endParaRPr lang="ko-KR" altLang="en-US" dirty="0">
                <a:solidFill>
                  <a:prstClr val="white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2AF8C48C-21A9-04C3-CAD6-65C8C9B13CC6}"/>
                </a:ext>
              </a:extLst>
            </p:cNvPr>
            <p:cNvSpPr/>
            <p:nvPr/>
          </p:nvSpPr>
          <p:spPr>
            <a:xfrm>
              <a:off x="4377982" y="5773180"/>
              <a:ext cx="31438" cy="34740"/>
            </a:xfrm>
            <a:prstGeom prst="ellipse">
              <a:avLst/>
            </a:prstGeom>
            <a:solidFill>
              <a:srgbClr val="1AA0CA"/>
            </a:solidFill>
            <a:ln>
              <a:noFill/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endParaRPr lang="ko-KR" altLang="en-US" dirty="0">
                <a:solidFill>
                  <a:prstClr val="white"/>
                </a:solidFill>
                <a:latin typeface="맑은 고딕"/>
                <a:ea typeface="맑은 고딕"/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CD3BA6A9-3F33-E59A-0E48-71FC6AFDD495}"/>
              </a:ext>
            </a:extLst>
          </p:cNvPr>
          <p:cNvGrpSpPr/>
          <p:nvPr/>
        </p:nvGrpSpPr>
        <p:grpSpPr>
          <a:xfrm>
            <a:off x="4304928" y="5886646"/>
            <a:ext cx="895588" cy="538696"/>
            <a:chOff x="2477310" y="5534748"/>
            <a:chExt cx="825867" cy="538696"/>
          </a:xfrm>
        </p:grpSpPr>
        <p:sp>
          <p:nvSpPr>
            <p:cNvPr id="15" name="순서도: 자기 디스크 14">
              <a:extLst>
                <a:ext uri="{FF2B5EF4-FFF2-40B4-BE49-F238E27FC236}">
                  <a16:creationId xmlns:a16="http://schemas.microsoft.com/office/drawing/2014/main" id="{D89B6D32-FDEF-EEFA-DF67-CAD289A6396B}"/>
                </a:ext>
              </a:extLst>
            </p:cNvPr>
            <p:cNvSpPr/>
            <p:nvPr/>
          </p:nvSpPr>
          <p:spPr>
            <a:xfrm>
              <a:off x="2504334" y="5534748"/>
              <a:ext cx="742737" cy="538696"/>
            </a:xfrm>
            <a:prstGeom prst="flowChartMagneticDisk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endParaRPr lang="ko-KR" altLang="en-US" dirty="0">
                <a:solidFill>
                  <a:prstClr val="white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BFD504A6-40AC-B26B-6A77-26530271729A}"/>
                </a:ext>
              </a:extLst>
            </p:cNvPr>
            <p:cNvSpPr txBox="1"/>
            <p:nvPr/>
          </p:nvSpPr>
          <p:spPr>
            <a:xfrm>
              <a:off x="2477310" y="5743608"/>
              <a:ext cx="825867" cy="246221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latin typeface="+mn-ea"/>
                  <a:ea typeface="+mn-ea"/>
                </a:rPr>
                <a:t>운전 데이터</a:t>
              </a: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B7E941D1-6CEA-DBC9-8F30-C6ED214E1610}"/>
              </a:ext>
            </a:extLst>
          </p:cNvPr>
          <p:cNvGrpSpPr/>
          <p:nvPr/>
        </p:nvGrpSpPr>
        <p:grpSpPr>
          <a:xfrm>
            <a:off x="5659181" y="5886646"/>
            <a:ext cx="805440" cy="538696"/>
            <a:chOff x="3481903" y="5534748"/>
            <a:chExt cx="742737" cy="538696"/>
          </a:xfrm>
        </p:grpSpPr>
        <p:sp>
          <p:nvSpPr>
            <p:cNvPr id="8" name="순서도: 자기 디스크 7">
              <a:extLst>
                <a:ext uri="{FF2B5EF4-FFF2-40B4-BE49-F238E27FC236}">
                  <a16:creationId xmlns:a16="http://schemas.microsoft.com/office/drawing/2014/main" id="{1C491D54-B972-FAC6-D26F-44762F373EF8}"/>
                </a:ext>
              </a:extLst>
            </p:cNvPr>
            <p:cNvSpPr/>
            <p:nvPr/>
          </p:nvSpPr>
          <p:spPr>
            <a:xfrm>
              <a:off x="3481903" y="5534748"/>
              <a:ext cx="742737" cy="538696"/>
            </a:xfrm>
            <a:prstGeom prst="flowChartMagneticDisk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endParaRPr lang="ko-KR" altLang="en-US" dirty="0">
                <a:solidFill>
                  <a:prstClr val="white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B5A3A827-32EF-90E8-2A70-E316BB350752}"/>
                </a:ext>
              </a:extLst>
            </p:cNvPr>
            <p:cNvSpPr txBox="1"/>
            <p:nvPr/>
          </p:nvSpPr>
          <p:spPr>
            <a:xfrm>
              <a:off x="3648302" y="5743207"/>
              <a:ext cx="441146" cy="246221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latin typeface="+mn-ea"/>
                  <a:ea typeface="+mn-ea"/>
                </a:rPr>
                <a:t>품질</a:t>
              </a: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A024BB2D-8565-FF76-2A13-3D5CB040CFD3}"/>
              </a:ext>
            </a:extLst>
          </p:cNvPr>
          <p:cNvGrpSpPr/>
          <p:nvPr/>
        </p:nvGrpSpPr>
        <p:grpSpPr>
          <a:xfrm>
            <a:off x="7024172" y="5892722"/>
            <a:ext cx="809148" cy="538696"/>
            <a:chOff x="4714022" y="5540824"/>
            <a:chExt cx="746156" cy="538696"/>
          </a:xfrm>
        </p:grpSpPr>
        <p:sp>
          <p:nvSpPr>
            <p:cNvPr id="14" name="순서도: 자기 디스크 13">
              <a:extLst>
                <a:ext uri="{FF2B5EF4-FFF2-40B4-BE49-F238E27FC236}">
                  <a16:creationId xmlns:a16="http://schemas.microsoft.com/office/drawing/2014/main" id="{3A96FD7C-C293-52B3-6CA1-F9C88073464A}"/>
                </a:ext>
              </a:extLst>
            </p:cNvPr>
            <p:cNvSpPr/>
            <p:nvPr/>
          </p:nvSpPr>
          <p:spPr>
            <a:xfrm>
              <a:off x="4714022" y="5540824"/>
              <a:ext cx="742737" cy="538696"/>
            </a:xfrm>
            <a:prstGeom prst="flowChartMagneticDisk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endParaRPr lang="ko-KR" altLang="en-US" dirty="0">
                <a:solidFill>
                  <a:prstClr val="white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49DE9820-20A6-BB13-08E6-05B3F54A37BE}"/>
                </a:ext>
              </a:extLst>
            </p:cNvPr>
            <p:cNvSpPr txBox="1"/>
            <p:nvPr/>
          </p:nvSpPr>
          <p:spPr>
            <a:xfrm>
              <a:off x="4717667" y="5745944"/>
              <a:ext cx="742511" cy="246221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latin typeface="+mn-ea"/>
                  <a:ea typeface="+mn-ea"/>
                </a:rPr>
                <a:t>설비 이력</a:t>
              </a: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7C95A79B-A732-1E86-3E67-0B81BC0DFA28}"/>
              </a:ext>
            </a:extLst>
          </p:cNvPr>
          <p:cNvGrpSpPr/>
          <p:nvPr/>
        </p:nvGrpSpPr>
        <p:grpSpPr>
          <a:xfrm>
            <a:off x="3794259" y="4811438"/>
            <a:ext cx="742737" cy="539860"/>
            <a:chOff x="6454142" y="5520816"/>
            <a:chExt cx="742737" cy="539860"/>
          </a:xfrm>
        </p:grpSpPr>
        <p:sp>
          <p:nvSpPr>
            <p:cNvPr id="16" name="순서도: 자기 디스크 15">
              <a:extLst>
                <a:ext uri="{FF2B5EF4-FFF2-40B4-BE49-F238E27FC236}">
                  <a16:creationId xmlns:a16="http://schemas.microsoft.com/office/drawing/2014/main" id="{1118E9DE-9314-FB5E-B1DA-A28588812208}"/>
                </a:ext>
              </a:extLst>
            </p:cNvPr>
            <p:cNvSpPr/>
            <p:nvPr/>
          </p:nvSpPr>
          <p:spPr>
            <a:xfrm>
              <a:off x="6454142" y="5520816"/>
              <a:ext cx="742737" cy="538696"/>
            </a:xfrm>
            <a:prstGeom prst="flowChartMagneticDisk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endParaRPr lang="ko-KR" altLang="en-US" dirty="0">
                <a:solidFill>
                  <a:prstClr val="white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D7326BC0-8E95-D736-93FF-882212DDFF93}"/>
                </a:ext>
              </a:extLst>
            </p:cNvPr>
            <p:cNvSpPr txBox="1"/>
            <p:nvPr/>
          </p:nvSpPr>
          <p:spPr>
            <a:xfrm>
              <a:off x="6499252" y="5660566"/>
              <a:ext cx="697627" cy="40011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latin typeface="+mn-ea"/>
                  <a:ea typeface="+mn-ea"/>
                </a:rPr>
                <a:t>온톨로지</a:t>
              </a:r>
              <a:endParaRPr lang="en-US" altLang="ko-KR" sz="1000" dirty="0">
                <a:latin typeface="+mn-ea"/>
                <a:ea typeface="+mn-ea"/>
              </a:endParaRPr>
            </a:p>
            <a:p>
              <a:pPr algn="ctr"/>
              <a:r>
                <a:rPr lang="en-US" altLang="ko-KR" sz="1000" dirty="0">
                  <a:latin typeface="+mn-ea"/>
                  <a:ea typeface="+mn-ea"/>
                </a:rPr>
                <a:t>DB</a:t>
              </a:r>
              <a:endParaRPr lang="ko-KR" altLang="en-US" sz="1000" dirty="0">
                <a:latin typeface="+mn-ea"/>
                <a:ea typeface="+mn-ea"/>
              </a:endParaRPr>
            </a:p>
          </p:txBody>
        </p:sp>
      </p:grp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A0CC5D52-D8F2-F0F2-E0CA-261BC5407CA0}"/>
              </a:ext>
            </a:extLst>
          </p:cNvPr>
          <p:cNvSpPr/>
          <p:nvPr/>
        </p:nvSpPr>
        <p:spPr>
          <a:xfrm>
            <a:off x="5981340" y="2219334"/>
            <a:ext cx="1440159" cy="281344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">
            <a:solidFill>
              <a:schemeClr val="tx2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70C55B55-84BD-0C8A-7D08-7FFE7549D714}"/>
              </a:ext>
            </a:extLst>
          </p:cNvPr>
          <p:cNvSpPr/>
          <p:nvPr/>
        </p:nvSpPr>
        <p:spPr>
          <a:xfrm>
            <a:off x="5981340" y="3823177"/>
            <a:ext cx="1440158" cy="281344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">
            <a:solidFill>
              <a:schemeClr val="tx2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61DC779-AFFD-4DCA-1EF2-0FC0E6F3F47E}"/>
              </a:ext>
            </a:extLst>
          </p:cNvPr>
          <p:cNvSpPr txBox="1"/>
          <p:nvPr/>
        </p:nvSpPr>
        <p:spPr>
          <a:xfrm>
            <a:off x="6091299" y="2239342"/>
            <a:ext cx="1221808" cy="26161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b="0" dirty="0">
                <a:latin typeface="+mn-ea"/>
                <a:ea typeface="+mn-ea"/>
              </a:rPr>
              <a:t>자동분석 </a:t>
            </a:r>
            <a:r>
              <a:rPr lang="ko-KR" altLang="en-US" sz="1100" b="0" dirty="0" err="1">
                <a:latin typeface="+mn-ea"/>
                <a:ea typeface="+mn-ea"/>
              </a:rPr>
              <a:t>생성기</a:t>
            </a:r>
            <a:endParaRPr lang="ko-KR" altLang="en-US" sz="1100" b="0" dirty="0">
              <a:latin typeface="+mn-ea"/>
              <a:ea typeface="+mn-ea"/>
            </a:endParaRPr>
          </a:p>
        </p:txBody>
      </p: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C151D284-D1BF-7F43-004C-C6BF7AB4A0E7}"/>
              </a:ext>
            </a:extLst>
          </p:cNvPr>
          <p:cNvCxnSpPr>
            <a:cxnSpLocks/>
            <a:stCxn id="52" idx="2"/>
            <a:endCxn id="45" idx="0"/>
          </p:cNvCxnSpPr>
          <p:nvPr/>
        </p:nvCxnSpPr>
        <p:spPr>
          <a:xfrm flipH="1">
            <a:off x="6701418" y="2500678"/>
            <a:ext cx="2" cy="2952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28825F7E-0E8D-F3C3-7FD4-9B8C25A71CE8}"/>
              </a:ext>
            </a:extLst>
          </p:cNvPr>
          <p:cNvCxnSpPr>
            <a:cxnSpLocks/>
            <a:stCxn id="45" idx="2"/>
            <a:endCxn id="53" idx="0"/>
          </p:cNvCxnSpPr>
          <p:nvPr/>
        </p:nvCxnSpPr>
        <p:spPr>
          <a:xfrm>
            <a:off x="6701418" y="3577528"/>
            <a:ext cx="1" cy="245649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96AEF4D1-79CA-1859-25CB-4D3370A41DD5}"/>
              </a:ext>
            </a:extLst>
          </p:cNvPr>
          <p:cNvSpPr txBox="1"/>
          <p:nvPr/>
        </p:nvSpPr>
        <p:spPr>
          <a:xfrm>
            <a:off x="6182945" y="3825097"/>
            <a:ext cx="1040670" cy="26161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b="0" dirty="0">
                <a:latin typeface="+mn-ea"/>
                <a:ea typeface="+mn-ea"/>
              </a:rPr>
              <a:t>데이터 </a:t>
            </a:r>
            <a:r>
              <a:rPr lang="en-US" altLang="ko-KR" sz="1100" b="0" dirty="0">
                <a:latin typeface="+mn-ea"/>
                <a:ea typeface="+mn-ea"/>
              </a:rPr>
              <a:t>Agent</a:t>
            </a:r>
            <a:endParaRPr lang="ko-KR" altLang="en-US" sz="1100" b="0" dirty="0">
              <a:latin typeface="+mn-ea"/>
              <a:ea typeface="+mn-ea"/>
            </a:endParaRPr>
          </a:p>
        </p:txBody>
      </p: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2CADA812-D978-54A1-81D4-0E9B3582A299}"/>
              </a:ext>
            </a:extLst>
          </p:cNvPr>
          <p:cNvCxnSpPr>
            <a:cxnSpLocks/>
          </p:cNvCxnSpPr>
          <p:nvPr/>
        </p:nvCxnSpPr>
        <p:spPr>
          <a:xfrm>
            <a:off x="4584140" y="2441147"/>
            <a:ext cx="1181922" cy="9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5" name="그림 104" descr="스크린샷, 도표, 라인이(가) 표시된 사진">
            <a:extLst>
              <a:ext uri="{FF2B5EF4-FFF2-40B4-BE49-F238E27FC236}">
                <a16:creationId xmlns:a16="http://schemas.microsoft.com/office/drawing/2014/main" id="{50547564-13F8-420C-0D27-20EEBBA849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7040" y="3727139"/>
            <a:ext cx="647928" cy="430040"/>
          </a:xfrm>
          <a:prstGeom prst="rect">
            <a:avLst/>
          </a:prstGeom>
          <a:ln>
            <a:solidFill>
              <a:schemeClr val="tx2">
                <a:lumMod val="40000"/>
                <a:lumOff val="6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1" name="그림 110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A0D4EE9-AA67-D9F3-630C-3496C769FDD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33391" y="2845657"/>
            <a:ext cx="601588" cy="400110"/>
          </a:xfrm>
          <a:prstGeom prst="rect">
            <a:avLst/>
          </a:prstGeom>
          <a:ln>
            <a:solidFill>
              <a:schemeClr val="tx2">
                <a:lumMod val="40000"/>
                <a:lumOff val="60000"/>
              </a:schemeClr>
            </a:solidFill>
          </a:ln>
        </p:spPr>
      </p:pic>
      <p:sp>
        <p:nvSpPr>
          <p:cNvPr id="115" name="TextBox 114">
            <a:extLst>
              <a:ext uri="{FF2B5EF4-FFF2-40B4-BE49-F238E27FC236}">
                <a16:creationId xmlns:a16="http://schemas.microsoft.com/office/drawing/2014/main" id="{4F89F4F5-ED0D-96CA-04A0-87C54204EB45}"/>
              </a:ext>
            </a:extLst>
          </p:cNvPr>
          <p:cNvSpPr txBox="1"/>
          <p:nvPr/>
        </p:nvSpPr>
        <p:spPr>
          <a:xfrm>
            <a:off x="1847978" y="3428834"/>
            <a:ext cx="569387" cy="24622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답변서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4387501F-FE0C-91B5-7804-3CC222631A0E}"/>
              </a:ext>
            </a:extLst>
          </p:cNvPr>
          <p:cNvSpPr txBox="1"/>
          <p:nvPr/>
        </p:nvSpPr>
        <p:spPr>
          <a:xfrm>
            <a:off x="1797326" y="4194356"/>
            <a:ext cx="697627" cy="24622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분석파일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E73BEF9F-4206-C6E8-EFB1-047BDCAA9C7C}"/>
              </a:ext>
            </a:extLst>
          </p:cNvPr>
          <p:cNvSpPr txBox="1"/>
          <p:nvPr/>
        </p:nvSpPr>
        <p:spPr>
          <a:xfrm>
            <a:off x="5117713" y="3265768"/>
            <a:ext cx="631904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ko-KR" altLang="en-US" sz="800" dirty="0">
                <a:latin typeface="+mn-ea"/>
                <a:ea typeface="+mn-ea"/>
              </a:rPr>
              <a:t>자동</a:t>
            </a:r>
            <a:r>
              <a:rPr lang="en-US" altLang="ko-KR" sz="800" dirty="0">
                <a:latin typeface="+mn-ea"/>
                <a:ea typeface="+mn-ea"/>
              </a:rPr>
              <a:t> </a:t>
            </a:r>
            <a:r>
              <a:rPr lang="ko-KR" altLang="en-US" sz="800" dirty="0">
                <a:latin typeface="+mn-ea"/>
                <a:ea typeface="+mn-ea"/>
              </a:rPr>
              <a:t>분석</a:t>
            </a:r>
            <a:endParaRPr lang="en-US" altLang="ko-KR" sz="800" dirty="0">
              <a:latin typeface="+mn-ea"/>
              <a:ea typeface="+mn-ea"/>
            </a:endParaRPr>
          </a:p>
          <a:p>
            <a:pPr algn="ctr"/>
            <a:r>
              <a:rPr lang="ko-KR" altLang="en-US" sz="800" dirty="0">
                <a:latin typeface="+mn-ea"/>
                <a:ea typeface="+mn-ea"/>
              </a:rPr>
              <a:t>보고서</a:t>
            </a:r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2BAB1FC2-83E5-96B3-C148-60A2A704E626}"/>
              </a:ext>
            </a:extLst>
          </p:cNvPr>
          <p:cNvSpPr/>
          <p:nvPr/>
        </p:nvSpPr>
        <p:spPr>
          <a:xfrm>
            <a:off x="3546706" y="1846372"/>
            <a:ext cx="1264256" cy="2861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r>
              <a:rPr lang="en-US" altLang="ko-KR" sz="1200" dirty="0" err="1">
                <a:solidFill>
                  <a:schemeClr val="tx1"/>
                </a:solidFill>
                <a:latin typeface="맑은 고딕"/>
                <a:ea typeface="맑은 고딕"/>
              </a:rPr>
              <a:t>sLLM</a:t>
            </a:r>
            <a:r>
              <a:rPr lang="en-US" altLang="ko-KR" sz="1200" dirty="0">
                <a:solidFill>
                  <a:schemeClr val="tx1"/>
                </a:solidFill>
                <a:latin typeface="맑은 고딕"/>
                <a:ea typeface="맑은 고딕"/>
              </a:rPr>
              <a:t> w/RAG</a:t>
            </a:r>
            <a:endParaRPr lang="ko-KR" altLang="en-US" sz="1200" dirty="0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4BA020FB-E7CA-DF4D-3DEE-9185DEAA3986}"/>
              </a:ext>
            </a:extLst>
          </p:cNvPr>
          <p:cNvSpPr/>
          <p:nvPr/>
        </p:nvSpPr>
        <p:spPr>
          <a:xfrm>
            <a:off x="6054621" y="1819568"/>
            <a:ext cx="1264256" cy="2861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r>
              <a:rPr lang="ko-KR" altLang="en-US" sz="1200" dirty="0">
                <a:solidFill>
                  <a:schemeClr val="tx1"/>
                </a:solidFill>
                <a:latin typeface="맑은 고딕"/>
                <a:ea typeface="맑은 고딕"/>
              </a:rPr>
              <a:t>자동분석시스템</a:t>
            </a:r>
          </a:p>
        </p:txBody>
      </p:sp>
      <p:cxnSp>
        <p:nvCxnSpPr>
          <p:cNvPr id="132" name="연결선: 꺾임 131">
            <a:extLst>
              <a:ext uri="{FF2B5EF4-FFF2-40B4-BE49-F238E27FC236}">
                <a16:creationId xmlns:a16="http://schemas.microsoft.com/office/drawing/2014/main" id="{AFD60FA2-A064-675A-7DA1-E999227443D7}"/>
              </a:ext>
            </a:extLst>
          </p:cNvPr>
          <p:cNvCxnSpPr/>
          <p:nvPr/>
        </p:nvCxnSpPr>
        <p:spPr>
          <a:xfrm rot="10800000" flipV="1">
            <a:off x="4323764" y="2725230"/>
            <a:ext cx="1442298" cy="659122"/>
          </a:xfrm>
          <a:prstGeom prst="bentConnector3">
            <a:avLst>
              <a:gd name="adj1" fmla="val 99756"/>
            </a:avLst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E9BBED05-3130-120E-F54D-39A4ACEDA181}"/>
              </a:ext>
            </a:extLst>
          </p:cNvPr>
          <p:cNvSpPr txBox="1"/>
          <p:nvPr/>
        </p:nvSpPr>
        <p:spPr>
          <a:xfrm>
            <a:off x="6202325" y="2748809"/>
            <a:ext cx="10397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 err="1">
                <a:latin typeface="+mn-ea"/>
                <a:ea typeface="+mn-ea"/>
              </a:rPr>
              <a:t>ECMiner</a:t>
            </a:r>
            <a:r>
              <a:rPr lang="en-US" altLang="ko-KR" sz="1200" dirty="0">
                <a:latin typeface="+mn-ea"/>
                <a:ea typeface="+mn-ea"/>
              </a:rPr>
              <a:t>™</a:t>
            </a:r>
            <a:endParaRPr lang="ko-KR" altLang="en-US" sz="1200" dirty="0">
              <a:latin typeface="+mn-ea"/>
              <a:ea typeface="+mn-ea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E539136-F41D-8334-5DC7-523773C67A0C}"/>
              </a:ext>
            </a:extLst>
          </p:cNvPr>
          <p:cNvSpPr/>
          <p:nvPr/>
        </p:nvSpPr>
        <p:spPr>
          <a:xfrm>
            <a:off x="1643437" y="6008093"/>
            <a:ext cx="1129871" cy="19528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r>
              <a:rPr lang="ko-KR" altLang="en-US" sz="1200" dirty="0">
                <a:solidFill>
                  <a:schemeClr val="tx1"/>
                </a:solidFill>
                <a:latin typeface="맑은 고딕"/>
                <a:ea typeface="맑은 고딕"/>
              </a:rPr>
              <a:t>원천 데이터</a:t>
            </a: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146728BC-CA39-BDAF-3A6E-FEC02F8D66B0}"/>
              </a:ext>
            </a:extLst>
          </p:cNvPr>
          <p:cNvGrpSpPr/>
          <p:nvPr/>
        </p:nvGrpSpPr>
        <p:grpSpPr>
          <a:xfrm>
            <a:off x="4953000" y="4805816"/>
            <a:ext cx="859488" cy="573643"/>
            <a:chOff x="5430768" y="4809446"/>
            <a:chExt cx="859488" cy="573643"/>
          </a:xfrm>
        </p:grpSpPr>
        <p:sp>
          <p:nvSpPr>
            <p:cNvPr id="38" name="순서도: 자기 디스크 37">
              <a:extLst>
                <a:ext uri="{FF2B5EF4-FFF2-40B4-BE49-F238E27FC236}">
                  <a16:creationId xmlns:a16="http://schemas.microsoft.com/office/drawing/2014/main" id="{2A15407D-712E-4CA6-1F21-6701A549B9C0}"/>
                </a:ext>
              </a:extLst>
            </p:cNvPr>
            <p:cNvSpPr/>
            <p:nvPr/>
          </p:nvSpPr>
          <p:spPr>
            <a:xfrm>
              <a:off x="5472854" y="4809446"/>
              <a:ext cx="742737" cy="538696"/>
            </a:xfrm>
            <a:prstGeom prst="flowChartMagneticDisk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endParaRPr lang="ko-KR" altLang="en-US" dirty="0">
                <a:solidFill>
                  <a:prstClr val="white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1C4B850-8AF8-C66E-CAFE-E92969A46085}"/>
                </a:ext>
              </a:extLst>
            </p:cNvPr>
            <p:cNvSpPr txBox="1"/>
            <p:nvPr/>
          </p:nvSpPr>
          <p:spPr>
            <a:xfrm>
              <a:off x="5430768" y="4982979"/>
              <a:ext cx="859488" cy="40011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latin typeface="+mn-ea"/>
                  <a:ea typeface="+mn-ea"/>
                </a:rPr>
                <a:t>메타</a:t>
              </a:r>
              <a:endParaRPr lang="en-US" altLang="ko-KR" sz="1000" dirty="0">
                <a:latin typeface="+mn-ea"/>
                <a:ea typeface="+mn-ea"/>
              </a:endParaRPr>
            </a:p>
            <a:p>
              <a:pPr algn="ctr"/>
              <a:r>
                <a:rPr lang="ko-KR" altLang="en-US" sz="1000" dirty="0">
                  <a:latin typeface="+mn-ea"/>
                  <a:ea typeface="+mn-ea"/>
                </a:rPr>
                <a:t>데이터</a:t>
              </a:r>
            </a:p>
          </p:txBody>
        </p:sp>
      </p:grpSp>
      <p:cxnSp>
        <p:nvCxnSpPr>
          <p:cNvPr id="51" name="연결선: 꺾임 50">
            <a:extLst>
              <a:ext uri="{FF2B5EF4-FFF2-40B4-BE49-F238E27FC236}">
                <a16:creationId xmlns:a16="http://schemas.microsoft.com/office/drawing/2014/main" id="{571C2FF8-9E77-9066-B5DA-565004ACF47E}"/>
              </a:ext>
            </a:extLst>
          </p:cNvPr>
          <p:cNvCxnSpPr>
            <a:cxnSpLocks/>
            <a:stCxn id="14" idx="1"/>
            <a:endCxn id="81" idx="2"/>
          </p:cNvCxnSpPr>
          <p:nvPr/>
        </p:nvCxnSpPr>
        <p:spPr>
          <a:xfrm rot="16200000" flipV="1">
            <a:off x="6088605" y="4554435"/>
            <a:ext cx="488049" cy="218852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25E3F583-B98A-A5CC-3581-0A494C23A4C6}"/>
              </a:ext>
            </a:extLst>
          </p:cNvPr>
          <p:cNvGrpSpPr/>
          <p:nvPr/>
        </p:nvGrpSpPr>
        <p:grpSpPr>
          <a:xfrm>
            <a:off x="3008784" y="5868207"/>
            <a:ext cx="895588" cy="538696"/>
            <a:chOff x="2467152" y="5534748"/>
            <a:chExt cx="825867" cy="538696"/>
          </a:xfrm>
        </p:grpSpPr>
        <p:sp>
          <p:nvSpPr>
            <p:cNvPr id="70" name="순서도: 자기 디스크 69">
              <a:extLst>
                <a:ext uri="{FF2B5EF4-FFF2-40B4-BE49-F238E27FC236}">
                  <a16:creationId xmlns:a16="http://schemas.microsoft.com/office/drawing/2014/main" id="{4919E219-BC3E-1B04-0C18-BCB195176E87}"/>
                </a:ext>
              </a:extLst>
            </p:cNvPr>
            <p:cNvSpPr/>
            <p:nvPr/>
          </p:nvSpPr>
          <p:spPr>
            <a:xfrm>
              <a:off x="2504334" y="5534748"/>
              <a:ext cx="742737" cy="538696"/>
            </a:xfrm>
            <a:prstGeom prst="flowChartMagneticDisk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endParaRPr lang="ko-KR" altLang="en-US" dirty="0">
                <a:solidFill>
                  <a:prstClr val="white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007B3B84-E914-6ADA-A264-6C838BBC679D}"/>
                </a:ext>
              </a:extLst>
            </p:cNvPr>
            <p:cNvSpPr txBox="1"/>
            <p:nvPr/>
          </p:nvSpPr>
          <p:spPr>
            <a:xfrm>
              <a:off x="2467152" y="5721576"/>
              <a:ext cx="825867" cy="246221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latin typeface="+mn-ea"/>
                  <a:ea typeface="+mn-ea"/>
                </a:rPr>
                <a:t>설비 문서</a:t>
              </a:r>
            </a:p>
          </p:txBody>
        </p:sp>
      </p:grp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FB2BB099-3754-4362-E675-2CA7EE9663C4}"/>
              </a:ext>
            </a:extLst>
          </p:cNvPr>
          <p:cNvGrpSpPr/>
          <p:nvPr/>
        </p:nvGrpSpPr>
        <p:grpSpPr>
          <a:xfrm>
            <a:off x="6056088" y="4805816"/>
            <a:ext cx="859488" cy="573643"/>
            <a:chOff x="5430768" y="4809446"/>
            <a:chExt cx="859488" cy="573643"/>
          </a:xfrm>
        </p:grpSpPr>
        <p:sp>
          <p:nvSpPr>
            <p:cNvPr id="78" name="순서도: 자기 디스크 77">
              <a:extLst>
                <a:ext uri="{FF2B5EF4-FFF2-40B4-BE49-F238E27FC236}">
                  <a16:creationId xmlns:a16="http://schemas.microsoft.com/office/drawing/2014/main" id="{DB05CA66-303C-8273-3ACF-ED6501CDCA98}"/>
                </a:ext>
              </a:extLst>
            </p:cNvPr>
            <p:cNvSpPr/>
            <p:nvPr/>
          </p:nvSpPr>
          <p:spPr>
            <a:xfrm>
              <a:off x="5472854" y="4809446"/>
              <a:ext cx="742737" cy="538696"/>
            </a:xfrm>
            <a:prstGeom prst="flowChartMagneticDisk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endParaRPr lang="ko-KR" altLang="en-US" dirty="0">
                <a:solidFill>
                  <a:prstClr val="white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9C1BC779-9A71-F29C-DF00-52FF3E8373FA}"/>
                </a:ext>
              </a:extLst>
            </p:cNvPr>
            <p:cNvSpPr txBox="1"/>
            <p:nvPr/>
          </p:nvSpPr>
          <p:spPr>
            <a:xfrm>
              <a:off x="5430768" y="4982979"/>
              <a:ext cx="859488" cy="40011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latin typeface="+mn-ea"/>
                  <a:ea typeface="+mn-ea"/>
                </a:rPr>
                <a:t>분석용</a:t>
              </a:r>
              <a:endParaRPr lang="en-US" altLang="ko-KR" sz="1000" dirty="0">
                <a:latin typeface="+mn-ea"/>
                <a:ea typeface="+mn-ea"/>
              </a:endParaRPr>
            </a:p>
            <a:p>
              <a:pPr algn="ctr"/>
              <a:r>
                <a:rPr lang="ko-KR" altLang="en-US" sz="1000" dirty="0">
                  <a:latin typeface="+mn-ea"/>
                  <a:ea typeface="+mn-ea"/>
                </a:rPr>
                <a:t>데이터</a:t>
              </a:r>
            </a:p>
          </p:txBody>
        </p:sp>
      </p:grpSp>
      <p:cxnSp>
        <p:nvCxnSpPr>
          <p:cNvPr id="86" name="연결선: 꺾임 85">
            <a:extLst>
              <a:ext uri="{FF2B5EF4-FFF2-40B4-BE49-F238E27FC236}">
                <a16:creationId xmlns:a16="http://schemas.microsoft.com/office/drawing/2014/main" id="{5238945F-C5C0-9FA9-BCAA-806FA4D1B817}"/>
              </a:ext>
            </a:extLst>
          </p:cNvPr>
          <p:cNvCxnSpPr>
            <a:cxnSpLocks/>
            <a:stCxn id="70" idx="1"/>
            <a:endCxn id="81" idx="2"/>
          </p:cNvCxnSpPr>
          <p:nvPr/>
        </p:nvCxnSpPr>
        <p:spPr>
          <a:xfrm rot="5400000" flipH="1" flipV="1">
            <a:off x="4113328" y="4743170"/>
            <a:ext cx="463534" cy="178654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화살표 연결선 88">
            <a:extLst>
              <a:ext uri="{FF2B5EF4-FFF2-40B4-BE49-F238E27FC236}">
                <a16:creationId xmlns:a16="http://schemas.microsoft.com/office/drawing/2014/main" id="{4140FEC8-4600-1E1E-1809-CDACA9C3BD39}"/>
              </a:ext>
            </a:extLst>
          </p:cNvPr>
          <p:cNvCxnSpPr>
            <a:cxnSpLocks/>
          </p:cNvCxnSpPr>
          <p:nvPr/>
        </p:nvCxnSpPr>
        <p:spPr>
          <a:xfrm>
            <a:off x="7242105" y="4104521"/>
            <a:ext cx="0" cy="14963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화살표 연결선 102">
            <a:extLst>
              <a:ext uri="{FF2B5EF4-FFF2-40B4-BE49-F238E27FC236}">
                <a16:creationId xmlns:a16="http://schemas.microsoft.com/office/drawing/2014/main" id="{62E09250-CA5A-93F5-6707-A9829F375DB8}"/>
              </a:ext>
            </a:extLst>
          </p:cNvPr>
          <p:cNvCxnSpPr>
            <a:cxnSpLocks/>
            <a:stCxn id="16" idx="1"/>
            <a:endCxn id="40" idx="2"/>
          </p:cNvCxnSpPr>
          <p:nvPr/>
        </p:nvCxnSpPr>
        <p:spPr>
          <a:xfrm flipH="1" flipV="1">
            <a:off x="4164157" y="4236105"/>
            <a:ext cx="1471" cy="57533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화살표 연결선 106">
            <a:extLst>
              <a:ext uri="{FF2B5EF4-FFF2-40B4-BE49-F238E27FC236}">
                <a16:creationId xmlns:a16="http://schemas.microsoft.com/office/drawing/2014/main" id="{7DFB1A6E-8587-0720-A570-F82D2B58D0FD}"/>
              </a:ext>
            </a:extLst>
          </p:cNvPr>
          <p:cNvCxnSpPr>
            <a:cxnSpLocks/>
          </p:cNvCxnSpPr>
          <p:nvPr/>
        </p:nvCxnSpPr>
        <p:spPr>
          <a:xfrm>
            <a:off x="6393160" y="4104521"/>
            <a:ext cx="0" cy="59595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직선 화살표 연결선 109">
            <a:extLst>
              <a:ext uri="{FF2B5EF4-FFF2-40B4-BE49-F238E27FC236}">
                <a16:creationId xmlns:a16="http://schemas.microsoft.com/office/drawing/2014/main" id="{98308124-2562-AE4E-BD2C-1DC58A092E9F}"/>
              </a:ext>
            </a:extLst>
          </p:cNvPr>
          <p:cNvCxnSpPr>
            <a:cxnSpLocks/>
            <a:stCxn id="16" idx="4"/>
            <a:endCxn id="38" idx="2"/>
          </p:cNvCxnSpPr>
          <p:nvPr/>
        </p:nvCxnSpPr>
        <p:spPr>
          <a:xfrm flipV="1">
            <a:off x="4536996" y="5075164"/>
            <a:ext cx="458090" cy="562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직선 화살표 연결선 113">
            <a:extLst>
              <a:ext uri="{FF2B5EF4-FFF2-40B4-BE49-F238E27FC236}">
                <a16:creationId xmlns:a16="http://schemas.microsoft.com/office/drawing/2014/main" id="{D5B31ECB-E991-850E-4F86-C926E446AE2E}"/>
              </a:ext>
            </a:extLst>
          </p:cNvPr>
          <p:cNvCxnSpPr>
            <a:stCxn id="38" idx="4"/>
          </p:cNvCxnSpPr>
          <p:nvPr/>
        </p:nvCxnSpPr>
        <p:spPr>
          <a:xfrm>
            <a:off x="5737823" y="5075164"/>
            <a:ext cx="353476" cy="562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D675CB81-84D0-617D-84E9-2F71D9306B4E}"/>
              </a:ext>
            </a:extLst>
          </p:cNvPr>
          <p:cNvSpPr/>
          <p:nvPr/>
        </p:nvSpPr>
        <p:spPr bwMode="auto">
          <a:xfrm>
            <a:off x="5088577" y="1715802"/>
            <a:ext cx="2662801" cy="2807969"/>
          </a:xfrm>
          <a:prstGeom prst="rect">
            <a:avLst/>
          </a:prstGeom>
          <a:noFill/>
          <a:ln w="38100">
            <a:solidFill>
              <a:srgbClr val="C00000"/>
            </a:solidFill>
            <a:prstDash val="sysDot"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en-US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18C81D8-AD15-FCCC-9A45-69F2A3981E56}"/>
              </a:ext>
            </a:extLst>
          </p:cNvPr>
          <p:cNvSpPr/>
          <p:nvPr/>
        </p:nvSpPr>
        <p:spPr>
          <a:xfrm>
            <a:off x="7482996" y="4874204"/>
            <a:ext cx="1195817" cy="37469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r>
              <a:rPr lang="en-US" altLang="ko-KR" sz="1200" dirty="0">
                <a:solidFill>
                  <a:schemeClr val="tx1"/>
                </a:solidFill>
                <a:latin typeface="맑은 고딕"/>
                <a:ea typeface="맑은 고딕"/>
              </a:rPr>
              <a:t>AIDA:</a:t>
            </a:r>
          </a:p>
          <a:p>
            <a:pPr algn="ctr" defTabSz="911896"/>
            <a:r>
              <a:rPr lang="en-US" altLang="ko-KR" sz="1200" dirty="0">
                <a:solidFill>
                  <a:schemeClr val="tx1"/>
                </a:solidFill>
                <a:latin typeface="맑은 고딕"/>
                <a:ea typeface="맑은 고딕"/>
              </a:rPr>
              <a:t>Ontology</a:t>
            </a:r>
            <a:endParaRPr lang="ko-KR" altLang="en-US" sz="1200" dirty="0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D10F95D9-98AC-E286-FEC0-93B468880C73}"/>
              </a:ext>
            </a:extLst>
          </p:cNvPr>
          <p:cNvSpPr/>
          <p:nvPr/>
        </p:nvSpPr>
        <p:spPr bwMode="auto">
          <a:xfrm>
            <a:off x="7263607" y="2106984"/>
            <a:ext cx="326571" cy="32657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5BD32BDF-8065-D2F2-C677-EAE472232AA5}"/>
              </a:ext>
            </a:extLst>
          </p:cNvPr>
          <p:cNvSpPr/>
          <p:nvPr/>
        </p:nvSpPr>
        <p:spPr bwMode="auto">
          <a:xfrm>
            <a:off x="7183062" y="3690595"/>
            <a:ext cx="326571" cy="32657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3393FB82-85CE-3E71-EEB3-B51BA7C1EC62}"/>
              </a:ext>
            </a:extLst>
          </p:cNvPr>
          <p:cNvSpPr/>
          <p:nvPr/>
        </p:nvSpPr>
        <p:spPr bwMode="auto">
          <a:xfrm>
            <a:off x="7149821" y="2691221"/>
            <a:ext cx="326571" cy="32657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400466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9D7FD-4C12-C7AD-D503-3E82C8BFB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직사각형 80">
            <a:extLst>
              <a:ext uri="{FF2B5EF4-FFF2-40B4-BE49-F238E27FC236}">
                <a16:creationId xmlns:a16="http://schemas.microsoft.com/office/drawing/2014/main" id="{B37344E5-E1D3-F7AC-BCF1-F962E82104EB}"/>
              </a:ext>
            </a:extLst>
          </p:cNvPr>
          <p:cNvSpPr/>
          <p:nvPr/>
        </p:nvSpPr>
        <p:spPr>
          <a:xfrm>
            <a:off x="3451826" y="4718427"/>
            <a:ext cx="3573080" cy="68624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0087307C-BDA7-3BF1-6BDF-E245B3173ED0}"/>
              </a:ext>
            </a:extLst>
          </p:cNvPr>
          <p:cNvSpPr/>
          <p:nvPr/>
        </p:nvSpPr>
        <p:spPr>
          <a:xfrm>
            <a:off x="3216828" y="1991262"/>
            <a:ext cx="1811876" cy="24482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880D2397-62FA-668D-CF05-394BF4B2D292}"/>
              </a:ext>
            </a:extLst>
          </p:cNvPr>
          <p:cNvSpPr/>
          <p:nvPr/>
        </p:nvSpPr>
        <p:spPr>
          <a:xfrm>
            <a:off x="5788151" y="1978137"/>
            <a:ext cx="1811876" cy="24482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94C46709-1E6B-5487-A8EA-578A8E1E7D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 err="1"/>
              <a:t>ECMinerAI</a:t>
            </a:r>
            <a:r>
              <a:rPr lang="en-US" altLang="ko-KR" dirty="0"/>
              <a:t>™ AIDA: </a:t>
            </a:r>
            <a:r>
              <a:rPr lang="ko-KR" altLang="en-US" dirty="0"/>
              <a:t>자동분석시스템</a:t>
            </a:r>
            <a:r>
              <a:rPr lang="en-US" altLang="ko-KR" dirty="0"/>
              <a:t>(2/2)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B99C92-A99B-3050-CBA0-A3EE1012E1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2309" y="979158"/>
            <a:ext cx="9482335" cy="708950"/>
          </a:xfrm>
        </p:spPr>
        <p:txBody>
          <a:bodyPr/>
          <a:lstStyle/>
          <a:p>
            <a:r>
              <a:rPr lang="en-US" altLang="ko-KR" dirty="0"/>
              <a:t>AIDA</a:t>
            </a:r>
            <a:r>
              <a:rPr lang="ko-KR" altLang="en-US" dirty="0"/>
              <a:t>의 자동분석시스템에서 수행된 분석을 기반으로 추가 분석이 필요한 경우</a:t>
            </a:r>
            <a:r>
              <a:rPr lang="en-US" altLang="ko-KR"/>
              <a:t>, </a:t>
            </a:r>
            <a:r>
              <a:rPr lang="ko-KR" altLang="en-US" b="1">
                <a:solidFill>
                  <a:srgbClr val="C00000"/>
                </a:solidFill>
              </a:rPr>
              <a:t>자동분석 생성기가 생성한 분석 절차를 담은 </a:t>
            </a:r>
            <a:r>
              <a:rPr lang="en-US" altLang="ko-KR" b="1">
                <a:solidFill>
                  <a:srgbClr val="C00000"/>
                </a:solidFill>
              </a:rPr>
              <a:t>ECM </a:t>
            </a:r>
            <a:r>
              <a:rPr lang="ko-KR" altLang="en-US" b="1">
                <a:solidFill>
                  <a:srgbClr val="C00000"/>
                </a:solidFill>
              </a:rPr>
              <a:t>프로젝트 파일을 제공</a:t>
            </a:r>
            <a:r>
              <a:rPr lang="ko-KR" altLang="en-US"/>
              <a:t>합니다</a:t>
            </a:r>
            <a:r>
              <a:rPr lang="en-US" altLang="ko-KR" dirty="0"/>
              <a:t>. </a:t>
            </a:r>
            <a:r>
              <a:rPr lang="ko-KR" altLang="en-US" dirty="0"/>
              <a:t>해당 파일은 </a:t>
            </a:r>
            <a:r>
              <a:rPr lang="en-US" altLang="ko-KR" dirty="0"/>
              <a:t>ECMiner™</a:t>
            </a:r>
            <a:r>
              <a:rPr lang="ko-KR" altLang="en-US" dirty="0"/>
              <a:t>에서 직접 실행 및 수정할 수 있습니다</a:t>
            </a:r>
            <a:r>
              <a:rPr lang="en-US" altLang="ko-KR" dirty="0"/>
              <a:t>.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044340DD-6FB4-D67A-18D5-C49680D45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+mn-ea"/>
              </a:rPr>
              <a:t>1. </a:t>
            </a:r>
            <a:r>
              <a:rPr lang="en-US" altLang="ko-KR" dirty="0" err="1">
                <a:solidFill>
                  <a:schemeClr val="bg1"/>
                </a:solidFill>
                <a:latin typeface="+mn-ea"/>
              </a:rPr>
              <a:t>ECMiner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™ AIDA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 개요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12EC3AC-9984-C2C8-DDC7-46781426BC7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26" name="그림 25" descr="만화 영화, 소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3714108-3E32-A628-CCE3-2E6CA4ABB2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519" y="2486708"/>
            <a:ext cx="877429" cy="1008109"/>
          </a:xfrm>
          <a:prstGeom prst="rect">
            <a:avLst/>
          </a:prstGeom>
        </p:spPr>
      </p:pic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09A467A4-3A22-A89E-E400-FA72A1DC8D91}"/>
              </a:ext>
            </a:extLst>
          </p:cNvPr>
          <p:cNvSpPr/>
          <p:nvPr/>
        </p:nvSpPr>
        <p:spPr>
          <a:xfrm>
            <a:off x="3728446" y="2363897"/>
            <a:ext cx="855694" cy="648072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r>
              <a:rPr lang="en-US" altLang="ko-KR" sz="240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맑은 고딕"/>
                <a:ea typeface="맑은 고딕"/>
              </a:rPr>
              <a:t>AI</a:t>
            </a:r>
            <a:endParaRPr lang="ko-KR" altLang="en-US" sz="240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맑은 고딕"/>
              <a:ea typeface="맑은 고딕"/>
            </a:endParaRPr>
          </a:p>
        </p:txBody>
      </p: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C845D71B-F7D4-CEDF-7FE2-E58BF055F12E}"/>
              </a:ext>
            </a:extLst>
          </p:cNvPr>
          <p:cNvGrpSpPr/>
          <p:nvPr/>
        </p:nvGrpSpPr>
        <p:grpSpPr>
          <a:xfrm>
            <a:off x="1818171" y="2485755"/>
            <a:ext cx="1910275" cy="296721"/>
            <a:chOff x="1568281" y="2844247"/>
            <a:chExt cx="1599323" cy="296721"/>
          </a:xfrm>
        </p:grpSpPr>
        <p:cxnSp>
          <p:nvCxnSpPr>
            <p:cNvPr id="32" name="직선 화살표 연결선 31">
              <a:extLst>
                <a:ext uri="{FF2B5EF4-FFF2-40B4-BE49-F238E27FC236}">
                  <a16:creationId xmlns:a16="http://schemas.microsoft.com/office/drawing/2014/main" id="{13D6AF58-3FC6-B5CC-6F50-A0EDC46D535C}"/>
                </a:ext>
              </a:extLst>
            </p:cNvPr>
            <p:cNvCxnSpPr>
              <a:cxnSpLocks/>
            </p:cNvCxnSpPr>
            <p:nvPr/>
          </p:nvCxnSpPr>
          <p:spPr>
            <a:xfrm>
              <a:off x="1568281" y="2844247"/>
              <a:ext cx="1599323" cy="95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화살표 연결선 33">
              <a:extLst>
                <a:ext uri="{FF2B5EF4-FFF2-40B4-BE49-F238E27FC236}">
                  <a16:creationId xmlns:a16="http://schemas.microsoft.com/office/drawing/2014/main" id="{DE42D041-D43E-8B7A-F734-526EE5862D3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68281" y="3140968"/>
              <a:ext cx="159932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6" name="그림 35" descr="도표, 디자인, 일렉트릭 블루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FA87849-3ACA-D744-A3DB-B1B9186969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9171" y="2901045"/>
            <a:ext cx="485576" cy="577259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1FC80453-B7B6-2FF2-1491-F0D36B7A267C}"/>
              </a:ext>
            </a:extLst>
          </p:cNvPr>
          <p:cNvSpPr txBox="1"/>
          <p:nvPr/>
        </p:nvSpPr>
        <p:spPr>
          <a:xfrm>
            <a:off x="2258897" y="2223239"/>
            <a:ext cx="441146" cy="24622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질의</a:t>
            </a:r>
          </a:p>
        </p:txBody>
      </p:sp>
      <p:pic>
        <p:nvPicPr>
          <p:cNvPr id="40" name="그림 39" descr="원, 도표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FAADC49-3052-D068-7615-2F80C0768A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0802" y="3401565"/>
            <a:ext cx="946709" cy="834540"/>
          </a:xfrm>
          <a:prstGeom prst="rect">
            <a:avLst/>
          </a:prstGeom>
          <a:ln>
            <a:solidFill>
              <a:schemeClr val="tx2">
                <a:lumMod val="40000"/>
                <a:lumOff val="60000"/>
              </a:schemeClr>
            </a:solidFill>
          </a:ln>
        </p:spPr>
      </p:pic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38D75B72-937D-DC20-FBA8-54A5FB443B73}"/>
              </a:ext>
            </a:extLst>
          </p:cNvPr>
          <p:cNvCxnSpPr>
            <a:cxnSpLocks/>
            <a:stCxn id="30" idx="2"/>
            <a:endCxn id="40" idx="0"/>
          </p:cNvCxnSpPr>
          <p:nvPr/>
        </p:nvCxnSpPr>
        <p:spPr>
          <a:xfrm>
            <a:off x="4156293" y="3011969"/>
            <a:ext cx="7864" cy="38959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그림 44" descr="텍스트, 스크린샷, 도표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9BA6CC-683F-2575-1342-F916BB7ECFE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4163"/>
          <a:stretch>
            <a:fillRect/>
          </a:stretch>
        </p:blipFill>
        <p:spPr>
          <a:xfrm>
            <a:off x="5981338" y="2795944"/>
            <a:ext cx="1440160" cy="781584"/>
          </a:xfrm>
          <a:prstGeom prst="rect">
            <a:avLst/>
          </a:prstGeom>
          <a:ln w="6350">
            <a:solidFill>
              <a:schemeClr val="tx2">
                <a:lumMod val="60000"/>
                <a:lumOff val="40000"/>
              </a:schemeClr>
            </a:solidFill>
          </a:ln>
        </p:spPr>
      </p:pic>
      <p:grpSp>
        <p:nvGrpSpPr>
          <p:cNvPr id="31" name="그룹 30">
            <a:extLst>
              <a:ext uri="{FF2B5EF4-FFF2-40B4-BE49-F238E27FC236}">
                <a16:creationId xmlns:a16="http://schemas.microsoft.com/office/drawing/2014/main" id="{79E33E97-70C1-6F16-15F4-366D512BAE1A}"/>
              </a:ext>
            </a:extLst>
          </p:cNvPr>
          <p:cNvGrpSpPr/>
          <p:nvPr/>
        </p:nvGrpSpPr>
        <p:grpSpPr>
          <a:xfrm>
            <a:off x="6567632" y="6120185"/>
            <a:ext cx="243677" cy="40038"/>
            <a:chOff x="4377982" y="5768287"/>
            <a:chExt cx="224707" cy="40038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85329B11-FFE1-F483-FD90-8110AAA92533}"/>
                </a:ext>
              </a:extLst>
            </p:cNvPr>
            <p:cNvSpPr/>
            <p:nvPr/>
          </p:nvSpPr>
          <p:spPr>
            <a:xfrm>
              <a:off x="4571251" y="5773585"/>
              <a:ext cx="31438" cy="34740"/>
            </a:xfrm>
            <a:prstGeom prst="ellipse">
              <a:avLst/>
            </a:prstGeom>
            <a:solidFill>
              <a:srgbClr val="1AA0CA"/>
            </a:solidFill>
            <a:ln>
              <a:noFill/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endParaRPr lang="ko-KR" altLang="en-US" dirty="0">
                <a:solidFill>
                  <a:prstClr val="white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3BA59F45-F7F0-D627-8099-B0447DAC1DE4}"/>
                </a:ext>
              </a:extLst>
            </p:cNvPr>
            <p:cNvSpPr/>
            <p:nvPr/>
          </p:nvSpPr>
          <p:spPr>
            <a:xfrm>
              <a:off x="4472220" y="5768287"/>
              <a:ext cx="31438" cy="34740"/>
            </a:xfrm>
            <a:prstGeom prst="ellipse">
              <a:avLst/>
            </a:prstGeom>
            <a:solidFill>
              <a:srgbClr val="1AA0CA"/>
            </a:solidFill>
            <a:ln>
              <a:noFill/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endParaRPr lang="ko-KR" altLang="en-US" dirty="0">
                <a:solidFill>
                  <a:prstClr val="white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3DDF62C2-C3DC-F2C0-4854-E03F1229328D}"/>
                </a:ext>
              </a:extLst>
            </p:cNvPr>
            <p:cNvSpPr/>
            <p:nvPr/>
          </p:nvSpPr>
          <p:spPr>
            <a:xfrm>
              <a:off x="4377982" y="5773180"/>
              <a:ext cx="31438" cy="34740"/>
            </a:xfrm>
            <a:prstGeom prst="ellipse">
              <a:avLst/>
            </a:prstGeom>
            <a:solidFill>
              <a:srgbClr val="1AA0CA"/>
            </a:solidFill>
            <a:ln>
              <a:noFill/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endParaRPr lang="ko-KR" altLang="en-US" dirty="0">
                <a:solidFill>
                  <a:prstClr val="white"/>
                </a:solidFill>
                <a:latin typeface="맑은 고딕"/>
                <a:ea typeface="맑은 고딕"/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1CE50E04-7E4E-FF40-A29D-2B771F3635AC}"/>
              </a:ext>
            </a:extLst>
          </p:cNvPr>
          <p:cNvGrpSpPr/>
          <p:nvPr/>
        </p:nvGrpSpPr>
        <p:grpSpPr>
          <a:xfrm>
            <a:off x="4304928" y="5886646"/>
            <a:ext cx="895588" cy="538696"/>
            <a:chOff x="2477310" y="5534748"/>
            <a:chExt cx="825867" cy="538696"/>
          </a:xfrm>
        </p:grpSpPr>
        <p:sp>
          <p:nvSpPr>
            <p:cNvPr id="15" name="순서도: 자기 디스크 14">
              <a:extLst>
                <a:ext uri="{FF2B5EF4-FFF2-40B4-BE49-F238E27FC236}">
                  <a16:creationId xmlns:a16="http://schemas.microsoft.com/office/drawing/2014/main" id="{1896ADD9-9114-A2D0-A1A4-9D804D7C5D84}"/>
                </a:ext>
              </a:extLst>
            </p:cNvPr>
            <p:cNvSpPr/>
            <p:nvPr/>
          </p:nvSpPr>
          <p:spPr>
            <a:xfrm>
              <a:off x="2504334" y="5534748"/>
              <a:ext cx="742737" cy="538696"/>
            </a:xfrm>
            <a:prstGeom prst="flowChartMagneticDisk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endParaRPr lang="ko-KR" altLang="en-US" dirty="0">
                <a:solidFill>
                  <a:prstClr val="white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9161A089-7C64-5B8F-39F9-C31B32451195}"/>
                </a:ext>
              </a:extLst>
            </p:cNvPr>
            <p:cNvSpPr txBox="1"/>
            <p:nvPr/>
          </p:nvSpPr>
          <p:spPr>
            <a:xfrm>
              <a:off x="2477310" y="5743608"/>
              <a:ext cx="825867" cy="246221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latin typeface="+mn-ea"/>
                  <a:ea typeface="+mn-ea"/>
                </a:rPr>
                <a:t>운전 데이터</a:t>
              </a: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AE37144B-2DCE-B4F2-1AE8-4CEF7EC73FB8}"/>
              </a:ext>
            </a:extLst>
          </p:cNvPr>
          <p:cNvGrpSpPr/>
          <p:nvPr/>
        </p:nvGrpSpPr>
        <p:grpSpPr>
          <a:xfrm>
            <a:off x="5659181" y="5886646"/>
            <a:ext cx="805440" cy="538696"/>
            <a:chOff x="3481903" y="5534748"/>
            <a:chExt cx="742737" cy="538696"/>
          </a:xfrm>
        </p:grpSpPr>
        <p:sp>
          <p:nvSpPr>
            <p:cNvPr id="8" name="순서도: 자기 디스크 7">
              <a:extLst>
                <a:ext uri="{FF2B5EF4-FFF2-40B4-BE49-F238E27FC236}">
                  <a16:creationId xmlns:a16="http://schemas.microsoft.com/office/drawing/2014/main" id="{A4798ABD-CCE3-BA4E-C34D-6311F0CE043A}"/>
                </a:ext>
              </a:extLst>
            </p:cNvPr>
            <p:cNvSpPr/>
            <p:nvPr/>
          </p:nvSpPr>
          <p:spPr>
            <a:xfrm>
              <a:off x="3481903" y="5534748"/>
              <a:ext cx="742737" cy="538696"/>
            </a:xfrm>
            <a:prstGeom prst="flowChartMagneticDisk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endParaRPr lang="ko-KR" altLang="en-US" dirty="0">
                <a:solidFill>
                  <a:prstClr val="white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F03A7F2-715A-1449-6F34-49DA2B1DC2BC}"/>
                </a:ext>
              </a:extLst>
            </p:cNvPr>
            <p:cNvSpPr txBox="1"/>
            <p:nvPr/>
          </p:nvSpPr>
          <p:spPr>
            <a:xfrm>
              <a:off x="3648302" y="5743207"/>
              <a:ext cx="441146" cy="246221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latin typeface="+mn-ea"/>
                  <a:ea typeface="+mn-ea"/>
                </a:rPr>
                <a:t>품질</a:t>
              </a: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F8155713-6870-D9CE-2149-AB5186389668}"/>
              </a:ext>
            </a:extLst>
          </p:cNvPr>
          <p:cNvGrpSpPr/>
          <p:nvPr/>
        </p:nvGrpSpPr>
        <p:grpSpPr>
          <a:xfrm>
            <a:off x="7024172" y="5892722"/>
            <a:ext cx="809148" cy="538696"/>
            <a:chOff x="4714022" y="5540824"/>
            <a:chExt cx="746156" cy="538696"/>
          </a:xfrm>
        </p:grpSpPr>
        <p:sp>
          <p:nvSpPr>
            <p:cNvPr id="14" name="순서도: 자기 디스크 13">
              <a:extLst>
                <a:ext uri="{FF2B5EF4-FFF2-40B4-BE49-F238E27FC236}">
                  <a16:creationId xmlns:a16="http://schemas.microsoft.com/office/drawing/2014/main" id="{68BC577F-491D-F606-2E4D-1D82D666AA35}"/>
                </a:ext>
              </a:extLst>
            </p:cNvPr>
            <p:cNvSpPr/>
            <p:nvPr/>
          </p:nvSpPr>
          <p:spPr>
            <a:xfrm>
              <a:off x="4714022" y="5540824"/>
              <a:ext cx="742737" cy="538696"/>
            </a:xfrm>
            <a:prstGeom prst="flowChartMagneticDisk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endParaRPr lang="ko-KR" altLang="en-US" dirty="0">
                <a:solidFill>
                  <a:prstClr val="white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F7D72CDD-14FD-5ECE-DC88-276F638D8E53}"/>
                </a:ext>
              </a:extLst>
            </p:cNvPr>
            <p:cNvSpPr txBox="1"/>
            <p:nvPr/>
          </p:nvSpPr>
          <p:spPr>
            <a:xfrm>
              <a:off x="4717667" y="5745944"/>
              <a:ext cx="742511" cy="246221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latin typeface="+mn-ea"/>
                  <a:ea typeface="+mn-ea"/>
                </a:rPr>
                <a:t>설비 이력</a:t>
              </a: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7F3BD773-396D-8D46-E428-E38961D2059E}"/>
              </a:ext>
            </a:extLst>
          </p:cNvPr>
          <p:cNvGrpSpPr/>
          <p:nvPr/>
        </p:nvGrpSpPr>
        <p:grpSpPr>
          <a:xfrm>
            <a:off x="3794259" y="4811438"/>
            <a:ext cx="742737" cy="539860"/>
            <a:chOff x="6454142" y="5520816"/>
            <a:chExt cx="742737" cy="539860"/>
          </a:xfrm>
        </p:grpSpPr>
        <p:sp>
          <p:nvSpPr>
            <p:cNvPr id="16" name="순서도: 자기 디스크 15">
              <a:extLst>
                <a:ext uri="{FF2B5EF4-FFF2-40B4-BE49-F238E27FC236}">
                  <a16:creationId xmlns:a16="http://schemas.microsoft.com/office/drawing/2014/main" id="{D48D0EA9-5346-9D6B-8197-3A8A5EE9DAA0}"/>
                </a:ext>
              </a:extLst>
            </p:cNvPr>
            <p:cNvSpPr/>
            <p:nvPr/>
          </p:nvSpPr>
          <p:spPr>
            <a:xfrm>
              <a:off x="6454142" y="5520816"/>
              <a:ext cx="742737" cy="538696"/>
            </a:xfrm>
            <a:prstGeom prst="flowChartMagneticDisk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endParaRPr lang="ko-KR" altLang="en-US" dirty="0">
                <a:solidFill>
                  <a:prstClr val="white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ACC3606B-7025-8445-56FE-8E40F1991802}"/>
                </a:ext>
              </a:extLst>
            </p:cNvPr>
            <p:cNvSpPr txBox="1"/>
            <p:nvPr/>
          </p:nvSpPr>
          <p:spPr>
            <a:xfrm>
              <a:off x="6499252" y="5660566"/>
              <a:ext cx="697627" cy="40011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latin typeface="+mn-ea"/>
                  <a:ea typeface="+mn-ea"/>
                </a:rPr>
                <a:t>온톨로지</a:t>
              </a:r>
              <a:endParaRPr lang="en-US" altLang="ko-KR" sz="1000" dirty="0">
                <a:latin typeface="+mn-ea"/>
                <a:ea typeface="+mn-ea"/>
              </a:endParaRPr>
            </a:p>
            <a:p>
              <a:pPr algn="ctr"/>
              <a:r>
                <a:rPr lang="en-US" altLang="ko-KR" sz="1000" dirty="0">
                  <a:latin typeface="+mn-ea"/>
                  <a:ea typeface="+mn-ea"/>
                </a:rPr>
                <a:t>DB</a:t>
              </a:r>
              <a:endParaRPr lang="ko-KR" altLang="en-US" sz="1000" dirty="0">
                <a:latin typeface="+mn-ea"/>
                <a:ea typeface="+mn-ea"/>
              </a:endParaRPr>
            </a:p>
          </p:txBody>
        </p:sp>
      </p:grp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70CDA894-FDC4-ACC8-DCD3-DCEF02679972}"/>
              </a:ext>
            </a:extLst>
          </p:cNvPr>
          <p:cNvSpPr/>
          <p:nvPr/>
        </p:nvSpPr>
        <p:spPr>
          <a:xfrm>
            <a:off x="5981340" y="2219334"/>
            <a:ext cx="1440159" cy="281344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">
            <a:solidFill>
              <a:schemeClr val="tx2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23EDDA2E-09A3-8EBC-D4FB-5AD53C8422B5}"/>
              </a:ext>
            </a:extLst>
          </p:cNvPr>
          <p:cNvSpPr/>
          <p:nvPr/>
        </p:nvSpPr>
        <p:spPr>
          <a:xfrm>
            <a:off x="5981340" y="3734107"/>
            <a:ext cx="1440158" cy="281344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">
            <a:solidFill>
              <a:schemeClr val="tx2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6D8D3B8-C6B5-83DC-7AB5-D92286CBBF4D}"/>
              </a:ext>
            </a:extLst>
          </p:cNvPr>
          <p:cNvSpPr txBox="1"/>
          <p:nvPr/>
        </p:nvSpPr>
        <p:spPr>
          <a:xfrm>
            <a:off x="6091299" y="2239342"/>
            <a:ext cx="1221808" cy="26161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b="0" dirty="0">
                <a:latin typeface="+mn-ea"/>
                <a:ea typeface="+mn-ea"/>
              </a:rPr>
              <a:t>자동분석 </a:t>
            </a:r>
            <a:r>
              <a:rPr lang="ko-KR" altLang="en-US" sz="1100" b="0" dirty="0" err="1">
                <a:latin typeface="+mn-ea"/>
                <a:ea typeface="+mn-ea"/>
              </a:rPr>
              <a:t>생성기</a:t>
            </a:r>
            <a:endParaRPr lang="ko-KR" altLang="en-US" sz="1100" b="0" dirty="0">
              <a:latin typeface="+mn-ea"/>
              <a:ea typeface="+mn-ea"/>
            </a:endParaRPr>
          </a:p>
        </p:txBody>
      </p: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201E286A-F8D6-6868-E720-8808B4B5F940}"/>
              </a:ext>
            </a:extLst>
          </p:cNvPr>
          <p:cNvCxnSpPr>
            <a:cxnSpLocks/>
            <a:stCxn id="52" idx="2"/>
            <a:endCxn id="45" idx="0"/>
          </p:cNvCxnSpPr>
          <p:nvPr/>
        </p:nvCxnSpPr>
        <p:spPr>
          <a:xfrm flipH="1">
            <a:off x="6701418" y="2500678"/>
            <a:ext cx="2" cy="2952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B1FF372F-D0EE-0C64-D4A4-D6D4EF6D058A}"/>
              </a:ext>
            </a:extLst>
          </p:cNvPr>
          <p:cNvCxnSpPr>
            <a:cxnSpLocks/>
            <a:stCxn id="45" idx="2"/>
            <a:endCxn id="53" idx="0"/>
          </p:cNvCxnSpPr>
          <p:nvPr/>
        </p:nvCxnSpPr>
        <p:spPr>
          <a:xfrm>
            <a:off x="6701418" y="3577528"/>
            <a:ext cx="1" cy="1565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64CF588F-3C3F-906B-6552-B6EE5EB1B13C}"/>
              </a:ext>
            </a:extLst>
          </p:cNvPr>
          <p:cNvSpPr txBox="1"/>
          <p:nvPr/>
        </p:nvSpPr>
        <p:spPr>
          <a:xfrm>
            <a:off x="6182945" y="3753841"/>
            <a:ext cx="1040670" cy="26161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b="0" dirty="0">
                <a:latin typeface="+mn-ea"/>
                <a:ea typeface="+mn-ea"/>
              </a:rPr>
              <a:t>데이터 </a:t>
            </a:r>
            <a:r>
              <a:rPr lang="en-US" altLang="ko-KR" sz="1100" b="0" dirty="0">
                <a:latin typeface="+mn-ea"/>
                <a:ea typeface="+mn-ea"/>
              </a:rPr>
              <a:t>Agent</a:t>
            </a:r>
            <a:endParaRPr lang="ko-KR" altLang="en-US" sz="1100" b="0" dirty="0">
              <a:latin typeface="+mn-ea"/>
              <a:ea typeface="+mn-ea"/>
            </a:endParaRPr>
          </a:p>
        </p:txBody>
      </p: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65C9D4FA-7444-7BE9-5595-092457BCC3FC}"/>
              </a:ext>
            </a:extLst>
          </p:cNvPr>
          <p:cNvCxnSpPr>
            <a:cxnSpLocks/>
          </p:cNvCxnSpPr>
          <p:nvPr/>
        </p:nvCxnSpPr>
        <p:spPr>
          <a:xfrm>
            <a:off x="4584140" y="2441147"/>
            <a:ext cx="1181922" cy="9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5" name="그림 104" descr="스크린샷, 도표, 라인이(가) 표시된 사진">
            <a:extLst>
              <a:ext uri="{FF2B5EF4-FFF2-40B4-BE49-F238E27FC236}">
                <a16:creationId xmlns:a16="http://schemas.microsoft.com/office/drawing/2014/main" id="{D5331A2A-AC90-9C6E-C284-EC193FA98C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7040" y="3727139"/>
            <a:ext cx="647928" cy="430040"/>
          </a:xfrm>
          <a:prstGeom prst="rect">
            <a:avLst/>
          </a:prstGeom>
          <a:ln>
            <a:solidFill>
              <a:schemeClr val="tx2">
                <a:lumMod val="40000"/>
                <a:lumOff val="6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1" name="그림 110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4BA798E-FCAC-D084-4AF8-1F7DE7C5AD9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33391" y="2845657"/>
            <a:ext cx="601588" cy="400110"/>
          </a:xfrm>
          <a:prstGeom prst="rect">
            <a:avLst/>
          </a:prstGeom>
          <a:ln>
            <a:solidFill>
              <a:schemeClr val="tx2">
                <a:lumMod val="40000"/>
                <a:lumOff val="60000"/>
              </a:schemeClr>
            </a:solidFill>
          </a:ln>
        </p:spPr>
      </p:pic>
      <p:sp>
        <p:nvSpPr>
          <p:cNvPr id="115" name="TextBox 114">
            <a:extLst>
              <a:ext uri="{FF2B5EF4-FFF2-40B4-BE49-F238E27FC236}">
                <a16:creationId xmlns:a16="http://schemas.microsoft.com/office/drawing/2014/main" id="{30A24D75-1F9F-0B7F-A929-3F82D990A066}"/>
              </a:ext>
            </a:extLst>
          </p:cNvPr>
          <p:cNvSpPr txBox="1"/>
          <p:nvPr/>
        </p:nvSpPr>
        <p:spPr>
          <a:xfrm>
            <a:off x="1847978" y="3428834"/>
            <a:ext cx="569387" cy="24622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답변서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34DE05AA-76C7-08DC-5332-5DEE418A1283}"/>
              </a:ext>
            </a:extLst>
          </p:cNvPr>
          <p:cNvSpPr txBox="1"/>
          <p:nvPr/>
        </p:nvSpPr>
        <p:spPr>
          <a:xfrm>
            <a:off x="1797326" y="4194356"/>
            <a:ext cx="697627" cy="24622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+mn-ea"/>
                <a:ea typeface="+mn-ea"/>
              </a:rPr>
              <a:t>분석파일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537D7C4C-5E27-46BA-4172-B99CD2EF2C2F}"/>
              </a:ext>
            </a:extLst>
          </p:cNvPr>
          <p:cNvSpPr txBox="1"/>
          <p:nvPr/>
        </p:nvSpPr>
        <p:spPr>
          <a:xfrm>
            <a:off x="5117713" y="3265768"/>
            <a:ext cx="631904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ko-KR" altLang="en-US" sz="800" dirty="0">
                <a:latin typeface="+mn-ea"/>
                <a:ea typeface="+mn-ea"/>
              </a:rPr>
              <a:t>자동</a:t>
            </a:r>
            <a:r>
              <a:rPr lang="en-US" altLang="ko-KR" sz="800" dirty="0">
                <a:latin typeface="+mn-ea"/>
                <a:ea typeface="+mn-ea"/>
              </a:rPr>
              <a:t> </a:t>
            </a:r>
            <a:r>
              <a:rPr lang="ko-KR" altLang="en-US" sz="800" dirty="0">
                <a:latin typeface="+mn-ea"/>
                <a:ea typeface="+mn-ea"/>
              </a:rPr>
              <a:t>분석</a:t>
            </a:r>
            <a:endParaRPr lang="en-US" altLang="ko-KR" sz="800" dirty="0">
              <a:latin typeface="+mn-ea"/>
              <a:ea typeface="+mn-ea"/>
            </a:endParaRPr>
          </a:p>
          <a:p>
            <a:pPr algn="ctr"/>
            <a:r>
              <a:rPr lang="ko-KR" altLang="en-US" sz="800" dirty="0">
                <a:latin typeface="+mn-ea"/>
                <a:ea typeface="+mn-ea"/>
              </a:rPr>
              <a:t>보고서</a:t>
            </a:r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CC17A73C-D4C0-FABF-7DE4-DD1E0AF335B1}"/>
              </a:ext>
            </a:extLst>
          </p:cNvPr>
          <p:cNvSpPr/>
          <p:nvPr/>
        </p:nvSpPr>
        <p:spPr>
          <a:xfrm>
            <a:off x="3546706" y="1846372"/>
            <a:ext cx="1264256" cy="2861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r>
              <a:rPr lang="en-US" altLang="ko-KR" sz="1200" dirty="0" err="1">
                <a:solidFill>
                  <a:schemeClr val="tx1"/>
                </a:solidFill>
                <a:latin typeface="맑은 고딕"/>
                <a:ea typeface="맑은 고딕"/>
              </a:rPr>
              <a:t>sLLM</a:t>
            </a:r>
            <a:r>
              <a:rPr lang="en-US" altLang="ko-KR" sz="1200" dirty="0">
                <a:solidFill>
                  <a:schemeClr val="tx1"/>
                </a:solidFill>
                <a:latin typeface="맑은 고딕"/>
                <a:ea typeface="맑은 고딕"/>
              </a:rPr>
              <a:t> w/RAG</a:t>
            </a:r>
            <a:endParaRPr lang="ko-KR" altLang="en-US" sz="1200" dirty="0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EC9BFD1B-124A-0A8C-2F3F-A4CC5986BDE8}"/>
              </a:ext>
            </a:extLst>
          </p:cNvPr>
          <p:cNvSpPr/>
          <p:nvPr/>
        </p:nvSpPr>
        <p:spPr>
          <a:xfrm>
            <a:off x="6054621" y="1819568"/>
            <a:ext cx="1264256" cy="2861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r>
              <a:rPr lang="ko-KR" altLang="en-US" sz="1200" dirty="0">
                <a:solidFill>
                  <a:schemeClr val="tx1"/>
                </a:solidFill>
                <a:latin typeface="맑은 고딕"/>
                <a:ea typeface="맑은 고딕"/>
              </a:rPr>
              <a:t>자동분석시스템</a:t>
            </a:r>
          </a:p>
        </p:txBody>
      </p:sp>
      <p:cxnSp>
        <p:nvCxnSpPr>
          <p:cNvPr id="132" name="연결선: 꺾임 131">
            <a:extLst>
              <a:ext uri="{FF2B5EF4-FFF2-40B4-BE49-F238E27FC236}">
                <a16:creationId xmlns:a16="http://schemas.microsoft.com/office/drawing/2014/main" id="{67ABD084-A9D5-F3FF-1D92-E6A1A0DD169B}"/>
              </a:ext>
            </a:extLst>
          </p:cNvPr>
          <p:cNvCxnSpPr/>
          <p:nvPr/>
        </p:nvCxnSpPr>
        <p:spPr>
          <a:xfrm rot="10800000" flipV="1">
            <a:off x="4323764" y="2725230"/>
            <a:ext cx="1442298" cy="659122"/>
          </a:xfrm>
          <a:prstGeom prst="bentConnector3">
            <a:avLst>
              <a:gd name="adj1" fmla="val 99756"/>
            </a:avLst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7713FE3A-89FC-0831-52E7-8F50D0C27A28}"/>
              </a:ext>
            </a:extLst>
          </p:cNvPr>
          <p:cNvSpPr txBox="1"/>
          <p:nvPr/>
        </p:nvSpPr>
        <p:spPr>
          <a:xfrm>
            <a:off x="6202325" y="2748809"/>
            <a:ext cx="10397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 err="1">
                <a:latin typeface="+mn-ea"/>
                <a:ea typeface="+mn-ea"/>
              </a:rPr>
              <a:t>ECMiner</a:t>
            </a:r>
            <a:r>
              <a:rPr lang="en-US" altLang="ko-KR" sz="1200" dirty="0">
                <a:latin typeface="+mn-ea"/>
                <a:ea typeface="+mn-ea"/>
              </a:rPr>
              <a:t>™</a:t>
            </a:r>
            <a:endParaRPr lang="ko-KR" altLang="en-US" sz="1200" dirty="0">
              <a:latin typeface="+mn-ea"/>
              <a:ea typeface="+mn-ea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1CD6D09-F80B-4398-B131-060A1B60A91C}"/>
              </a:ext>
            </a:extLst>
          </p:cNvPr>
          <p:cNvSpPr/>
          <p:nvPr/>
        </p:nvSpPr>
        <p:spPr>
          <a:xfrm>
            <a:off x="1643437" y="6008093"/>
            <a:ext cx="1129871" cy="19528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r>
              <a:rPr lang="ko-KR" altLang="en-US" sz="1200" dirty="0">
                <a:solidFill>
                  <a:schemeClr val="tx1"/>
                </a:solidFill>
                <a:latin typeface="맑은 고딕"/>
                <a:ea typeface="맑은 고딕"/>
              </a:rPr>
              <a:t>원천 데이터</a:t>
            </a: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E70D514F-EC1A-C0F9-2035-4D7F8A7B6CEF}"/>
              </a:ext>
            </a:extLst>
          </p:cNvPr>
          <p:cNvGrpSpPr/>
          <p:nvPr/>
        </p:nvGrpSpPr>
        <p:grpSpPr>
          <a:xfrm>
            <a:off x="4953000" y="4805816"/>
            <a:ext cx="859488" cy="573643"/>
            <a:chOff x="5430768" y="4809446"/>
            <a:chExt cx="859488" cy="573643"/>
          </a:xfrm>
        </p:grpSpPr>
        <p:sp>
          <p:nvSpPr>
            <p:cNvPr id="38" name="순서도: 자기 디스크 37">
              <a:extLst>
                <a:ext uri="{FF2B5EF4-FFF2-40B4-BE49-F238E27FC236}">
                  <a16:creationId xmlns:a16="http://schemas.microsoft.com/office/drawing/2014/main" id="{0D4B6A51-D688-671E-AECC-BD29673F6A9A}"/>
                </a:ext>
              </a:extLst>
            </p:cNvPr>
            <p:cNvSpPr/>
            <p:nvPr/>
          </p:nvSpPr>
          <p:spPr>
            <a:xfrm>
              <a:off x="5472854" y="4809446"/>
              <a:ext cx="742737" cy="538696"/>
            </a:xfrm>
            <a:prstGeom prst="flowChartMagneticDisk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endParaRPr lang="ko-KR" altLang="en-US" dirty="0">
                <a:solidFill>
                  <a:prstClr val="white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B31B1E84-99BC-A366-9FCD-AC25B281F729}"/>
                </a:ext>
              </a:extLst>
            </p:cNvPr>
            <p:cNvSpPr txBox="1"/>
            <p:nvPr/>
          </p:nvSpPr>
          <p:spPr>
            <a:xfrm>
              <a:off x="5430768" y="4982979"/>
              <a:ext cx="859488" cy="40011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latin typeface="+mn-ea"/>
                  <a:ea typeface="+mn-ea"/>
                </a:rPr>
                <a:t>메타</a:t>
              </a:r>
              <a:endParaRPr lang="en-US" altLang="ko-KR" sz="1000" dirty="0">
                <a:latin typeface="+mn-ea"/>
                <a:ea typeface="+mn-ea"/>
              </a:endParaRPr>
            </a:p>
            <a:p>
              <a:pPr algn="ctr"/>
              <a:r>
                <a:rPr lang="ko-KR" altLang="en-US" sz="1000" dirty="0">
                  <a:latin typeface="+mn-ea"/>
                  <a:ea typeface="+mn-ea"/>
                </a:rPr>
                <a:t>데이터</a:t>
              </a:r>
            </a:p>
          </p:txBody>
        </p:sp>
      </p:grpSp>
      <p:cxnSp>
        <p:nvCxnSpPr>
          <p:cNvPr id="51" name="연결선: 꺾임 50">
            <a:extLst>
              <a:ext uri="{FF2B5EF4-FFF2-40B4-BE49-F238E27FC236}">
                <a16:creationId xmlns:a16="http://schemas.microsoft.com/office/drawing/2014/main" id="{173A71D6-6FFB-BAD0-6D7B-AAF3FD0EC793}"/>
              </a:ext>
            </a:extLst>
          </p:cNvPr>
          <p:cNvCxnSpPr>
            <a:cxnSpLocks/>
            <a:stCxn id="14" idx="1"/>
            <a:endCxn id="81" idx="2"/>
          </p:cNvCxnSpPr>
          <p:nvPr/>
        </p:nvCxnSpPr>
        <p:spPr>
          <a:xfrm rot="16200000" flipV="1">
            <a:off x="6088605" y="4554435"/>
            <a:ext cx="488049" cy="218852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7CBFC4C3-A719-66ED-54B7-F002F65398D8}"/>
              </a:ext>
            </a:extLst>
          </p:cNvPr>
          <p:cNvGrpSpPr/>
          <p:nvPr/>
        </p:nvGrpSpPr>
        <p:grpSpPr>
          <a:xfrm>
            <a:off x="3008784" y="5868207"/>
            <a:ext cx="895588" cy="538696"/>
            <a:chOff x="2467152" y="5534748"/>
            <a:chExt cx="825867" cy="538696"/>
          </a:xfrm>
        </p:grpSpPr>
        <p:sp>
          <p:nvSpPr>
            <p:cNvPr id="70" name="순서도: 자기 디스크 69">
              <a:extLst>
                <a:ext uri="{FF2B5EF4-FFF2-40B4-BE49-F238E27FC236}">
                  <a16:creationId xmlns:a16="http://schemas.microsoft.com/office/drawing/2014/main" id="{E11848D2-4D64-39A0-632D-384AE1B2D2E0}"/>
                </a:ext>
              </a:extLst>
            </p:cNvPr>
            <p:cNvSpPr/>
            <p:nvPr/>
          </p:nvSpPr>
          <p:spPr>
            <a:xfrm>
              <a:off x="2504334" y="5534748"/>
              <a:ext cx="742737" cy="538696"/>
            </a:xfrm>
            <a:prstGeom prst="flowChartMagneticDisk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endParaRPr lang="ko-KR" altLang="en-US" dirty="0">
                <a:solidFill>
                  <a:prstClr val="white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F862841C-8E96-3874-AB3E-ACECB7113BAF}"/>
                </a:ext>
              </a:extLst>
            </p:cNvPr>
            <p:cNvSpPr txBox="1"/>
            <p:nvPr/>
          </p:nvSpPr>
          <p:spPr>
            <a:xfrm>
              <a:off x="2467152" y="5721576"/>
              <a:ext cx="825867" cy="246221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latin typeface="+mn-ea"/>
                  <a:ea typeface="+mn-ea"/>
                </a:rPr>
                <a:t>설비 문서</a:t>
              </a:r>
            </a:p>
          </p:txBody>
        </p:sp>
      </p:grp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7F33161D-549D-87F3-B565-C9B5396ED71A}"/>
              </a:ext>
            </a:extLst>
          </p:cNvPr>
          <p:cNvGrpSpPr/>
          <p:nvPr/>
        </p:nvGrpSpPr>
        <p:grpSpPr>
          <a:xfrm>
            <a:off x="6056088" y="4805816"/>
            <a:ext cx="859488" cy="573643"/>
            <a:chOff x="5430768" y="4809446"/>
            <a:chExt cx="859488" cy="573643"/>
          </a:xfrm>
        </p:grpSpPr>
        <p:sp>
          <p:nvSpPr>
            <p:cNvPr id="78" name="순서도: 자기 디스크 77">
              <a:extLst>
                <a:ext uri="{FF2B5EF4-FFF2-40B4-BE49-F238E27FC236}">
                  <a16:creationId xmlns:a16="http://schemas.microsoft.com/office/drawing/2014/main" id="{A20F0FCB-DC5B-1BDD-AF11-E720C57A5741}"/>
                </a:ext>
              </a:extLst>
            </p:cNvPr>
            <p:cNvSpPr/>
            <p:nvPr/>
          </p:nvSpPr>
          <p:spPr>
            <a:xfrm>
              <a:off x="5472854" y="4809446"/>
              <a:ext cx="742737" cy="538696"/>
            </a:xfrm>
            <a:prstGeom prst="flowChartMagneticDisk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endParaRPr lang="ko-KR" altLang="en-US" dirty="0">
                <a:solidFill>
                  <a:prstClr val="white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F2CD5B85-AFBD-8CB4-AED7-0FC34AD59B92}"/>
                </a:ext>
              </a:extLst>
            </p:cNvPr>
            <p:cNvSpPr txBox="1"/>
            <p:nvPr/>
          </p:nvSpPr>
          <p:spPr>
            <a:xfrm>
              <a:off x="5430768" y="4982979"/>
              <a:ext cx="859488" cy="40011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latin typeface="+mn-ea"/>
                  <a:ea typeface="+mn-ea"/>
                </a:rPr>
                <a:t>분석용</a:t>
              </a:r>
              <a:endParaRPr lang="en-US" altLang="ko-KR" sz="1000" dirty="0">
                <a:latin typeface="+mn-ea"/>
                <a:ea typeface="+mn-ea"/>
              </a:endParaRPr>
            </a:p>
            <a:p>
              <a:pPr algn="ctr"/>
              <a:r>
                <a:rPr lang="ko-KR" altLang="en-US" sz="1000" dirty="0">
                  <a:latin typeface="+mn-ea"/>
                  <a:ea typeface="+mn-ea"/>
                </a:rPr>
                <a:t>데이터</a:t>
              </a:r>
            </a:p>
          </p:txBody>
        </p:sp>
      </p:grpSp>
      <p:cxnSp>
        <p:nvCxnSpPr>
          <p:cNvPr id="86" name="연결선: 꺾임 85">
            <a:extLst>
              <a:ext uri="{FF2B5EF4-FFF2-40B4-BE49-F238E27FC236}">
                <a16:creationId xmlns:a16="http://schemas.microsoft.com/office/drawing/2014/main" id="{5A7CBFB7-14F2-FCEC-C04F-C6A89AF727DB}"/>
              </a:ext>
            </a:extLst>
          </p:cNvPr>
          <p:cNvCxnSpPr>
            <a:cxnSpLocks/>
            <a:stCxn id="70" idx="1"/>
            <a:endCxn id="81" idx="2"/>
          </p:cNvCxnSpPr>
          <p:nvPr/>
        </p:nvCxnSpPr>
        <p:spPr>
          <a:xfrm rot="5400000" flipH="1" flipV="1">
            <a:off x="4113328" y="4743170"/>
            <a:ext cx="463534" cy="178654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화살표 연결선 88">
            <a:extLst>
              <a:ext uri="{FF2B5EF4-FFF2-40B4-BE49-F238E27FC236}">
                <a16:creationId xmlns:a16="http://schemas.microsoft.com/office/drawing/2014/main" id="{CB926B65-96FD-7439-75CF-54B7A7F2BB5A}"/>
              </a:ext>
            </a:extLst>
          </p:cNvPr>
          <p:cNvCxnSpPr>
            <a:cxnSpLocks/>
          </p:cNvCxnSpPr>
          <p:nvPr/>
        </p:nvCxnSpPr>
        <p:spPr>
          <a:xfrm>
            <a:off x="7223615" y="4015451"/>
            <a:ext cx="18490" cy="15853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화살표 연결선 102">
            <a:extLst>
              <a:ext uri="{FF2B5EF4-FFF2-40B4-BE49-F238E27FC236}">
                <a16:creationId xmlns:a16="http://schemas.microsoft.com/office/drawing/2014/main" id="{71BA0343-F8DB-D3A4-AB13-C7B668FB47D1}"/>
              </a:ext>
            </a:extLst>
          </p:cNvPr>
          <p:cNvCxnSpPr>
            <a:cxnSpLocks/>
            <a:stCxn id="16" idx="1"/>
            <a:endCxn id="40" idx="2"/>
          </p:cNvCxnSpPr>
          <p:nvPr/>
        </p:nvCxnSpPr>
        <p:spPr>
          <a:xfrm flipH="1" flipV="1">
            <a:off x="4164157" y="4236105"/>
            <a:ext cx="1471" cy="57533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화살표 연결선 106">
            <a:extLst>
              <a:ext uri="{FF2B5EF4-FFF2-40B4-BE49-F238E27FC236}">
                <a16:creationId xmlns:a16="http://schemas.microsoft.com/office/drawing/2014/main" id="{3F486697-32B4-F6C3-E89C-0DA1A302DC49}"/>
              </a:ext>
            </a:extLst>
          </p:cNvPr>
          <p:cNvCxnSpPr/>
          <p:nvPr/>
        </p:nvCxnSpPr>
        <p:spPr>
          <a:xfrm>
            <a:off x="6393160" y="4015451"/>
            <a:ext cx="0" cy="68502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직선 화살표 연결선 109">
            <a:extLst>
              <a:ext uri="{FF2B5EF4-FFF2-40B4-BE49-F238E27FC236}">
                <a16:creationId xmlns:a16="http://schemas.microsoft.com/office/drawing/2014/main" id="{D99836B7-F209-2DA6-FD05-9B1ED4453AE9}"/>
              </a:ext>
            </a:extLst>
          </p:cNvPr>
          <p:cNvCxnSpPr>
            <a:cxnSpLocks/>
            <a:stCxn id="16" idx="4"/>
            <a:endCxn id="38" idx="2"/>
          </p:cNvCxnSpPr>
          <p:nvPr/>
        </p:nvCxnSpPr>
        <p:spPr>
          <a:xfrm flipV="1">
            <a:off x="4536996" y="5075164"/>
            <a:ext cx="458090" cy="562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직선 화살표 연결선 113">
            <a:extLst>
              <a:ext uri="{FF2B5EF4-FFF2-40B4-BE49-F238E27FC236}">
                <a16:creationId xmlns:a16="http://schemas.microsoft.com/office/drawing/2014/main" id="{4642E674-057B-DC4E-4479-3F14EDB319E3}"/>
              </a:ext>
            </a:extLst>
          </p:cNvPr>
          <p:cNvCxnSpPr>
            <a:stCxn id="38" idx="4"/>
          </p:cNvCxnSpPr>
          <p:nvPr/>
        </p:nvCxnSpPr>
        <p:spPr>
          <a:xfrm>
            <a:off x="5737823" y="5075164"/>
            <a:ext cx="353476" cy="562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846C2B29-D5AB-D9E0-55C9-9F4EDBEE8755}"/>
              </a:ext>
            </a:extLst>
          </p:cNvPr>
          <p:cNvSpPr/>
          <p:nvPr/>
        </p:nvSpPr>
        <p:spPr bwMode="auto">
          <a:xfrm>
            <a:off x="1719843" y="3631148"/>
            <a:ext cx="875958" cy="821306"/>
          </a:xfrm>
          <a:prstGeom prst="rect">
            <a:avLst/>
          </a:prstGeom>
          <a:noFill/>
          <a:ln w="38100">
            <a:solidFill>
              <a:srgbClr val="C00000"/>
            </a:solidFill>
            <a:prstDash val="sysDot"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en-US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D4925D1-0126-C4E5-37A7-591885A5610A}"/>
              </a:ext>
            </a:extLst>
          </p:cNvPr>
          <p:cNvSpPr/>
          <p:nvPr/>
        </p:nvSpPr>
        <p:spPr>
          <a:xfrm>
            <a:off x="7482996" y="4874204"/>
            <a:ext cx="1195817" cy="37469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r>
              <a:rPr lang="en-US" altLang="ko-KR" sz="1200" dirty="0">
                <a:solidFill>
                  <a:schemeClr val="tx1"/>
                </a:solidFill>
                <a:latin typeface="맑은 고딕"/>
                <a:ea typeface="맑은 고딕"/>
              </a:rPr>
              <a:t>AIDA:</a:t>
            </a:r>
          </a:p>
          <a:p>
            <a:pPr algn="ctr" defTabSz="911896"/>
            <a:r>
              <a:rPr lang="en-US" altLang="ko-KR" sz="1200" dirty="0">
                <a:solidFill>
                  <a:schemeClr val="tx1"/>
                </a:solidFill>
                <a:latin typeface="맑은 고딕"/>
                <a:ea typeface="맑은 고딕"/>
              </a:rPr>
              <a:t>Ontology</a:t>
            </a:r>
            <a:endParaRPr lang="ko-KR" altLang="en-US" sz="1200" dirty="0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6568669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16AE39F7-3C2E-C1DE-59A9-BA9445CEACA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 err="1">
                <a:solidFill>
                  <a:srgbClr val="000000"/>
                </a:solidFill>
                <a:latin typeface="+mn-ea"/>
              </a:rPr>
              <a:t>ECMiner™AIDA</a:t>
            </a:r>
            <a:r>
              <a:rPr lang="en-US" altLang="ko-KR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rgbClr val="000000"/>
                </a:solidFill>
                <a:latin typeface="+mn-ea"/>
              </a:rPr>
              <a:t>주요 기능 </a:t>
            </a:r>
            <a:r>
              <a:rPr lang="en-US" altLang="ko-KR" dirty="0">
                <a:solidFill>
                  <a:srgbClr val="000000"/>
                </a:solidFill>
                <a:latin typeface="+mn-ea"/>
              </a:rPr>
              <a:t>Overview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6F158B7-301E-9CEF-7BD2-C9030C0B049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 err="1">
                <a:solidFill>
                  <a:srgbClr val="000000"/>
                </a:solidFill>
                <a:latin typeface="맑은 고딕" pitchFamily="50" charset="-127"/>
                <a:cs typeface="Arial" pitchFamily="34" charset="0"/>
              </a:rPr>
              <a:t>ECMiner</a:t>
            </a:r>
            <a:r>
              <a:rPr lang="en-US" altLang="ko-KR" dirty="0">
                <a:solidFill>
                  <a:srgbClr val="000000"/>
                </a:solidFill>
                <a:latin typeface="맑은 고딕" pitchFamily="50" charset="-127"/>
                <a:cs typeface="Arial" pitchFamily="34" charset="0"/>
              </a:rPr>
              <a:t>™</a:t>
            </a:r>
            <a:r>
              <a:rPr lang="ko-KR" altLang="en-US" dirty="0">
                <a:solidFill>
                  <a:srgbClr val="000000"/>
                </a:solidFill>
                <a:latin typeface="맑은 고딕" pitchFamily="50" charset="-127"/>
                <a:cs typeface="Arial" pitchFamily="34" charset="0"/>
              </a:rPr>
              <a:t>은 </a:t>
            </a:r>
            <a:r>
              <a:rPr lang="ko-KR" altLang="en-US" dirty="0" err="1">
                <a:solidFill>
                  <a:srgbClr val="000000"/>
                </a:solidFill>
                <a:latin typeface="맑은 고딕" pitchFamily="50" charset="-127"/>
                <a:cs typeface="Arial" pitchFamily="34" charset="0"/>
              </a:rPr>
              <a:t>멀티모달</a:t>
            </a:r>
            <a:r>
              <a:rPr lang="ko-KR" altLang="en-US" dirty="0">
                <a:solidFill>
                  <a:srgbClr val="000000"/>
                </a:solidFill>
                <a:latin typeface="맑은 고딕" pitchFamily="50" charset="-127"/>
                <a:cs typeface="Arial" pitchFamily="34" charset="0"/>
              </a:rPr>
              <a:t> 데이터를 처리</a:t>
            </a:r>
            <a:r>
              <a:rPr lang="en-US" altLang="ko-KR" dirty="0">
                <a:solidFill>
                  <a:srgbClr val="000000"/>
                </a:solidFill>
                <a:latin typeface="맑은 고딕" pitchFamily="50" charset="-127"/>
                <a:cs typeface="Arial" pitchFamily="34" charset="0"/>
              </a:rPr>
              <a:t>/</a:t>
            </a:r>
            <a:r>
              <a:rPr lang="ko-KR" altLang="en-US" dirty="0">
                <a:solidFill>
                  <a:srgbClr val="000000"/>
                </a:solidFill>
                <a:latin typeface="맑은 고딕" pitchFamily="50" charset="-127"/>
                <a:cs typeface="Arial" pitchFamily="34" charset="0"/>
              </a:rPr>
              <a:t>분석하기 위한 통계</a:t>
            </a:r>
            <a:r>
              <a:rPr lang="en-US" altLang="ko-KR" dirty="0">
                <a:solidFill>
                  <a:srgbClr val="000000"/>
                </a:solidFill>
                <a:latin typeface="맑은 고딕" pitchFamily="50" charset="-127"/>
                <a:cs typeface="Arial" pitchFamily="34" charset="0"/>
              </a:rPr>
              <a:t>/</a:t>
            </a:r>
            <a:r>
              <a:rPr lang="ko-KR" altLang="en-US" dirty="0" err="1">
                <a:solidFill>
                  <a:srgbClr val="000000"/>
                </a:solidFill>
                <a:latin typeface="맑은 고딕" pitchFamily="50" charset="-127"/>
                <a:cs typeface="Arial" pitchFamily="34" charset="0"/>
              </a:rPr>
              <a:t>데이터마이닝</a:t>
            </a:r>
            <a:r>
              <a:rPr lang="en-US" altLang="ko-KR" dirty="0">
                <a:solidFill>
                  <a:srgbClr val="000000"/>
                </a:solidFill>
                <a:latin typeface="맑은 고딕" pitchFamily="50" charset="-127"/>
                <a:cs typeface="Arial" pitchFamily="34" charset="0"/>
              </a:rPr>
              <a:t>/</a:t>
            </a:r>
            <a:r>
              <a:rPr lang="ko-KR" altLang="en-US" dirty="0">
                <a:solidFill>
                  <a:srgbClr val="000000"/>
                </a:solidFill>
                <a:latin typeface="맑은 고딕" pitchFamily="50" charset="-127"/>
                <a:cs typeface="Arial" pitchFamily="34" charset="0"/>
              </a:rPr>
              <a:t>빅데이터</a:t>
            </a:r>
            <a:r>
              <a:rPr lang="en-US" altLang="ko-KR" dirty="0">
                <a:solidFill>
                  <a:srgbClr val="000000"/>
                </a:solidFill>
                <a:latin typeface="맑은 고딕" pitchFamily="50" charset="-127"/>
                <a:cs typeface="Arial" pitchFamily="34" charset="0"/>
              </a:rPr>
              <a:t>/</a:t>
            </a:r>
            <a:r>
              <a:rPr lang="ko-KR" altLang="en-US" dirty="0">
                <a:solidFill>
                  <a:srgbClr val="000000"/>
                </a:solidFill>
                <a:latin typeface="맑은 고딕" pitchFamily="50" charset="-127"/>
                <a:cs typeface="Arial" pitchFamily="34" charset="0"/>
              </a:rPr>
              <a:t>인공지능 </a:t>
            </a:r>
            <a:r>
              <a:rPr lang="ko-KR" altLang="en-US" dirty="0" err="1">
                <a:solidFill>
                  <a:srgbClr val="000000"/>
                </a:solidFill>
                <a:latin typeface="맑은 고딕" pitchFamily="50" charset="-127"/>
                <a:cs typeface="Arial" pitchFamily="34" charset="0"/>
              </a:rPr>
              <a:t>알고리듬을</a:t>
            </a:r>
            <a:r>
              <a:rPr lang="ko-KR" altLang="en-US" dirty="0">
                <a:solidFill>
                  <a:srgbClr val="000000"/>
                </a:solidFill>
                <a:latin typeface="맑은 고딕" pitchFamily="50" charset="-127"/>
                <a:cs typeface="Arial" pitchFamily="34" charset="0"/>
              </a:rPr>
              <a:t> 활용할 수 있는 통합 분석 환경을 제공합니다</a:t>
            </a:r>
            <a:r>
              <a:rPr lang="en-US" altLang="ko-KR" dirty="0">
                <a:solidFill>
                  <a:srgbClr val="000000"/>
                </a:solidFill>
                <a:latin typeface="맑은 고딕" pitchFamily="50" charset="-127"/>
                <a:cs typeface="Arial" pitchFamily="34" charset="0"/>
              </a:rPr>
              <a:t>. 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7D5BA9BF-6486-91CF-647C-7E7F9D93B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+mn-ea"/>
              </a:rPr>
              <a:t>2. </a:t>
            </a:r>
            <a:r>
              <a:rPr lang="en-US" altLang="ko-KR" dirty="0" err="1">
                <a:solidFill>
                  <a:schemeClr val="bg1"/>
                </a:solidFill>
                <a:latin typeface="+mn-ea"/>
              </a:rPr>
              <a:t>ECMiner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™ AIDA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 주요 기능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948AD3C-5E04-CBC2-AD97-9D90CC4B734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E440B346-1DDB-EFEA-E852-F483772C0ED9}"/>
              </a:ext>
            </a:extLst>
          </p:cNvPr>
          <p:cNvSpPr/>
          <p:nvPr/>
        </p:nvSpPr>
        <p:spPr bwMode="auto">
          <a:xfrm>
            <a:off x="1496616" y="1916832"/>
            <a:ext cx="2952328" cy="648072"/>
          </a:xfrm>
          <a:prstGeom prst="roundRect">
            <a:avLst/>
          </a:prstGeom>
          <a:solidFill>
            <a:schemeClr val="accent1"/>
          </a:solidFill>
          <a:ln>
            <a:solidFill>
              <a:schemeClr val="tx1"/>
            </a:solidFill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r>
              <a:rPr lang="en-US" altLang="ko-KR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RAG</a:t>
            </a:r>
            <a:endParaRPr lang="ko-KR" altLang="en-US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E10BE9E-A466-8B2D-A858-99837C93698F}"/>
              </a:ext>
            </a:extLst>
          </p:cNvPr>
          <p:cNvSpPr/>
          <p:nvPr/>
        </p:nvSpPr>
        <p:spPr bwMode="auto">
          <a:xfrm>
            <a:off x="1496616" y="2492896"/>
            <a:ext cx="2952328" cy="295232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8F4133C-1392-A5DF-4A73-E82C7EAC2F34}"/>
              </a:ext>
            </a:extLst>
          </p:cNvPr>
          <p:cNvSpPr txBox="1"/>
          <p:nvPr/>
        </p:nvSpPr>
        <p:spPr>
          <a:xfrm>
            <a:off x="1928664" y="3068960"/>
            <a:ext cx="216024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-</a:t>
            </a:r>
            <a:r>
              <a:rPr lang="ko-KR" altLang="en-US" b="0" dirty="0">
                <a:latin typeface="+mn-ea"/>
                <a:ea typeface="+mn-ea"/>
              </a:rPr>
              <a:t>파일 업로드 및 적재</a:t>
            </a:r>
            <a:endParaRPr lang="en-US" altLang="ko-KR" b="0" dirty="0">
              <a:latin typeface="+mn-ea"/>
              <a:ea typeface="+mn-ea"/>
            </a:endParaRPr>
          </a:p>
          <a:p>
            <a:pPr algn="l"/>
            <a:endParaRPr lang="en-US" altLang="ko-KR" b="0" dirty="0">
              <a:latin typeface="+mn-ea"/>
              <a:ea typeface="+mn-ea"/>
            </a:endParaRPr>
          </a:p>
          <a:p>
            <a:pPr algn="l"/>
            <a:endParaRPr lang="en-US" altLang="ko-KR" b="0" dirty="0">
              <a:latin typeface="+mn-ea"/>
              <a:ea typeface="+mn-ea"/>
            </a:endParaRPr>
          </a:p>
          <a:p>
            <a:pPr algn="l"/>
            <a:r>
              <a:rPr lang="en-US" altLang="ko-KR" b="0" dirty="0">
                <a:latin typeface="+mn-ea"/>
                <a:ea typeface="+mn-ea"/>
              </a:rPr>
              <a:t>-Collection </a:t>
            </a:r>
          </a:p>
          <a:p>
            <a:pPr algn="l"/>
            <a:endParaRPr lang="en-US" altLang="ko-KR" b="0" dirty="0">
              <a:latin typeface="+mn-ea"/>
              <a:ea typeface="+mn-ea"/>
            </a:endParaRPr>
          </a:p>
          <a:p>
            <a:pPr algn="l"/>
            <a:endParaRPr lang="en-US" altLang="ko-KR" b="0" dirty="0">
              <a:latin typeface="+mn-ea"/>
              <a:ea typeface="+mn-ea"/>
            </a:endParaRPr>
          </a:p>
          <a:p>
            <a:pPr algn="l"/>
            <a:r>
              <a:rPr lang="en-US" altLang="ko-KR" b="0" dirty="0">
                <a:latin typeface="+mn-ea"/>
                <a:ea typeface="+mn-ea"/>
              </a:rPr>
              <a:t>-</a:t>
            </a:r>
            <a:r>
              <a:rPr lang="ko-KR" altLang="en-US" b="0" dirty="0">
                <a:latin typeface="+mn-ea"/>
                <a:ea typeface="+mn-ea"/>
              </a:rPr>
              <a:t>사용자 질의 기반 검색</a:t>
            </a:r>
            <a:endParaRPr lang="en-US" altLang="ko-KR" b="0" dirty="0">
              <a:latin typeface="+mn-ea"/>
              <a:ea typeface="+mn-ea"/>
            </a:endParaRPr>
          </a:p>
          <a:p>
            <a:pPr algn="l"/>
            <a:endParaRPr lang="en-US" altLang="ko-KR" b="0" dirty="0">
              <a:latin typeface="+mn-ea"/>
              <a:ea typeface="+mn-ea"/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D745FCEE-0427-20CD-4156-F6B3617955F9}"/>
              </a:ext>
            </a:extLst>
          </p:cNvPr>
          <p:cNvSpPr/>
          <p:nvPr/>
        </p:nvSpPr>
        <p:spPr bwMode="auto">
          <a:xfrm>
            <a:off x="5493060" y="1916832"/>
            <a:ext cx="2952328" cy="648072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1"/>
            </a:solidFill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r>
              <a:rPr lang="ko-KR" altLang="en-US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자동분석 시스템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023BD66A-0452-E5C3-9D92-2F324924950A}"/>
              </a:ext>
            </a:extLst>
          </p:cNvPr>
          <p:cNvSpPr/>
          <p:nvPr/>
        </p:nvSpPr>
        <p:spPr bwMode="auto">
          <a:xfrm>
            <a:off x="5493060" y="2492896"/>
            <a:ext cx="2952328" cy="295232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4490866-D95D-3757-47EF-7CB41EE4B311}"/>
              </a:ext>
            </a:extLst>
          </p:cNvPr>
          <p:cNvSpPr txBox="1"/>
          <p:nvPr/>
        </p:nvSpPr>
        <p:spPr>
          <a:xfrm>
            <a:off x="5781092" y="2737953"/>
            <a:ext cx="216024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-</a:t>
            </a:r>
            <a:r>
              <a:rPr lang="ko-KR" altLang="en-US" b="0" dirty="0">
                <a:latin typeface="+mn-ea"/>
                <a:ea typeface="+mn-ea"/>
              </a:rPr>
              <a:t>기초 통계 분석</a:t>
            </a:r>
            <a:endParaRPr lang="en-US" altLang="ko-KR" b="0" dirty="0">
              <a:latin typeface="+mn-ea"/>
              <a:ea typeface="+mn-ea"/>
            </a:endParaRPr>
          </a:p>
          <a:p>
            <a:pPr algn="l"/>
            <a:endParaRPr lang="en-US" altLang="ko-KR" b="0" dirty="0">
              <a:latin typeface="+mn-ea"/>
              <a:ea typeface="+mn-ea"/>
            </a:endParaRPr>
          </a:p>
          <a:p>
            <a:pPr algn="l"/>
            <a:r>
              <a:rPr lang="en-US" altLang="ko-KR" b="0" dirty="0">
                <a:latin typeface="+mn-ea"/>
                <a:ea typeface="+mn-ea"/>
              </a:rPr>
              <a:t>-</a:t>
            </a:r>
            <a:r>
              <a:rPr lang="ko-KR" altLang="en-US" b="0" dirty="0">
                <a:latin typeface="+mn-ea"/>
                <a:ea typeface="+mn-ea"/>
              </a:rPr>
              <a:t>시계열 추이 분석</a:t>
            </a:r>
            <a:endParaRPr lang="en-US" altLang="ko-KR" b="0" dirty="0">
              <a:latin typeface="+mn-ea"/>
              <a:ea typeface="+mn-ea"/>
            </a:endParaRPr>
          </a:p>
          <a:p>
            <a:pPr algn="l"/>
            <a:endParaRPr lang="en-US" altLang="ko-KR" b="0" dirty="0">
              <a:latin typeface="+mn-ea"/>
              <a:ea typeface="+mn-ea"/>
            </a:endParaRPr>
          </a:p>
          <a:p>
            <a:pPr algn="l"/>
            <a:r>
              <a:rPr lang="en-US" altLang="ko-KR" b="0" dirty="0">
                <a:latin typeface="+mn-ea"/>
                <a:ea typeface="+mn-ea"/>
              </a:rPr>
              <a:t>-</a:t>
            </a:r>
            <a:r>
              <a:rPr lang="ko-KR" altLang="en-US" b="0" dirty="0">
                <a:latin typeface="+mn-ea"/>
                <a:ea typeface="+mn-ea"/>
              </a:rPr>
              <a:t>상관관계 분석</a:t>
            </a:r>
            <a:endParaRPr lang="en-US" altLang="ko-KR" b="0" dirty="0">
              <a:latin typeface="+mn-ea"/>
              <a:ea typeface="+mn-ea"/>
            </a:endParaRPr>
          </a:p>
          <a:p>
            <a:pPr algn="l"/>
            <a:endParaRPr lang="en-US" altLang="ko-KR" b="0" dirty="0">
              <a:latin typeface="+mn-ea"/>
              <a:ea typeface="+mn-ea"/>
            </a:endParaRPr>
          </a:p>
          <a:p>
            <a:pPr algn="l"/>
            <a:r>
              <a:rPr lang="en-US" altLang="ko-KR" b="0" dirty="0">
                <a:latin typeface="+mn-ea"/>
                <a:ea typeface="+mn-ea"/>
              </a:rPr>
              <a:t>-</a:t>
            </a:r>
            <a:r>
              <a:rPr lang="ko-KR" altLang="en-US" b="0" dirty="0">
                <a:latin typeface="+mn-ea"/>
                <a:ea typeface="+mn-ea"/>
              </a:rPr>
              <a:t>그룹 비교 분석</a:t>
            </a:r>
            <a:endParaRPr lang="en-US" altLang="ko-KR" b="0" dirty="0">
              <a:latin typeface="+mn-ea"/>
              <a:ea typeface="+mn-ea"/>
            </a:endParaRPr>
          </a:p>
          <a:p>
            <a:pPr algn="l"/>
            <a:endParaRPr lang="en-US" altLang="ko-KR" b="0" dirty="0">
              <a:latin typeface="+mn-ea"/>
              <a:ea typeface="+mn-ea"/>
            </a:endParaRPr>
          </a:p>
          <a:p>
            <a:pPr algn="l"/>
            <a:r>
              <a:rPr lang="en-US" altLang="ko-KR" b="0" dirty="0">
                <a:latin typeface="+mn-ea"/>
                <a:ea typeface="+mn-ea"/>
              </a:rPr>
              <a:t>-</a:t>
            </a:r>
            <a:r>
              <a:rPr lang="ko-KR" altLang="en-US" b="0" dirty="0">
                <a:latin typeface="+mn-ea"/>
                <a:ea typeface="+mn-ea"/>
              </a:rPr>
              <a:t>관계 분석</a:t>
            </a:r>
            <a:endParaRPr lang="en-US" altLang="ko-KR" b="0" dirty="0">
              <a:latin typeface="+mn-ea"/>
              <a:ea typeface="+mn-ea"/>
            </a:endParaRPr>
          </a:p>
          <a:p>
            <a:pPr algn="l"/>
            <a:endParaRPr lang="en-US" altLang="ko-KR" b="0" dirty="0">
              <a:latin typeface="+mn-ea"/>
              <a:ea typeface="+mn-ea"/>
            </a:endParaRPr>
          </a:p>
          <a:p>
            <a:pPr algn="l"/>
            <a:r>
              <a:rPr lang="en-US" altLang="ko-KR" b="0" dirty="0">
                <a:latin typeface="+mn-ea"/>
                <a:ea typeface="+mn-ea"/>
              </a:rPr>
              <a:t>-</a:t>
            </a:r>
            <a:r>
              <a:rPr lang="ko-KR" altLang="en-US" b="0" dirty="0">
                <a:latin typeface="+mn-ea"/>
                <a:ea typeface="+mn-ea"/>
              </a:rPr>
              <a:t>예측 분석</a:t>
            </a:r>
          </a:p>
        </p:txBody>
      </p:sp>
    </p:spTree>
    <p:extLst>
      <p:ext uri="{BB962C8B-B14F-4D97-AF65-F5344CB8AC3E}">
        <p14:creationId xmlns:p14="http://schemas.microsoft.com/office/powerpoint/2010/main" val="4816014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16AE39F7-3C2E-C1DE-59A9-BA9445CEACA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 err="1">
                <a:solidFill>
                  <a:srgbClr val="000000"/>
                </a:solidFill>
                <a:latin typeface="+mn-ea"/>
              </a:rPr>
              <a:t>ECMiner</a:t>
            </a:r>
            <a:r>
              <a:rPr lang="en-US" altLang="ko-KR" dirty="0">
                <a:solidFill>
                  <a:srgbClr val="000000"/>
                </a:solidFill>
                <a:latin typeface="+mn-ea"/>
              </a:rPr>
              <a:t>™ </a:t>
            </a:r>
            <a:r>
              <a:rPr lang="ko-KR" altLang="en-US" dirty="0">
                <a:solidFill>
                  <a:srgbClr val="000000"/>
                </a:solidFill>
                <a:latin typeface="+mn-ea"/>
              </a:rPr>
              <a:t>주요 기능 </a:t>
            </a:r>
            <a:r>
              <a:rPr lang="en-US" altLang="ko-KR" dirty="0">
                <a:solidFill>
                  <a:srgbClr val="000000"/>
                </a:solidFill>
                <a:latin typeface="+mn-ea"/>
              </a:rPr>
              <a:t>Overview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6F158B7-301E-9CEF-7BD2-C9030C0B049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 err="1">
                <a:solidFill>
                  <a:srgbClr val="000000"/>
                </a:solidFill>
                <a:latin typeface="맑은 고딕" pitchFamily="50" charset="-127"/>
                <a:cs typeface="Arial" pitchFamily="34" charset="0"/>
              </a:rPr>
              <a:t>ECMiner</a:t>
            </a:r>
            <a:r>
              <a:rPr lang="en-US" altLang="ko-KR" dirty="0">
                <a:solidFill>
                  <a:srgbClr val="000000"/>
                </a:solidFill>
                <a:latin typeface="맑은 고딕" pitchFamily="50" charset="-127"/>
                <a:cs typeface="Arial" pitchFamily="34" charset="0"/>
              </a:rPr>
              <a:t>™</a:t>
            </a:r>
            <a:r>
              <a:rPr lang="ko-KR" altLang="en-US" dirty="0">
                <a:solidFill>
                  <a:srgbClr val="000000"/>
                </a:solidFill>
                <a:latin typeface="맑은 고딕" pitchFamily="50" charset="-127"/>
                <a:cs typeface="Arial" pitchFamily="34" charset="0"/>
              </a:rPr>
              <a:t>은 </a:t>
            </a:r>
            <a:r>
              <a:rPr lang="ko-KR" altLang="en-US" dirty="0" err="1">
                <a:solidFill>
                  <a:srgbClr val="000000"/>
                </a:solidFill>
                <a:latin typeface="맑은 고딕" pitchFamily="50" charset="-127"/>
                <a:cs typeface="Arial" pitchFamily="34" charset="0"/>
              </a:rPr>
              <a:t>멀티모달</a:t>
            </a:r>
            <a:r>
              <a:rPr lang="ko-KR" altLang="en-US" dirty="0">
                <a:solidFill>
                  <a:srgbClr val="000000"/>
                </a:solidFill>
                <a:latin typeface="맑은 고딕" pitchFamily="50" charset="-127"/>
                <a:cs typeface="Arial" pitchFamily="34" charset="0"/>
              </a:rPr>
              <a:t> 데이터를 처리</a:t>
            </a:r>
            <a:r>
              <a:rPr lang="en-US" altLang="ko-KR" dirty="0">
                <a:solidFill>
                  <a:srgbClr val="000000"/>
                </a:solidFill>
                <a:latin typeface="맑은 고딕" pitchFamily="50" charset="-127"/>
                <a:cs typeface="Arial" pitchFamily="34" charset="0"/>
              </a:rPr>
              <a:t>/</a:t>
            </a:r>
            <a:r>
              <a:rPr lang="ko-KR" altLang="en-US" dirty="0">
                <a:solidFill>
                  <a:srgbClr val="000000"/>
                </a:solidFill>
                <a:latin typeface="맑은 고딕" pitchFamily="50" charset="-127"/>
                <a:cs typeface="Arial" pitchFamily="34" charset="0"/>
              </a:rPr>
              <a:t>분석하기 위한 통계</a:t>
            </a:r>
            <a:r>
              <a:rPr lang="en-US" altLang="ko-KR" dirty="0">
                <a:solidFill>
                  <a:srgbClr val="000000"/>
                </a:solidFill>
                <a:latin typeface="맑은 고딕" pitchFamily="50" charset="-127"/>
                <a:cs typeface="Arial" pitchFamily="34" charset="0"/>
              </a:rPr>
              <a:t>/</a:t>
            </a:r>
            <a:r>
              <a:rPr lang="ko-KR" altLang="en-US" dirty="0" err="1">
                <a:solidFill>
                  <a:srgbClr val="000000"/>
                </a:solidFill>
                <a:latin typeface="맑은 고딕" pitchFamily="50" charset="-127"/>
                <a:cs typeface="Arial" pitchFamily="34" charset="0"/>
              </a:rPr>
              <a:t>데이터마이닝</a:t>
            </a:r>
            <a:r>
              <a:rPr lang="en-US" altLang="ko-KR" dirty="0">
                <a:solidFill>
                  <a:srgbClr val="000000"/>
                </a:solidFill>
                <a:latin typeface="맑은 고딕" pitchFamily="50" charset="-127"/>
                <a:cs typeface="Arial" pitchFamily="34" charset="0"/>
              </a:rPr>
              <a:t>/</a:t>
            </a:r>
            <a:r>
              <a:rPr lang="ko-KR" altLang="en-US" dirty="0">
                <a:solidFill>
                  <a:srgbClr val="000000"/>
                </a:solidFill>
                <a:latin typeface="맑은 고딕" pitchFamily="50" charset="-127"/>
                <a:cs typeface="Arial" pitchFamily="34" charset="0"/>
              </a:rPr>
              <a:t>빅데이터</a:t>
            </a:r>
            <a:r>
              <a:rPr lang="en-US" altLang="ko-KR" dirty="0">
                <a:solidFill>
                  <a:srgbClr val="000000"/>
                </a:solidFill>
                <a:latin typeface="맑은 고딕" pitchFamily="50" charset="-127"/>
                <a:cs typeface="Arial" pitchFamily="34" charset="0"/>
              </a:rPr>
              <a:t>/</a:t>
            </a:r>
            <a:r>
              <a:rPr lang="ko-KR" altLang="en-US" dirty="0">
                <a:solidFill>
                  <a:srgbClr val="000000"/>
                </a:solidFill>
                <a:latin typeface="맑은 고딕" pitchFamily="50" charset="-127"/>
                <a:cs typeface="Arial" pitchFamily="34" charset="0"/>
              </a:rPr>
              <a:t>인공지능 </a:t>
            </a:r>
            <a:r>
              <a:rPr lang="ko-KR" altLang="en-US" dirty="0" err="1">
                <a:solidFill>
                  <a:srgbClr val="000000"/>
                </a:solidFill>
                <a:latin typeface="맑은 고딕" pitchFamily="50" charset="-127"/>
                <a:cs typeface="Arial" pitchFamily="34" charset="0"/>
              </a:rPr>
              <a:t>알고리듬을</a:t>
            </a:r>
            <a:r>
              <a:rPr lang="ko-KR" altLang="en-US" dirty="0">
                <a:solidFill>
                  <a:srgbClr val="000000"/>
                </a:solidFill>
                <a:latin typeface="맑은 고딕" pitchFamily="50" charset="-127"/>
                <a:cs typeface="Arial" pitchFamily="34" charset="0"/>
              </a:rPr>
              <a:t> 활용할 수 있는 통합 분석 환경을 제공합니다</a:t>
            </a:r>
            <a:r>
              <a:rPr lang="en-US" altLang="ko-KR" dirty="0">
                <a:solidFill>
                  <a:srgbClr val="000000"/>
                </a:solidFill>
                <a:latin typeface="맑은 고딕" pitchFamily="50" charset="-127"/>
                <a:cs typeface="Arial" pitchFamily="34" charset="0"/>
              </a:rPr>
              <a:t>. 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7D5BA9BF-6486-91CF-647C-7E7F9D93B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+mn-ea"/>
              </a:rPr>
              <a:t>2. </a:t>
            </a:r>
            <a:r>
              <a:rPr lang="en-US" altLang="ko-KR" dirty="0" err="1">
                <a:solidFill>
                  <a:schemeClr val="bg1"/>
                </a:solidFill>
                <a:latin typeface="+mn-ea"/>
              </a:rPr>
              <a:t>ECMiner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™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 주요 기능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948AD3C-5E04-CBC2-AD97-9D90CC4B734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0" name="육각형 9">
            <a:extLst>
              <a:ext uri="{FF2B5EF4-FFF2-40B4-BE49-F238E27FC236}">
                <a16:creationId xmlns:a16="http://schemas.microsoft.com/office/drawing/2014/main" id="{AA05BC39-9233-4925-DD78-07186ED27EB7}"/>
              </a:ext>
            </a:extLst>
          </p:cNvPr>
          <p:cNvSpPr>
            <a:spLocks noChangeAspect="1"/>
          </p:cNvSpPr>
          <p:nvPr/>
        </p:nvSpPr>
        <p:spPr bwMode="auto">
          <a:xfrm>
            <a:off x="2585444" y="2270782"/>
            <a:ext cx="1703305" cy="1437871"/>
          </a:xfrm>
          <a:prstGeom prst="hexagon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accent1"/>
            </a:solidFill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11" name="육각형 10">
            <a:hlinkClick r:id="" action="ppaction://noaction"/>
            <a:extLst>
              <a:ext uri="{FF2B5EF4-FFF2-40B4-BE49-F238E27FC236}">
                <a16:creationId xmlns:a16="http://schemas.microsoft.com/office/drawing/2014/main" id="{6ED7F8F8-F458-8345-CD20-4D1A9D0F04BD}"/>
              </a:ext>
            </a:extLst>
          </p:cNvPr>
          <p:cNvSpPr>
            <a:spLocks noChangeAspect="1"/>
          </p:cNvSpPr>
          <p:nvPr/>
        </p:nvSpPr>
        <p:spPr bwMode="auto">
          <a:xfrm>
            <a:off x="2550696" y="2236770"/>
            <a:ext cx="1774277" cy="1497783"/>
          </a:xfrm>
          <a:prstGeom prst="hexagon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1"/>
            </a:solidFill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B846F5-D8E8-EC69-B64F-B4B08C2143B4}"/>
              </a:ext>
            </a:extLst>
          </p:cNvPr>
          <p:cNvSpPr txBox="1">
            <a:spLocks noChangeAspect="1"/>
          </p:cNvSpPr>
          <p:nvPr/>
        </p:nvSpPr>
        <p:spPr>
          <a:xfrm>
            <a:off x="2876738" y="2609528"/>
            <a:ext cx="114967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>
                <a:latin typeface="+mn-ea"/>
                <a:ea typeface="+mn-ea"/>
              </a:rPr>
              <a:t>사용자의</a:t>
            </a:r>
            <a:endParaRPr lang="en-US" altLang="ko-KR" sz="1600" dirty="0">
              <a:latin typeface="+mn-ea"/>
              <a:ea typeface="+mn-ea"/>
            </a:endParaRPr>
          </a:p>
          <a:p>
            <a:pPr algn="ctr"/>
            <a:r>
              <a:rPr lang="ko-KR" altLang="en-US" sz="1600" dirty="0">
                <a:latin typeface="+mn-ea"/>
                <a:ea typeface="+mn-ea"/>
              </a:rPr>
              <a:t>문서 기반 </a:t>
            </a:r>
            <a:endParaRPr lang="en-US" altLang="ko-KR" sz="1600" dirty="0">
              <a:latin typeface="+mn-ea"/>
              <a:ea typeface="+mn-ea"/>
            </a:endParaRPr>
          </a:p>
          <a:p>
            <a:pPr algn="ctr"/>
            <a:r>
              <a:rPr lang="ko-KR" altLang="en-US" sz="1600" dirty="0">
                <a:latin typeface="+mn-ea"/>
                <a:ea typeface="+mn-ea"/>
              </a:rPr>
              <a:t>질의 검색 </a:t>
            </a:r>
          </a:p>
        </p:txBody>
      </p:sp>
      <p:sp>
        <p:nvSpPr>
          <p:cNvPr id="16" name="육각형 15">
            <a:extLst>
              <a:ext uri="{FF2B5EF4-FFF2-40B4-BE49-F238E27FC236}">
                <a16:creationId xmlns:a16="http://schemas.microsoft.com/office/drawing/2014/main" id="{A8E43ECA-E1C0-C30E-739B-BDDCC811EBBB}"/>
              </a:ext>
            </a:extLst>
          </p:cNvPr>
          <p:cNvSpPr>
            <a:spLocks noChangeAspect="1"/>
          </p:cNvSpPr>
          <p:nvPr/>
        </p:nvSpPr>
        <p:spPr bwMode="auto">
          <a:xfrm>
            <a:off x="4013373" y="3020098"/>
            <a:ext cx="1774277" cy="1497783"/>
          </a:xfrm>
          <a:prstGeom prst="hexagon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1"/>
            </a:solidFill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236A83-2C0C-439E-DE5B-6DCC21ADF847}"/>
              </a:ext>
            </a:extLst>
          </p:cNvPr>
          <p:cNvSpPr txBox="1">
            <a:spLocks noChangeAspect="1"/>
          </p:cNvSpPr>
          <p:nvPr/>
        </p:nvSpPr>
        <p:spPr>
          <a:xfrm>
            <a:off x="4026835" y="3366171"/>
            <a:ext cx="176362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>
                <a:latin typeface="+mn-ea"/>
                <a:ea typeface="+mn-ea"/>
              </a:rPr>
              <a:t>인공지능</a:t>
            </a:r>
            <a:endParaRPr lang="en-US" altLang="ko-KR" sz="1600" dirty="0">
              <a:latin typeface="+mn-ea"/>
              <a:ea typeface="+mn-ea"/>
            </a:endParaRPr>
          </a:p>
          <a:p>
            <a:pPr algn="ctr"/>
            <a:r>
              <a:rPr lang="en-US" altLang="ko-KR" sz="1600" dirty="0">
                <a:latin typeface="+mn-ea"/>
                <a:ea typeface="+mn-ea"/>
              </a:rPr>
              <a:t>DNN/CNN/RNN</a:t>
            </a:r>
          </a:p>
          <a:p>
            <a:pPr algn="ctr"/>
            <a:r>
              <a:rPr lang="en-US" altLang="ko-KR" sz="1600" dirty="0">
                <a:latin typeface="+mn-ea"/>
                <a:ea typeface="+mn-ea"/>
              </a:rPr>
              <a:t>/</a:t>
            </a:r>
            <a:r>
              <a:rPr lang="en-US" altLang="ko-KR" sz="1600" dirty="0" err="1">
                <a:latin typeface="+mn-ea"/>
                <a:ea typeface="+mn-ea"/>
              </a:rPr>
              <a:t>sLLM</a:t>
            </a:r>
            <a:endParaRPr lang="ko-KR" altLang="en-US" sz="1600" dirty="0">
              <a:latin typeface="+mn-ea"/>
              <a:ea typeface="+mn-ea"/>
            </a:endParaRPr>
          </a:p>
        </p:txBody>
      </p:sp>
      <p:sp>
        <p:nvSpPr>
          <p:cNvPr id="21" name="육각형 20">
            <a:extLst>
              <a:ext uri="{FF2B5EF4-FFF2-40B4-BE49-F238E27FC236}">
                <a16:creationId xmlns:a16="http://schemas.microsoft.com/office/drawing/2014/main" id="{FEF081ED-1A22-4766-F524-056F9D6E7863}"/>
              </a:ext>
            </a:extLst>
          </p:cNvPr>
          <p:cNvSpPr>
            <a:spLocks noChangeAspect="1"/>
          </p:cNvSpPr>
          <p:nvPr/>
        </p:nvSpPr>
        <p:spPr bwMode="auto">
          <a:xfrm>
            <a:off x="4013373" y="1453442"/>
            <a:ext cx="1774277" cy="1497783"/>
          </a:xfrm>
          <a:prstGeom prst="hexagon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1"/>
            </a:solidFill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7FE752F-EA35-217A-020B-D873DDCAE360}"/>
              </a:ext>
            </a:extLst>
          </p:cNvPr>
          <p:cNvSpPr txBox="1">
            <a:spLocks noChangeAspect="1"/>
          </p:cNvSpPr>
          <p:nvPr/>
        </p:nvSpPr>
        <p:spPr>
          <a:xfrm>
            <a:off x="4131329" y="1664216"/>
            <a:ext cx="157927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>
                <a:latin typeface="+mn-ea"/>
                <a:ea typeface="+mn-ea"/>
              </a:rPr>
              <a:t>멀티미디어 </a:t>
            </a:r>
            <a:endParaRPr lang="en-US" altLang="ko-KR" sz="1600" dirty="0">
              <a:latin typeface="+mn-ea"/>
              <a:ea typeface="+mn-ea"/>
            </a:endParaRPr>
          </a:p>
          <a:p>
            <a:pPr algn="ctr"/>
            <a:r>
              <a:rPr lang="ko-KR" altLang="en-US" sz="1600" dirty="0">
                <a:latin typeface="+mn-ea"/>
                <a:ea typeface="+mn-ea"/>
              </a:rPr>
              <a:t>데이터</a:t>
            </a:r>
            <a:endParaRPr lang="en-US" altLang="ko-KR" sz="1600" dirty="0">
              <a:latin typeface="+mn-ea"/>
              <a:ea typeface="+mn-ea"/>
            </a:endParaRPr>
          </a:p>
          <a:p>
            <a:pPr algn="ctr"/>
            <a:r>
              <a:rPr lang="en-US" altLang="ko-KR" sz="1600" dirty="0">
                <a:latin typeface="+mn-ea"/>
                <a:ea typeface="+mn-ea"/>
              </a:rPr>
              <a:t>(</a:t>
            </a:r>
            <a:r>
              <a:rPr lang="ko-KR" altLang="en-US" sz="1600" dirty="0">
                <a:latin typeface="+mn-ea"/>
                <a:ea typeface="+mn-ea"/>
              </a:rPr>
              <a:t>텍스트</a:t>
            </a:r>
            <a:r>
              <a:rPr lang="en-US" altLang="ko-KR" sz="1600" dirty="0">
                <a:latin typeface="+mn-ea"/>
                <a:ea typeface="+mn-ea"/>
              </a:rPr>
              <a:t>/</a:t>
            </a:r>
            <a:r>
              <a:rPr lang="ko-KR" altLang="en-US" sz="1600" dirty="0">
                <a:latin typeface="+mn-ea"/>
                <a:ea typeface="+mn-ea"/>
              </a:rPr>
              <a:t>이미지</a:t>
            </a:r>
            <a:endParaRPr lang="en-US" altLang="ko-KR" sz="1600" dirty="0">
              <a:latin typeface="+mn-ea"/>
              <a:ea typeface="+mn-ea"/>
            </a:endParaRPr>
          </a:p>
          <a:p>
            <a:pPr algn="ctr"/>
            <a:r>
              <a:rPr lang="en-US" altLang="ko-KR" sz="1600" dirty="0">
                <a:latin typeface="+mn-ea"/>
                <a:ea typeface="+mn-ea"/>
              </a:rPr>
              <a:t>/</a:t>
            </a:r>
            <a:r>
              <a:rPr lang="ko-KR" altLang="en-US" sz="1600" dirty="0">
                <a:latin typeface="+mn-ea"/>
                <a:ea typeface="+mn-ea"/>
              </a:rPr>
              <a:t>동영상 등</a:t>
            </a:r>
            <a:r>
              <a:rPr lang="en-US" altLang="ko-KR" sz="1600" dirty="0">
                <a:latin typeface="+mn-ea"/>
                <a:ea typeface="+mn-ea"/>
              </a:rPr>
              <a:t>)</a:t>
            </a:r>
            <a:endParaRPr lang="ko-KR" altLang="en-US" sz="1600" dirty="0">
              <a:latin typeface="+mn-ea"/>
              <a:ea typeface="+mn-ea"/>
            </a:endParaRPr>
          </a:p>
        </p:txBody>
      </p:sp>
      <p:sp>
        <p:nvSpPr>
          <p:cNvPr id="25" name="육각형 24">
            <a:extLst>
              <a:ext uri="{FF2B5EF4-FFF2-40B4-BE49-F238E27FC236}">
                <a16:creationId xmlns:a16="http://schemas.microsoft.com/office/drawing/2014/main" id="{DC27512E-E966-5792-C6CF-7D188BBA7C36}"/>
              </a:ext>
            </a:extLst>
          </p:cNvPr>
          <p:cNvSpPr>
            <a:spLocks noChangeAspect="1"/>
          </p:cNvSpPr>
          <p:nvPr/>
        </p:nvSpPr>
        <p:spPr bwMode="auto">
          <a:xfrm>
            <a:off x="5510798" y="2270782"/>
            <a:ext cx="1703305" cy="1437871"/>
          </a:xfrm>
          <a:prstGeom prst="hexagon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26" name="육각형 25">
            <a:extLst>
              <a:ext uri="{FF2B5EF4-FFF2-40B4-BE49-F238E27FC236}">
                <a16:creationId xmlns:a16="http://schemas.microsoft.com/office/drawing/2014/main" id="{2864A86E-0C91-7602-1CAB-40232A6818AC}"/>
              </a:ext>
            </a:extLst>
          </p:cNvPr>
          <p:cNvSpPr>
            <a:spLocks noChangeAspect="1"/>
          </p:cNvSpPr>
          <p:nvPr/>
        </p:nvSpPr>
        <p:spPr bwMode="auto">
          <a:xfrm>
            <a:off x="5476050" y="2240826"/>
            <a:ext cx="1774277" cy="1497783"/>
          </a:xfrm>
          <a:prstGeom prst="hexagon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50384F1-CBEA-0E77-0AEA-5D3564C484C8}"/>
              </a:ext>
            </a:extLst>
          </p:cNvPr>
          <p:cNvSpPr txBox="1">
            <a:spLocks noChangeAspect="1"/>
          </p:cNvSpPr>
          <p:nvPr/>
        </p:nvSpPr>
        <p:spPr>
          <a:xfrm>
            <a:off x="5652897" y="2714505"/>
            <a:ext cx="14205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>
                <a:latin typeface="+mn-ea"/>
                <a:ea typeface="+mn-ea"/>
              </a:rPr>
              <a:t>GPU </a:t>
            </a:r>
            <a:r>
              <a:rPr lang="ko-KR" altLang="en-US" sz="1600" dirty="0">
                <a:latin typeface="+mn-ea"/>
                <a:ea typeface="+mn-ea"/>
              </a:rPr>
              <a:t>활용</a:t>
            </a:r>
            <a:endParaRPr lang="en-US" altLang="ko-KR" sz="1600" dirty="0">
              <a:latin typeface="+mn-ea"/>
              <a:ea typeface="+mn-ea"/>
            </a:endParaRPr>
          </a:p>
          <a:p>
            <a:pPr algn="ctr"/>
            <a:r>
              <a:rPr lang="en-US" altLang="ko-KR" sz="1600" dirty="0">
                <a:latin typeface="+mn-ea"/>
                <a:ea typeface="+mn-ea"/>
              </a:rPr>
              <a:t>Visualization</a:t>
            </a:r>
          </a:p>
        </p:txBody>
      </p:sp>
      <p:sp>
        <p:nvSpPr>
          <p:cNvPr id="30" name="육각형 29">
            <a:extLst>
              <a:ext uri="{FF2B5EF4-FFF2-40B4-BE49-F238E27FC236}">
                <a16:creationId xmlns:a16="http://schemas.microsoft.com/office/drawing/2014/main" id="{1DFE975E-CB2B-1EEA-448D-A88C52BF4DAC}"/>
              </a:ext>
            </a:extLst>
          </p:cNvPr>
          <p:cNvSpPr>
            <a:spLocks noChangeAspect="1"/>
          </p:cNvSpPr>
          <p:nvPr/>
        </p:nvSpPr>
        <p:spPr bwMode="auto">
          <a:xfrm>
            <a:off x="6973476" y="3055589"/>
            <a:ext cx="1703305" cy="1437871"/>
          </a:xfrm>
          <a:prstGeom prst="hexagon">
            <a:avLst/>
          </a:prstGeom>
          <a:solidFill>
            <a:srgbClr val="FFFFCC"/>
          </a:solidFill>
          <a:ln w="12700">
            <a:solidFill>
              <a:schemeClr val="accent1"/>
            </a:solidFill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31" name="육각형 30">
            <a:extLst>
              <a:ext uri="{FF2B5EF4-FFF2-40B4-BE49-F238E27FC236}">
                <a16:creationId xmlns:a16="http://schemas.microsoft.com/office/drawing/2014/main" id="{530145A7-4947-9479-F383-91B56AB16989}"/>
              </a:ext>
            </a:extLst>
          </p:cNvPr>
          <p:cNvSpPr>
            <a:spLocks noChangeAspect="1"/>
          </p:cNvSpPr>
          <p:nvPr/>
        </p:nvSpPr>
        <p:spPr bwMode="auto">
          <a:xfrm>
            <a:off x="6938728" y="3025633"/>
            <a:ext cx="1774277" cy="1497783"/>
          </a:xfrm>
          <a:prstGeom prst="hexagon">
            <a:avLst/>
          </a:prstGeom>
          <a:solidFill>
            <a:srgbClr val="FFFFCC"/>
          </a:solidFill>
          <a:ln>
            <a:solidFill>
              <a:schemeClr val="accent1"/>
            </a:solidFill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2A89102-336B-0EC8-B78C-430F682C4B6D}"/>
              </a:ext>
            </a:extLst>
          </p:cNvPr>
          <p:cNvSpPr txBox="1">
            <a:spLocks noChangeAspect="1"/>
          </p:cNvSpPr>
          <p:nvPr/>
        </p:nvSpPr>
        <p:spPr>
          <a:xfrm>
            <a:off x="7285558" y="3506593"/>
            <a:ext cx="1079143" cy="584775"/>
          </a:xfrm>
          <a:prstGeom prst="rect">
            <a:avLst/>
          </a:prstGeom>
          <a:solidFill>
            <a:srgbClr val="FFFFCC"/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>
                <a:latin typeface="+mn-ea"/>
                <a:ea typeface="+mn-ea"/>
              </a:rPr>
              <a:t>파이썬 </a:t>
            </a:r>
            <a:r>
              <a:rPr lang="en-US" altLang="ko-KR" sz="1600" dirty="0">
                <a:latin typeface="+mn-ea"/>
                <a:ea typeface="+mn-ea"/>
              </a:rPr>
              <a:t>R </a:t>
            </a:r>
          </a:p>
          <a:p>
            <a:pPr algn="ctr"/>
            <a:r>
              <a:rPr lang="ko-KR" altLang="en-US" sz="1600" dirty="0">
                <a:latin typeface="+mn-ea"/>
                <a:ea typeface="+mn-ea"/>
              </a:rPr>
              <a:t>연동</a:t>
            </a:r>
            <a:endParaRPr lang="en-US" altLang="ko-KR" sz="1600" dirty="0">
              <a:latin typeface="+mn-ea"/>
              <a:ea typeface="+mn-ea"/>
            </a:endParaRPr>
          </a:p>
        </p:txBody>
      </p:sp>
      <p:sp>
        <p:nvSpPr>
          <p:cNvPr id="35" name="육각형 34">
            <a:extLst>
              <a:ext uri="{FF2B5EF4-FFF2-40B4-BE49-F238E27FC236}">
                <a16:creationId xmlns:a16="http://schemas.microsoft.com/office/drawing/2014/main" id="{6BD03E2A-E4FC-034E-ECF4-3042B709FF45}"/>
              </a:ext>
            </a:extLst>
          </p:cNvPr>
          <p:cNvSpPr>
            <a:spLocks noChangeAspect="1"/>
          </p:cNvSpPr>
          <p:nvPr/>
        </p:nvSpPr>
        <p:spPr bwMode="auto">
          <a:xfrm>
            <a:off x="1122767" y="1483398"/>
            <a:ext cx="1703305" cy="1437871"/>
          </a:xfrm>
          <a:prstGeom prst="hexagon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36" name="육각형 35">
            <a:extLst>
              <a:ext uri="{FF2B5EF4-FFF2-40B4-BE49-F238E27FC236}">
                <a16:creationId xmlns:a16="http://schemas.microsoft.com/office/drawing/2014/main" id="{CDF3F652-1803-3097-7D34-ECF08C7BF4AE}"/>
              </a:ext>
            </a:extLst>
          </p:cNvPr>
          <p:cNvSpPr>
            <a:spLocks noChangeAspect="1"/>
          </p:cNvSpPr>
          <p:nvPr/>
        </p:nvSpPr>
        <p:spPr bwMode="auto">
          <a:xfrm>
            <a:off x="1088019" y="1453442"/>
            <a:ext cx="1774277" cy="1497783"/>
          </a:xfrm>
          <a:prstGeom prst="hexagon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1E0D694-99D0-309D-40EA-0BF933B46790}"/>
              </a:ext>
            </a:extLst>
          </p:cNvPr>
          <p:cNvSpPr txBox="1">
            <a:spLocks noChangeAspect="1"/>
          </p:cNvSpPr>
          <p:nvPr/>
        </p:nvSpPr>
        <p:spPr>
          <a:xfrm>
            <a:off x="1255424" y="1784063"/>
            <a:ext cx="14446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>
                <a:latin typeface="+mn-ea"/>
                <a:ea typeface="+mn-ea"/>
              </a:rPr>
              <a:t>파일 업로드</a:t>
            </a:r>
            <a:r>
              <a:rPr lang="en-US" altLang="ko-KR" sz="1600" dirty="0">
                <a:latin typeface="+mn-ea"/>
                <a:ea typeface="+mn-ea"/>
              </a:rPr>
              <a:t>/</a:t>
            </a:r>
            <a:r>
              <a:rPr lang="ko-KR" altLang="en-US" sz="1600" dirty="0">
                <a:latin typeface="+mn-ea"/>
                <a:ea typeface="+mn-ea"/>
              </a:rPr>
              <a:t> </a:t>
            </a:r>
            <a:endParaRPr lang="en-US" altLang="ko-KR" sz="1600" dirty="0">
              <a:latin typeface="+mn-ea"/>
              <a:ea typeface="+mn-ea"/>
            </a:endParaRPr>
          </a:p>
          <a:p>
            <a:pPr algn="ctr"/>
            <a:r>
              <a:rPr lang="ko-KR" altLang="en-US" sz="1600" dirty="0">
                <a:latin typeface="+mn-ea"/>
                <a:ea typeface="+mn-ea"/>
              </a:rPr>
              <a:t>적재</a:t>
            </a:r>
            <a:endParaRPr lang="en-US" altLang="ko-KR" sz="1600" dirty="0">
              <a:latin typeface="+mn-ea"/>
              <a:ea typeface="+mn-ea"/>
            </a:endParaRPr>
          </a:p>
        </p:txBody>
      </p:sp>
      <p:sp>
        <p:nvSpPr>
          <p:cNvPr id="40" name="육각형 39">
            <a:extLst>
              <a:ext uri="{FF2B5EF4-FFF2-40B4-BE49-F238E27FC236}">
                <a16:creationId xmlns:a16="http://schemas.microsoft.com/office/drawing/2014/main" id="{B089FD15-7993-A803-4769-A4D001EEBB80}"/>
              </a:ext>
            </a:extLst>
          </p:cNvPr>
          <p:cNvSpPr>
            <a:spLocks noChangeAspect="1"/>
          </p:cNvSpPr>
          <p:nvPr/>
        </p:nvSpPr>
        <p:spPr bwMode="auto">
          <a:xfrm>
            <a:off x="6973476" y="1483398"/>
            <a:ext cx="1703305" cy="1437871"/>
          </a:xfrm>
          <a:prstGeom prst="hexagon">
            <a:avLst/>
          </a:prstGeom>
          <a:solidFill>
            <a:srgbClr val="FFFFCC"/>
          </a:solidFill>
          <a:ln w="12700">
            <a:solidFill>
              <a:schemeClr val="accent1"/>
            </a:solidFill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41" name="육각형 40">
            <a:extLst>
              <a:ext uri="{FF2B5EF4-FFF2-40B4-BE49-F238E27FC236}">
                <a16:creationId xmlns:a16="http://schemas.microsoft.com/office/drawing/2014/main" id="{61F9EAED-B530-DB0A-F6BD-4A568F96C797}"/>
              </a:ext>
            </a:extLst>
          </p:cNvPr>
          <p:cNvSpPr>
            <a:spLocks noChangeAspect="1"/>
          </p:cNvSpPr>
          <p:nvPr/>
        </p:nvSpPr>
        <p:spPr bwMode="auto">
          <a:xfrm>
            <a:off x="6938728" y="1453442"/>
            <a:ext cx="1774277" cy="1497783"/>
          </a:xfrm>
          <a:prstGeom prst="hexagon">
            <a:avLst/>
          </a:prstGeom>
          <a:solidFill>
            <a:srgbClr val="FFFFCC"/>
          </a:solidFill>
          <a:ln>
            <a:solidFill>
              <a:schemeClr val="accent1"/>
            </a:solidFill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B4E3BCE-B511-41F6-2B1B-F6D221292F22}"/>
              </a:ext>
            </a:extLst>
          </p:cNvPr>
          <p:cNvSpPr txBox="1">
            <a:spLocks noChangeAspect="1"/>
          </p:cNvSpPr>
          <p:nvPr/>
        </p:nvSpPr>
        <p:spPr>
          <a:xfrm>
            <a:off x="7117202" y="1975887"/>
            <a:ext cx="15359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 err="1">
                <a:latin typeface="+mn-ea"/>
                <a:ea typeface="+mn-ea"/>
              </a:rPr>
              <a:t>ECMinerIMS</a:t>
            </a:r>
            <a:r>
              <a:rPr lang="en-US" altLang="ko-KR" sz="1600" dirty="0">
                <a:latin typeface="+mn-ea"/>
                <a:ea typeface="+mn-ea"/>
              </a:rPr>
              <a:t>™</a:t>
            </a:r>
          </a:p>
          <a:p>
            <a:pPr algn="ctr"/>
            <a:r>
              <a:rPr lang="ko-KR" altLang="en-US" sz="1600" dirty="0">
                <a:latin typeface="+mn-ea"/>
                <a:ea typeface="+mn-ea"/>
              </a:rPr>
              <a:t>연동</a:t>
            </a:r>
            <a:endParaRPr lang="en-US" altLang="ko-KR" sz="1600" dirty="0">
              <a:latin typeface="+mn-ea"/>
              <a:ea typeface="+mn-ea"/>
            </a:endParaRPr>
          </a:p>
        </p:txBody>
      </p:sp>
      <p:sp>
        <p:nvSpPr>
          <p:cNvPr id="43" name="육각형 42">
            <a:extLst>
              <a:ext uri="{FF2B5EF4-FFF2-40B4-BE49-F238E27FC236}">
                <a16:creationId xmlns:a16="http://schemas.microsoft.com/office/drawing/2014/main" id="{EA17B9A1-8513-25DF-1E53-20CEB1F90BFC}"/>
              </a:ext>
            </a:extLst>
          </p:cNvPr>
          <p:cNvSpPr>
            <a:spLocks noChangeAspect="1"/>
          </p:cNvSpPr>
          <p:nvPr/>
        </p:nvSpPr>
        <p:spPr bwMode="auto">
          <a:xfrm>
            <a:off x="5476050" y="3803425"/>
            <a:ext cx="1774277" cy="1497783"/>
          </a:xfrm>
          <a:prstGeom prst="hexagon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476C74F-94F1-9642-DFCA-D0B374C3EE49}"/>
              </a:ext>
            </a:extLst>
          </p:cNvPr>
          <p:cNvSpPr txBox="1">
            <a:spLocks noChangeAspect="1"/>
          </p:cNvSpPr>
          <p:nvPr/>
        </p:nvSpPr>
        <p:spPr>
          <a:xfrm>
            <a:off x="5822816" y="4397330"/>
            <a:ext cx="1080745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>
                <a:latin typeface="+mn-ea"/>
                <a:ea typeface="+mn-ea"/>
              </a:rPr>
              <a:t>AI </a:t>
            </a:r>
            <a:r>
              <a:rPr lang="ko-KR" altLang="en-US" sz="1600" dirty="0">
                <a:latin typeface="+mn-ea"/>
                <a:ea typeface="+mn-ea"/>
              </a:rPr>
              <a:t>마법사</a:t>
            </a:r>
            <a:endParaRPr lang="en-US" altLang="ko-KR" sz="1600" dirty="0">
              <a:latin typeface="+mn-ea"/>
              <a:ea typeface="+mn-ea"/>
            </a:endParaRPr>
          </a:p>
        </p:txBody>
      </p:sp>
      <p:sp>
        <p:nvSpPr>
          <p:cNvPr id="45" name="육각형 44">
            <a:hlinkClick r:id="" action="ppaction://noaction"/>
            <a:extLst>
              <a:ext uri="{FF2B5EF4-FFF2-40B4-BE49-F238E27FC236}">
                <a16:creationId xmlns:a16="http://schemas.microsoft.com/office/drawing/2014/main" id="{98B305DB-EB82-D3E9-2A69-3DECCF3D7104}"/>
              </a:ext>
            </a:extLst>
          </p:cNvPr>
          <p:cNvSpPr>
            <a:spLocks noChangeAspect="1"/>
          </p:cNvSpPr>
          <p:nvPr/>
        </p:nvSpPr>
        <p:spPr bwMode="auto">
          <a:xfrm>
            <a:off x="2550696" y="3803425"/>
            <a:ext cx="1774277" cy="1497783"/>
          </a:xfrm>
          <a:prstGeom prst="hexagon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1"/>
            </a:solidFill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51" name="육각형 50">
            <a:extLst>
              <a:ext uri="{FF2B5EF4-FFF2-40B4-BE49-F238E27FC236}">
                <a16:creationId xmlns:a16="http://schemas.microsoft.com/office/drawing/2014/main" id="{1116FDCC-F407-8AD6-4FEF-CCFDA0A01684}"/>
              </a:ext>
            </a:extLst>
          </p:cNvPr>
          <p:cNvSpPr>
            <a:spLocks noChangeAspect="1"/>
          </p:cNvSpPr>
          <p:nvPr/>
        </p:nvSpPr>
        <p:spPr bwMode="auto">
          <a:xfrm>
            <a:off x="1122767" y="3055589"/>
            <a:ext cx="1703305" cy="1437871"/>
          </a:xfrm>
          <a:prstGeom prst="hexagon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52" name="육각형 51">
            <a:extLst>
              <a:ext uri="{FF2B5EF4-FFF2-40B4-BE49-F238E27FC236}">
                <a16:creationId xmlns:a16="http://schemas.microsoft.com/office/drawing/2014/main" id="{B72A78F7-5A6D-42CF-441F-686677A0C8D5}"/>
              </a:ext>
            </a:extLst>
          </p:cNvPr>
          <p:cNvSpPr>
            <a:spLocks noChangeAspect="1"/>
          </p:cNvSpPr>
          <p:nvPr/>
        </p:nvSpPr>
        <p:spPr bwMode="auto">
          <a:xfrm>
            <a:off x="1088019" y="3025633"/>
            <a:ext cx="1774277" cy="1497783"/>
          </a:xfrm>
          <a:prstGeom prst="hexagon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C8A6B94-C9EA-8DCD-908C-01BAAD5EE3C1}"/>
              </a:ext>
            </a:extLst>
          </p:cNvPr>
          <p:cNvSpPr txBox="1">
            <a:spLocks noChangeAspect="1"/>
          </p:cNvSpPr>
          <p:nvPr/>
        </p:nvSpPr>
        <p:spPr>
          <a:xfrm>
            <a:off x="1401512" y="3492297"/>
            <a:ext cx="11528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>
                <a:latin typeface="+mn-ea"/>
                <a:ea typeface="+mn-ea"/>
              </a:rPr>
              <a:t>Collection</a:t>
            </a:r>
          </a:p>
          <a:p>
            <a:pPr algn="ctr"/>
            <a:r>
              <a:rPr lang="ko-KR" altLang="en-US" sz="1600" dirty="0">
                <a:latin typeface="+mn-ea"/>
                <a:ea typeface="+mn-ea"/>
              </a:rPr>
              <a:t>선택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AFA8B013-032F-8370-2513-49D19D0894CB}"/>
              </a:ext>
            </a:extLst>
          </p:cNvPr>
          <p:cNvSpPr/>
          <p:nvPr/>
        </p:nvSpPr>
        <p:spPr bwMode="auto">
          <a:xfrm>
            <a:off x="1640632" y="5589240"/>
            <a:ext cx="6840760" cy="792088"/>
          </a:xfrm>
          <a:prstGeom prst="roundRect">
            <a:avLst/>
          </a:prstGeom>
          <a:solidFill>
            <a:schemeClr val="accent2"/>
          </a:solidFill>
          <a:ln>
            <a:solidFill>
              <a:schemeClr val="tx1"/>
            </a:solidFill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r>
              <a:rPr lang="ko-KR" altLang="en-US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설명형 </a:t>
            </a:r>
            <a:r>
              <a:rPr lang="en-US" altLang="ko-KR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</a:t>
            </a:r>
            <a:r>
              <a:rPr lang="ko-KR" altLang="en-US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기능</a:t>
            </a:r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87803B34-EBA5-B9C3-8988-733A08E666A2}"/>
              </a:ext>
            </a:extLst>
          </p:cNvPr>
          <p:cNvSpPr/>
          <p:nvPr/>
        </p:nvSpPr>
        <p:spPr bwMode="auto">
          <a:xfrm>
            <a:off x="2550696" y="5877272"/>
            <a:ext cx="890136" cy="216024"/>
          </a:xfrm>
          <a:prstGeom prst="rightArrow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96276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363AC-CF40-059D-CC51-F3968425E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22CC25-E2C2-5E94-4857-DEBC13651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ko-KR" sz="2000" dirty="0">
                <a:solidFill>
                  <a:schemeClr val="bg1"/>
                </a:solidFill>
                <a:latin typeface="+mn-ea"/>
                <a:ea typeface="+mn-ea"/>
                <a:cs typeface="Arial" charset="0"/>
              </a:rPr>
              <a:t>4. Digital Transformation with ECMiner™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DFD7490-F3CC-3EC5-DE11-EEB33DA9790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b="1">
                <a:latin typeface="+mn-ea"/>
              </a:rPr>
              <a:t>단계적 </a:t>
            </a:r>
            <a:r>
              <a:rPr lang="en-US" altLang="ko-KR" b="1">
                <a:latin typeface="+mn-ea"/>
              </a:rPr>
              <a:t>DT </a:t>
            </a:r>
            <a:r>
              <a:rPr lang="ko-KR" altLang="en-US" b="1">
                <a:latin typeface="+mn-ea"/>
              </a:rPr>
              <a:t>달성 전략</a:t>
            </a:r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D88F98C-A88C-4ADC-AC33-A5CA287447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b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ECMiner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™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을 활용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하여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1)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업무에 데이터를 활용하는 시민데이터 과학자 양성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2)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주제에 대한 빅데이터 분석을 통한 개선방안도출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3)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업무에 개선안 반영을 통한 업무혁신을 달성할 수 있습니다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83ED449-DD12-F2CE-508D-8E97DB32525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04A8D870-7B26-1CF2-EAA0-E46A63C35A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066" y="3268689"/>
            <a:ext cx="2608003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810" tIns="0" rIns="3810" bIns="0" anchor="b">
            <a:spAutoFit/>
          </a:bodyPr>
          <a:lstStyle>
            <a:lvl1pPr defTabSz="895350" eaLnBrk="0" hangingPunct="0">
              <a:defRPr kumimoji="1" sz="1200">
                <a:solidFill>
                  <a:schemeClr val="tx1"/>
                </a:solidFill>
                <a:latin typeface="휴먼새내기체" pitchFamily="18" charset="-127"/>
                <a:ea typeface="굴림" panose="020B0600000101010101" pitchFamily="50" charset="-127"/>
              </a:defRPr>
            </a:lvl1pPr>
            <a:lvl2pPr marL="742950" indent="-285750" defTabSz="895350" eaLnBrk="0" hangingPunct="0">
              <a:defRPr kumimoji="1" sz="1200">
                <a:solidFill>
                  <a:schemeClr val="tx1"/>
                </a:solidFill>
                <a:latin typeface="휴먼새내기체" pitchFamily="18" charset="-127"/>
                <a:ea typeface="굴림" panose="020B0600000101010101" pitchFamily="50" charset="-127"/>
              </a:defRPr>
            </a:lvl2pPr>
            <a:lvl3pPr marL="1143000" indent="-228600" defTabSz="895350" eaLnBrk="0" hangingPunct="0">
              <a:defRPr kumimoji="1" sz="1200">
                <a:solidFill>
                  <a:schemeClr val="tx1"/>
                </a:solidFill>
                <a:latin typeface="휴먼새내기체" pitchFamily="18" charset="-127"/>
                <a:ea typeface="굴림" panose="020B0600000101010101" pitchFamily="50" charset="-127"/>
              </a:defRPr>
            </a:lvl3pPr>
            <a:lvl4pPr marL="1600200" indent="-228600" defTabSz="895350" eaLnBrk="0" hangingPunct="0">
              <a:defRPr kumimoji="1" sz="1200">
                <a:solidFill>
                  <a:schemeClr val="tx1"/>
                </a:solidFill>
                <a:latin typeface="휴먼새내기체" pitchFamily="18" charset="-127"/>
                <a:ea typeface="굴림" panose="020B0600000101010101" pitchFamily="50" charset="-127"/>
              </a:defRPr>
            </a:lvl4pPr>
            <a:lvl5pPr marL="2057400" indent="-228600" defTabSz="895350" eaLnBrk="0" hangingPunct="0">
              <a:defRPr kumimoji="1" sz="1200">
                <a:solidFill>
                  <a:schemeClr val="tx1"/>
                </a:solidFill>
                <a:latin typeface="휴먼새내기체" pitchFamily="18" charset="-127"/>
                <a:ea typeface="굴림" panose="020B0600000101010101" pitchFamily="50" charset="-127"/>
              </a:defRPr>
            </a:lvl5pPr>
            <a:lvl6pPr marL="2514600" indent="-228600" defTabSz="89535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  <a:defRPr kumimoji="1" sz="1200">
                <a:solidFill>
                  <a:schemeClr val="tx1"/>
                </a:solidFill>
                <a:latin typeface="휴먼새내기체" pitchFamily="18" charset="-127"/>
                <a:ea typeface="굴림" panose="020B0600000101010101" pitchFamily="50" charset="-127"/>
              </a:defRPr>
            </a:lvl6pPr>
            <a:lvl7pPr marL="2971800" indent="-228600" defTabSz="89535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  <a:defRPr kumimoji="1" sz="1200">
                <a:solidFill>
                  <a:schemeClr val="tx1"/>
                </a:solidFill>
                <a:latin typeface="휴먼새내기체" pitchFamily="18" charset="-127"/>
                <a:ea typeface="굴림" panose="020B0600000101010101" pitchFamily="50" charset="-127"/>
              </a:defRPr>
            </a:lvl7pPr>
            <a:lvl8pPr marL="3429000" indent="-228600" defTabSz="89535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  <a:defRPr kumimoji="1" sz="1200">
                <a:solidFill>
                  <a:schemeClr val="tx1"/>
                </a:solidFill>
                <a:latin typeface="휴먼새내기체" pitchFamily="18" charset="-127"/>
                <a:ea typeface="굴림" panose="020B0600000101010101" pitchFamily="50" charset="-127"/>
              </a:defRPr>
            </a:lvl8pPr>
            <a:lvl9pPr marL="3886200" indent="-228600" defTabSz="89535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  <a:defRPr kumimoji="1" sz="1200">
                <a:solidFill>
                  <a:schemeClr val="tx1"/>
                </a:solidFill>
                <a:latin typeface="휴먼새내기체" pitchFamily="18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buSzPct val="120000"/>
              <a:buFont typeface="Wingdings" panose="05000000000000000000" pitchFamily="2" charset="2"/>
              <a:buNone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시민 데이터 과학자 양성</a:t>
            </a:r>
            <a:endParaRPr lang="en-US" altLang="ko-KR" sz="16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8" name="Rectangle 16">
            <a:extLst>
              <a:ext uri="{FF2B5EF4-FFF2-40B4-BE49-F238E27FC236}">
                <a16:creationId xmlns:a16="http://schemas.microsoft.com/office/drawing/2014/main" id="{FAF20F80-73A0-485E-5D95-FA5703C431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2508" y="2257088"/>
            <a:ext cx="257110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810" tIns="0" rIns="3810" bIns="0" anchor="b">
            <a:spAutoFit/>
          </a:bodyPr>
          <a:lstStyle/>
          <a:p>
            <a:pPr algn="ctr" defTabSz="895350">
              <a:buSzPct val="120000"/>
              <a:buFont typeface="Wingdings" panose="05000000000000000000" pitchFamily="2" charset="2"/>
              <a:buNone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업무 혁신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달성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8783ACED-A609-F36A-7B85-535E10B92AED}"/>
              </a:ext>
            </a:extLst>
          </p:cNvPr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6110141" y="2561161"/>
            <a:ext cx="752983" cy="510199"/>
          </a:xfrm>
          <a:custGeom>
            <a:avLst/>
            <a:gdLst/>
            <a:ahLst/>
            <a:cxnLst>
              <a:cxn ang="0">
                <a:pos x="0" y="295"/>
              </a:cxn>
              <a:cxn ang="0">
                <a:pos x="0" y="103"/>
              </a:cxn>
              <a:cxn ang="0">
                <a:pos x="384" y="0"/>
              </a:cxn>
              <a:cxn ang="0">
                <a:pos x="384" y="295"/>
              </a:cxn>
              <a:cxn ang="0">
                <a:pos x="0" y="295"/>
              </a:cxn>
            </a:cxnLst>
            <a:rect l="0" t="0" r="r" b="b"/>
            <a:pathLst>
              <a:path w="384" h="295">
                <a:moveTo>
                  <a:pt x="0" y="295"/>
                </a:moveTo>
                <a:lnTo>
                  <a:pt x="0" y="103"/>
                </a:lnTo>
                <a:lnTo>
                  <a:pt x="384" y="0"/>
                </a:lnTo>
                <a:lnTo>
                  <a:pt x="384" y="295"/>
                </a:lnTo>
                <a:lnTo>
                  <a:pt x="0" y="295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 w="9525">
            <a:solidFill>
              <a:srgbClr val="93B5D1"/>
            </a:solidFill>
            <a:round/>
            <a:headEnd/>
            <a:tailEnd/>
          </a:ln>
          <a:effectLst/>
        </p:spPr>
        <p:txBody>
          <a:bodyPr anchor="ctr"/>
          <a:lstStyle/>
          <a:p>
            <a:pPr latinLnBrk="0"/>
            <a:endParaRPr kumimoji="0" lang="ko-KR" altLang="en-US" sz="1300" b="0">
              <a:solidFill>
                <a:prstClr val="black"/>
              </a:solidFill>
              <a:latin typeface="+mn-ea"/>
              <a:ea typeface="+mn-ea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AF203789-E5FB-6BC7-7779-FC99F00DAB39}"/>
              </a:ext>
            </a:extLst>
          </p:cNvPr>
          <p:cNvCxnSpPr>
            <a:cxnSpLocks/>
          </p:cNvCxnSpPr>
          <p:nvPr/>
        </p:nvCxnSpPr>
        <p:spPr>
          <a:xfrm>
            <a:off x="417066" y="3599097"/>
            <a:ext cx="3357481" cy="0"/>
          </a:xfrm>
          <a:prstGeom prst="line">
            <a:avLst/>
          </a:prstGeom>
          <a:solidFill>
            <a:srgbClr val="E1EEF7"/>
          </a:solidFill>
          <a:ln w="9525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/>
        </p:spPr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5FE6F52A-125E-2BE6-13A7-D849E3EFA59B}"/>
              </a:ext>
            </a:extLst>
          </p:cNvPr>
          <p:cNvCxnSpPr/>
          <p:nvPr/>
        </p:nvCxnSpPr>
        <p:spPr>
          <a:xfrm>
            <a:off x="3769007" y="3072923"/>
            <a:ext cx="3103082" cy="0"/>
          </a:xfrm>
          <a:prstGeom prst="line">
            <a:avLst/>
          </a:prstGeom>
          <a:solidFill>
            <a:srgbClr val="E1EEF7"/>
          </a:solidFill>
          <a:ln w="9525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/>
        </p:spPr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FFA944C7-966E-B292-02CA-CB147BB7DB50}"/>
              </a:ext>
            </a:extLst>
          </p:cNvPr>
          <p:cNvCxnSpPr>
            <a:cxnSpLocks/>
          </p:cNvCxnSpPr>
          <p:nvPr/>
        </p:nvCxnSpPr>
        <p:spPr>
          <a:xfrm>
            <a:off x="6863125" y="2560332"/>
            <a:ext cx="2769825" cy="0"/>
          </a:xfrm>
          <a:prstGeom prst="line">
            <a:avLst/>
          </a:prstGeom>
          <a:solidFill>
            <a:srgbClr val="E1EEF7"/>
          </a:solidFill>
          <a:ln w="9525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/>
        </p:spPr>
      </p:cxnSp>
      <p:sp>
        <p:nvSpPr>
          <p:cNvPr id="13" name="Rectangle 15">
            <a:extLst>
              <a:ext uri="{FF2B5EF4-FFF2-40B4-BE49-F238E27FC236}">
                <a16:creationId xmlns:a16="http://schemas.microsoft.com/office/drawing/2014/main" id="{F6609914-DA29-712B-A86D-AB8E997D31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9550" y="2752482"/>
            <a:ext cx="248564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810" tIns="0" rIns="3810" bIns="0" anchor="b">
            <a:spAutoFit/>
          </a:bodyPr>
          <a:lstStyle>
            <a:lvl1pPr defTabSz="895350" eaLnBrk="0" hangingPunct="0">
              <a:defRPr kumimoji="1" sz="1200">
                <a:solidFill>
                  <a:schemeClr val="tx1"/>
                </a:solidFill>
                <a:latin typeface="휴먼새내기체" pitchFamily="18" charset="-127"/>
                <a:ea typeface="굴림" panose="020B0600000101010101" pitchFamily="50" charset="-127"/>
              </a:defRPr>
            </a:lvl1pPr>
            <a:lvl2pPr marL="742950" indent="-285750" defTabSz="895350" eaLnBrk="0" hangingPunct="0">
              <a:defRPr kumimoji="1" sz="1200">
                <a:solidFill>
                  <a:schemeClr val="tx1"/>
                </a:solidFill>
                <a:latin typeface="휴먼새내기체" pitchFamily="18" charset="-127"/>
                <a:ea typeface="굴림" panose="020B0600000101010101" pitchFamily="50" charset="-127"/>
              </a:defRPr>
            </a:lvl2pPr>
            <a:lvl3pPr marL="1143000" indent="-228600" defTabSz="895350" eaLnBrk="0" hangingPunct="0">
              <a:defRPr kumimoji="1" sz="1200">
                <a:solidFill>
                  <a:schemeClr val="tx1"/>
                </a:solidFill>
                <a:latin typeface="휴먼새내기체" pitchFamily="18" charset="-127"/>
                <a:ea typeface="굴림" panose="020B0600000101010101" pitchFamily="50" charset="-127"/>
              </a:defRPr>
            </a:lvl3pPr>
            <a:lvl4pPr marL="1600200" indent="-228600" defTabSz="895350" eaLnBrk="0" hangingPunct="0">
              <a:defRPr kumimoji="1" sz="1200">
                <a:solidFill>
                  <a:schemeClr val="tx1"/>
                </a:solidFill>
                <a:latin typeface="휴먼새내기체" pitchFamily="18" charset="-127"/>
                <a:ea typeface="굴림" panose="020B0600000101010101" pitchFamily="50" charset="-127"/>
              </a:defRPr>
            </a:lvl4pPr>
            <a:lvl5pPr marL="2057400" indent="-228600" defTabSz="895350" eaLnBrk="0" hangingPunct="0">
              <a:defRPr kumimoji="1" sz="1200">
                <a:solidFill>
                  <a:schemeClr val="tx1"/>
                </a:solidFill>
                <a:latin typeface="휴먼새내기체" pitchFamily="18" charset="-127"/>
                <a:ea typeface="굴림" panose="020B0600000101010101" pitchFamily="50" charset="-127"/>
              </a:defRPr>
            </a:lvl5pPr>
            <a:lvl6pPr marL="2514600" indent="-228600" defTabSz="89535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  <a:defRPr kumimoji="1" sz="1200">
                <a:solidFill>
                  <a:schemeClr val="tx1"/>
                </a:solidFill>
                <a:latin typeface="휴먼새내기체" pitchFamily="18" charset="-127"/>
                <a:ea typeface="굴림" panose="020B0600000101010101" pitchFamily="50" charset="-127"/>
              </a:defRPr>
            </a:lvl6pPr>
            <a:lvl7pPr marL="2971800" indent="-228600" defTabSz="89535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  <a:defRPr kumimoji="1" sz="1200">
                <a:solidFill>
                  <a:schemeClr val="tx1"/>
                </a:solidFill>
                <a:latin typeface="휴먼새내기체" pitchFamily="18" charset="-127"/>
                <a:ea typeface="굴림" panose="020B0600000101010101" pitchFamily="50" charset="-127"/>
              </a:defRPr>
            </a:lvl7pPr>
            <a:lvl8pPr marL="3429000" indent="-228600" defTabSz="89535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  <a:defRPr kumimoji="1" sz="1200">
                <a:solidFill>
                  <a:schemeClr val="tx1"/>
                </a:solidFill>
                <a:latin typeface="휴먼새내기체" pitchFamily="18" charset="-127"/>
                <a:ea typeface="굴림" panose="020B0600000101010101" pitchFamily="50" charset="-127"/>
              </a:defRPr>
            </a:lvl8pPr>
            <a:lvl9pPr marL="3886200" indent="-228600" defTabSz="89535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  <a:defRPr kumimoji="1" sz="1200">
                <a:solidFill>
                  <a:schemeClr val="tx1"/>
                </a:solidFill>
                <a:latin typeface="휴먼새내기체" pitchFamily="18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buSzPct val="120000"/>
              <a:buFont typeface="Wingdings" panose="05000000000000000000" pitchFamily="2" charset="2"/>
              <a:buNone/>
            </a:pPr>
            <a:r>
              <a:rPr lang="ko-KR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업무별 개선방안 도출</a:t>
            </a:r>
            <a:endParaRPr lang="en-US" altLang="ko-KR" sz="16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4" name="Freeform 10">
            <a:extLst>
              <a:ext uri="{FF2B5EF4-FFF2-40B4-BE49-F238E27FC236}">
                <a16:creationId xmlns:a16="http://schemas.microsoft.com/office/drawing/2014/main" id="{4EC90138-4747-CB69-F611-D41B2EC96CB7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3025070" y="3073956"/>
            <a:ext cx="752983" cy="510199"/>
          </a:xfrm>
          <a:custGeom>
            <a:avLst/>
            <a:gdLst/>
            <a:ahLst/>
            <a:cxnLst>
              <a:cxn ang="0">
                <a:pos x="0" y="295"/>
              </a:cxn>
              <a:cxn ang="0">
                <a:pos x="0" y="103"/>
              </a:cxn>
              <a:cxn ang="0">
                <a:pos x="384" y="0"/>
              </a:cxn>
              <a:cxn ang="0">
                <a:pos x="384" y="295"/>
              </a:cxn>
              <a:cxn ang="0">
                <a:pos x="0" y="295"/>
              </a:cxn>
            </a:cxnLst>
            <a:rect l="0" t="0" r="r" b="b"/>
            <a:pathLst>
              <a:path w="384" h="295">
                <a:moveTo>
                  <a:pt x="0" y="295"/>
                </a:moveTo>
                <a:lnTo>
                  <a:pt x="0" y="103"/>
                </a:lnTo>
                <a:lnTo>
                  <a:pt x="384" y="0"/>
                </a:lnTo>
                <a:lnTo>
                  <a:pt x="384" y="295"/>
                </a:lnTo>
                <a:lnTo>
                  <a:pt x="0" y="295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 w="9525">
            <a:solidFill>
              <a:srgbClr val="93B5D1"/>
            </a:solidFill>
            <a:round/>
            <a:headEnd/>
            <a:tailEnd/>
          </a:ln>
          <a:effectLst/>
        </p:spPr>
        <p:txBody>
          <a:bodyPr anchor="ctr"/>
          <a:lstStyle/>
          <a:p>
            <a:pPr latinLnBrk="0"/>
            <a:endParaRPr kumimoji="0" lang="ko-KR" altLang="en-US" sz="1300" b="0">
              <a:solidFill>
                <a:prstClr val="black"/>
              </a:solidFill>
              <a:latin typeface="+mn-ea"/>
              <a:ea typeface="+mn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478035-6F18-F010-2C8C-F3366AA135CE}"/>
              </a:ext>
            </a:extLst>
          </p:cNvPr>
          <p:cNvSpPr txBox="1"/>
          <p:nvPr/>
        </p:nvSpPr>
        <p:spPr>
          <a:xfrm>
            <a:off x="632767" y="3659408"/>
            <a:ext cx="273662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latinLnBrk="0">
              <a:buFont typeface="Wingdings" panose="05000000000000000000" pitchFamily="2" charset="2"/>
              <a:buChar char="§"/>
            </a:pPr>
            <a:r>
              <a:rPr lang="ko-KR" altLang="en-US" sz="1200" b="0" dirty="0">
                <a:latin typeface="+mn-ea"/>
                <a:ea typeface="+mn-ea"/>
              </a:rPr>
              <a:t>엔지니어가 데이터 분석을 통해 얻은 결과를 업무 활용할 수 있는 능력 양성</a:t>
            </a:r>
            <a:endParaRPr lang="en-US" altLang="ko-KR" sz="1200" b="0" dirty="0">
              <a:latin typeface="+mn-ea"/>
              <a:ea typeface="+mn-ea"/>
            </a:endParaRPr>
          </a:p>
          <a:p>
            <a:pPr marL="171450" indent="-171450" latinLnBrk="0">
              <a:buFont typeface="Wingdings" panose="05000000000000000000" pitchFamily="2" charset="2"/>
              <a:buChar char="§"/>
            </a:pPr>
            <a:endParaRPr lang="en-US" altLang="ko-KR" sz="1200" b="0" dirty="0">
              <a:latin typeface="+mn-ea"/>
              <a:ea typeface="+mn-ea"/>
            </a:endParaRPr>
          </a:p>
          <a:p>
            <a:pPr marL="171450" indent="-171450" latinLnBrk="0">
              <a:buFont typeface="Wingdings" panose="05000000000000000000" pitchFamily="2" charset="2"/>
              <a:buChar char="§"/>
            </a:pPr>
            <a:r>
              <a:rPr lang="ko-KR" altLang="en-US" sz="1200" b="0" dirty="0">
                <a:latin typeface="+mn-ea"/>
                <a:ea typeface="+mn-ea"/>
              </a:rPr>
              <a:t>빅데이터 경진대회를 통해 개선 업무 도출</a:t>
            </a:r>
            <a:endParaRPr lang="en-US" altLang="ko-KR" sz="1200" b="0" dirty="0">
              <a:latin typeface="+mn-ea"/>
              <a:ea typeface="+mn-ea"/>
            </a:endParaRPr>
          </a:p>
          <a:p>
            <a:pPr marL="171450" indent="-171450" latinLnBrk="0">
              <a:buFont typeface="Wingdings" panose="05000000000000000000" pitchFamily="2" charset="2"/>
              <a:buChar char="§"/>
            </a:pPr>
            <a:endParaRPr lang="en-US" altLang="ko-KR" sz="1200" b="0" dirty="0">
              <a:latin typeface="+mn-ea"/>
              <a:ea typeface="+mn-ea"/>
            </a:endParaRPr>
          </a:p>
          <a:p>
            <a:pPr marL="171450" indent="-171450" latinLnBrk="0">
              <a:buFont typeface="Wingdings" panose="05000000000000000000" pitchFamily="2" charset="2"/>
              <a:buChar char="§"/>
            </a:pPr>
            <a:r>
              <a:rPr lang="ko-KR" altLang="en-US" sz="1200" b="0" dirty="0">
                <a:latin typeface="+mn-ea"/>
                <a:ea typeface="+mn-ea"/>
              </a:rPr>
              <a:t>분석 업무에 필요한 데이터 정의</a:t>
            </a:r>
            <a:endParaRPr lang="en-US" altLang="ko-KR" sz="1200" b="0" dirty="0">
              <a:latin typeface="+mn-ea"/>
              <a:ea typeface="+mn-ea"/>
            </a:endParaRPr>
          </a:p>
          <a:p>
            <a:pPr marL="171450" indent="-171450" latinLnBrk="0">
              <a:buFont typeface="Wingdings" panose="05000000000000000000" pitchFamily="2" charset="2"/>
              <a:buChar char="§"/>
            </a:pPr>
            <a:endParaRPr lang="en-US" altLang="ko-KR" sz="1200" b="0" dirty="0">
              <a:latin typeface="+mn-ea"/>
              <a:ea typeface="+mn-ea"/>
            </a:endParaRPr>
          </a:p>
          <a:p>
            <a:pPr marL="171450" indent="-171450" latinLnBrk="0">
              <a:buFont typeface="Wingdings" panose="05000000000000000000" pitchFamily="2" charset="2"/>
              <a:buChar char="§"/>
            </a:pPr>
            <a:endParaRPr lang="ko-KR" altLang="en-US" sz="1200" b="0" dirty="0">
              <a:latin typeface="+mn-ea"/>
              <a:ea typeface="+mn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78733D-2914-411E-6875-8380C7B0F111}"/>
              </a:ext>
            </a:extLst>
          </p:cNvPr>
          <p:cNvSpPr txBox="1"/>
          <p:nvPr/>
        </p:nvSpPr>
        <p:spPr>
          <a:xfrm>
            <a:off x="3792816" y="3278166"/>
            <a:ext cx="281693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latinLnBrk="0">
              <a:buFont typeface="Wingdings" panose="05000000000000000000" pitchFamily="2" charset="2"/>
              <a:buChar char="§"/>
            </a:pPr>
            <a:r>
              <a:rPr lang="en-US" altLang="ko-KR" sz="1200" b="0" dirty="0">
                <a:latin typeface="+mn-ea"/>
                <a:ea typeface="+mn-ea"/>
              </a:rPr>
              <a:t>IoT</a:t>
            </a:r>
            <a:r>
              <a:rPr lang="ko-KR" altLang="en-US" sz="1200" b="0" dirty="0">
                <a:latin typeface="+mn-ea"/>
                <a:ea typeface="+mn-ea"/>
              </a:rPr>
              <a:t>를 활용한 필요 데이터 수집</a:t>
            </a:r>
            <a:endParaRPr lang="en-US" altLang="ko-KR" sz="1200" b="0" dirty="0">
              <a:latin typeface="+mn-ea"/>
              <a:ea typeface="+mn-ea"/>
            </a:endParaRPr>
          </a:p>
          <a:p>
            <a:pPr marL="171450" indent="-171450" latinLnBrk="0">
              <a:buFont typeface="Wingdings" panose="05000000000000000000" pitchFamily="2" charset="2"/>
              <a:buChar char="§"/>
            </a:pPr>
            <a:endParaRPr lang="en-US" altLang="ko-KR" sz="1200" b="0" dirty="0">
              <a:latin typeface="+mn-ea"/>
              <a:ea typeface="+mn-ea"/>
            </a:endParaRPr>
          </a:p>
          <a:p>
            <a:pPr marL="171450" indent="-171450" latinLnBrk="0">
              <a:buFont typeface="Wingdings" panose="05000000000000000000" pitchFamily="2" charset="2"/>
              <a:buChar char="§"/>
            </a:pPr>
            <a:r>
              <a:rPr lang="ko-KR" altLang="en-US" sz="1200" b="0" dirty="0">
                <a:latin typeface="+mn-ea"/>
                <a:ea typeface="+mn-ea"/>
              </a:rPr>
              <a:t>품질</a:t>
            </a:r>
            <a:r>
              <a:rPr lang="en-US" altLang="ko-KR" sz="1200" b="0" dirty="0">
                <a:latin typeface="+mn-ea"/>
                <a:ea typeface="+mn-ea"/>
              </a:rPr>
              <a:t>, </a:t>
            </a:r>
            <a:r>
              <a:rPr lang="ko-KR" altLang="en-US" sz="1200" b="0" dirty="0">
                <a:latin typeface="+mn-ea"/>
                <a:ea typeface="+mn-ea"/>
              </a:rPr>
              <a:t>설비이상</a:t>
            </a:r>
            <a:r>
              <a:rPr lang="en-US" altLang="ko-KR" sz="1200" b="0" dirty="0">
                <a:latin typeface="+mn-ea"/>
                <a:ea typeface="+mn-ea"/>
              </a:rPr>
              <a:t>, </a:t>
            </a:r>
            <a:r>
              <a:rPr lang="ko-KR" altLang="en-US" sz="1200" b="0" dirty="0">
                <a:latin typeface="+mn-ea"/>
                <a:ea typeface="+mn-ea"/>
              </a:rPr>
              <a:t>예지</a:t>
            </a:r>
            <a:r>
              <a:rPr lang="en-US" altLang="ko-KR" sz="1200" b="0" dirty="0">
                <a:latin typeface="+mn-ea"/>
                <a:ea typeface="+mn-ea"/>
              </a:rPr>
              <a:t>/</a:t>
            </a:r>
            <a:r>
              <a:rPr lang="ko-KR" altLang="en-US" sz="1200" b="0" dirty="0">
                <a:latin typeface="+mn-ea"/>
                <a:ea typeface="+mn-ea"/>
              </a:rPr>
              <a:t>예방 유지보수</a:t>
            </a:r>
            <a:r>
              <a:rPr lang="en-US" altLang="ko-KR" sz="1200" b="0" dirty="0">
                <a:latin typeface="+mn-ea"/>
                <a:ea typeface="+mn-ea"/>
              </a:rPr>
              <a:t>, </a:t>
            </a:r>
            <a:r>
              <a:rPr lang="ko-KR" altLang="en-US" sz="1200" b="0" dirty="0">
                <a:latin typeface="+mn-ea"/>
                <a:ea typeface="+mn-ea"/>
              </a:rPr>
              <a:t>안전사고 유형별 원인분석</a:t>
            </a:r>
            <a:r>
              <a:rPr lang="en-US" altLang="ko-KR" sz="1200" b="0" dirty="0">
                <a:latin typeface="+mn-ea"/>
                <a:ea typeface="+mn-ea"/>
              </a:rPr>
              <a:t>, </a:t>
            </a:r>
            <a:r>
              <a:rPr lang="ko-KR" altLang="en-US" sz="1200" b="0" dirty="0">
                <a:latin typeface="+mn-ea"/>
                <a:ea typeface="+mn-ea"/>
              </a:rPr>
              <a:t>조업 최적화 관련 분석 결과를 기반한 개선안 도출</a:t>
            </a:r>
            <a:endParaRPr lang="en-US" altLang="ko-KR" sz="1200" b="0" dirty="0">
              <a:latin typeface="+mn-ea"/>
              <a:ea typeface="+mn-ea"/>
            </a:endParaRPr>
          </a:p>
          <a:p>
            <a:pPr marL="171450" indent="-171450" latinLnBrk="0">
              <a:buFont typeface="Wingdings" panose="05000000000000000000" pitchFamily="2" charset="2"/>
              <a:buChar char="§"/>
            </a:pPr>
            <a:endParaRPr lang="en-US" altLang="ko-KR" sz="1200" b="0" dirty="0">
              <a:latin typeface="+mn-ea"/>
              <a:ea typeface="+mn-ea"/>
            </a:endParaRPr>
          </a:p>
          <a:p>
            <a:pPr marL="171450" indent="-171450" latinLnBrk="0">
              <a:buFont typeface="Wingdings" panose="05000000000000000000" pitchFamily="2" charset="2"/>
              <a:buChar char="§"/>
            </a:pPr>
            <a:r>
              <a:rPr lang="ko-KR" altLang="en-US" sz="1200" b="0" dirty="0">
                <a:latin typeface="+mn-ea"/>
                <a:ea typeface="+mn-ea"/>
              </a:rPr>
              <a:t>실시간 모니터링 및 이상진단 체계 수립</a:t>
            </a:r>
          </a:p>
          <a:p>
            <a:pPr marL="171450" indent="-171450" latinLnBrk="0">
              <a:buFont typeface="Wingdings" panose="05000000000000000000" pitchFamily="2" charset="2"/>
              <a:buChar char="§"/>
            </a:pPr>
            <a:endParaRPr lang="en-US" altLang="ko-KR" sz="1200" b="0" dirty="0">
              <a:latin typeface="+mn-ea"/>
              <a:ea typeface="+mn-ea"/>
            </a:endParaRPr>
          </a:p>
          <a:p>
            <a:pPr marL="171450" indent="-171450" latinLnBrk="0">
              <a:buFont typeface="Wingdings" panose="05000000000000000000" pitchFamily="2" charset="2"/>
              <a:buChar char="§"/>
            </a:pPr>
            <a:r>
              <a:rPr lang="ko-KR" altLang="en-US" sz="1200" b="0" dirty="0">
                <a:latin typeface="+mn-ea"/>
                <a:ea typeface="+mn-ea"/>
              </a:rPr>
              <a:t>개선을 달성하기 위한 자동화 방안 수립</a:t>
            </a:r>
            <a:endParaRPr lang="en-US" altLang="ko-KR" sz="1200" b="0" dirty="0">
              <a:latin typeface="+mn-ea"/>
              <a:ea typeface="+mn-ea"/>
            </a:endParaRPr>
          </a:p>
          <a:p>
            <a:pPr marL="171450" indent="-171450" latinLnBrk="0">
              <a:buFont typeface="Wingdings" panose="05000000000000000000" pitchFamily="2" charset="2"/>
              <a:buChar char="§"/>
            </a:pPr>
            <a:endParaRPr lang="en-US" altLang="ko-KR" sz="1200" b="0" dirty="0">
              <a:latin typeface="+mn-ea"/>
              <a:ea typeface="+mn-ea"/>
            </a:endParaRPr>
          </a:p>
          <a:p>
            <a:pPr marL="171450" indent="-171450" latinLnBrk="0">
              <a:buFont typeface="Wingdings" panose="05000000000000000000" pitchFamily="2" charset="2"/>
              <a:buChar char="§"/>
            </a:pPr>
            <a:endParaRPr lang="ko-KR" altLang="en-US" sz="1200" b="0" dirty="0">
              <a:latin typeface="+mn-ea"/>
              <a:ea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7D87944-4D9B-6C01-7F49-2961E5D133B9}"/>
              </a:ext>
            </a:extLst>
          </p:cNvPr>
          <p:cNvSpPr txBox="1"/>
          <p:nvPr/>
        </p:nvSpPr>
        <p:spPr>
          <a:xfrm>
            <a:off x="6886852" y="2776871"/>
            <a:ext cx="267466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latinLnBrk="0">
              <a:buFont typeface="Wingdings" panose="05000000000000000000" pitchFamily="2" charset="2"/>
              <a:buChar char="§"/>
            </a:pPr>
            <a:r>
              <a:rPr lang="ko-KR" altLang="en-US" sz="1200" b="0" dirty="0">
                <a:latin typeface="+mn-ea"/>
                <a:ea typeface="+mn-ea"/>
              </a:rPr>
              <a:t>지능형 실시간 모니터링 및 이상진단시스템</a:t>
            </a:r>
            <a:endParaRPr lang="en-US" altLang="ko-KR" sz="1200" b="0" dirty="0">
              <a:latin typeface="+mn-ea"/>
              <a:ea typeface="+mn-ea"/>
            </a:endParaRPr>
          </a:p>
          <a:p>
            <a:pPr marL="171450" indent="-171450" latinLnBrk="0">
              <a:buFont typeface="Wingdings" panose="05000000000000000000" pitchFamily="2" charset="2"/>
              <a:buChar char="§"/>
            </a:pPr>
            <a:endParaRPr lang="en-US" altLang="ko-KR" sz="1200" b="0" dirty="0">
              <a:latin typeface="+mn-ea"/>
              <a:ea typeface="+mn-ea"/>
            </a:endParaRPr>
          </a:p>
          <a:p>
            <a:pPr marL="171450" indent="-171450" latinLnBrk="0">
              <a:buFont typeface="Wingdings" panose="05000000000000000000" pitchFamily="2" charset="2"/>
              <a:buChar char="§"/>
            </a:pPr>
            <a:r>
              <a:rPr lang="ko-KR" altLang="en-US" sz="1200" b="0" dirty="0">
                <a:latin typeface="+mn-ea"/>
                <a:ea typeface="+mn-ea"/>
              </a:rPr>
              <a:t>인공지능 기반 자동화 및 지속적 학습을 통한 최적화</a:t>
            </a:r>
            <a:r>
              <a:rPr lang="en-US" altLang="ko-KR" sz="1200" b="0" dirty="0">
                <a:latin typeface="+mn-ea"/>
                <a:ea typeface="+mn-ea"/>
              </a:rPr>
              <a:t>                (</a:t>
            </a:r>
            <a:r>
              <a:rPr lang="ko-KR" altLang="en-US" sz="1200" b="0" dirty="0">
                <a:latin typeface="+mn-ea"/>
                <a:ea typeface="+mn-ea"/>
              </a:rPr>
              <a:t>품질</a:t>
            </a:r>
            <a:r>
              <a:rPr lang="en-US" altLang="ko-KR" sz="1200" b="0" dirty="0">
                <a:latin typeface="+mn-ea"/>
                <a:ea typeface="+mn-ea"/>
              </a:rPr>
              <a:t>/</a:t>
            </a:r>
            <a:r>
              <a:rPr lang="ko-KR" altLang="en-US" sz="1200" b="0" dirty="0">
                <a:latin typeface="+mn-ea"/>
                <a:ea typeface="+mn-ea"/>
              </a:rPr>
              <a:t>에너지</a:t>
            </a:r>
            <a:r>
              <a:rPr lang="en-US" altLang="ko-KR" sz="1200" b="0" dirty="0">
                <a:latin typeface="+mn-ea"/>
                <a:ea typeface="+mn-ea"/>
              </a:rPr>
              <a:t>/</a:t>
            </a:r>
            <a:r>
              <a:rPr lang="ko-KR" altLang="en-US" sz="1200" b="0" dirty="0">
                <a:latin typeface="+mn-ea"/>
                <a:ea typeface="+mn-ea"/>
              </a:rPr>
              <a:t>생산량 관점 최적화</a:t>
            </a:r>
            <a:r>
              <a:rPr lang="en-US" altLang="ko-KR" sz="1200" b="0" dirty="0">
                <a:latin typeface="+mn-ea"/>
                <a:ea typeface="+mn-ea"/>
              </a:rPr>
              <a:t>, </a:t>
            </a:r>
            <a:r>
              <a:rPr lang="ko-KR" altLang="en-US" sz="1200" b="0" dirty="0">
                <a:latin typeface="+mn-ea"/>
                <a:ea typeface="+mn-ea"/>
              </a:rPr>
              <a:t>정비시점 최적화 등</a:t>
            </a:r>
            <a:r>
              <a:rPr lang="en-US" altLang="ko-KR" sz="1200" b="0" dirty="0">
                <a:latin typeface="+mn-ea"/>
                <a:ea typeface="+mn-ea"/>
              </a:rPr>
              <a:t>) </a:t>
            </a:r>
          </a:p>
          <a:p>
            <a:pPr latinLnBrk="0"/>
            <a:endParaRPr lang="en-US" altLang="ko-KR" sz="1200" b="0" dirty="0">
              <a:latin typeface="+mn-ea"/>
              <a:ea typeface="+mn-ea"/>
            </a:endParaRPr>
          </a:p>
          <a:p>
            <a:pPr marL="171450" indent="-171450" latinLnBrk="0">
              <a:buFont typeface="Wingdings" panose="05000000000000000000" pitchFamily="2" charset="2"/>
              <a:buChar char="§"/>
            </a:pPr>
            <a:r>
              <a:rPr lang="ko-KR" altLang="en-US" sz="1200" b="0" dirty="0">
                <a:latin typeface="+mn-ea"/>
                <a:ea typeface="+mn-ea"/>
              </a:rPr>
              <a:t>실시간 조업 </a:t>
            </a:r>
            <a:r>
              <a:rPr lang="en-US" altLang="ko-KR" sz="1200" b="0" dirty="0">
                <a:latin typeface="+mn-ea"/>
                <a:ea typeface="+mn-ea"/>
              </a:rPr>
              <a:t>Guidance</a:t>
            </a:r>
          </a:p>
          <a:p>
            <a:pPr marL="171450" indent="-171450" latinLnBrk="0">
              <a:buFont typeface="Wingdings" panose="05000000000000000000" pitchFamily="2" charset="2"/>
              <a:buChar char="§"/>
            </a:pPr>
            <a:endParaRPr lang="en-US" altLang="ko-KR" sz="1200" b="0" dirty="0">
              <a:latin typeface="+mn-ea"/>
              <a:ea typeface="+mn-ea"/>
            </a:endParaRPr>
          </a:p>
          <a:p>
            <a:pPr marL="171450" indent="-171450" latinLnBrk="0">
              <a:buFont typeface="Wingdings" panose="05000000000000000000" pitchFamily="2" charset="2"/>
              <a:buChar char="§"/>
            </a:pPr>
            <a:endParaRPr lang="en-US" altLang="ko-KR" sz="1200" b="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564177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363AC-CF40-059D-CC51-F3968425E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22CC25-E2C2-5E94-4857-DEBC13651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kumimoji="0" lang="ko-KR" altLang="en-US" sz="2000" dirty="0">
                <a:solidFill>
                  <a:schemeClr val="bg1"/>
                </a:solidFill>
                <a:latin typeface="+mn-ea"/>
                <a:ea typeface="+mn-ea"/>
                <a:cs typeface="Arial" charset="0"/>
              </a:rPr>
              <a:t>AIDA 도입 시 변화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DFD7490-F3CC-3EC5-DE11-EEB33DA9790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b="1">
                <a:latin typeface="+mn-ea"/>
              </a:rPr>
              <a:t>AIDA가 만드는 기대효과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D88F98C-A88C-4ADC-AC33-A5CA287447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b="0" dirty="0">
                <a:latin typeface="맑은 고딕" pitchFamily="50" charset="-127"/>
                <a:ea typeface="맑은 고딕" pitchFamily="50" charset="-127"/>
              </a:rPr>
              <a:t>AIDA 도입은 분석 시간 단축에서 시작해 반복 업무 감소와 분석 대중화로 이어지며, 궁극적으로 데이터 기반 의사결정을 강화하여 조직 전체의 데이터 활용도를 끌어올립니다.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83ED449-DD12-F2CE-508D-8E97DB32525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04A8D870-7B26-1CF2-EAA0-E46A63C35A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066" y="3268689"/>
            <a:ext cx="2608003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810" tIns="0" rIns="3810" bIns="0" anchor="b">
            <a:spAutoFit/>
          </a:bodyPr>
          <a:lstStyle>
            <a:lvl1pPr defTabSz="895350" eaLnBrk="0" hangingPunct="0">
              <a:defRPr kumimoji="1" sz="1200">
                <a:solidFill>
                  <a:schemeClr val="tx1"/>
                </a:solidFill>
                <a:latin typeface="휴먼새내기체" pitchFamily="18" charset="-127"/>
                <a:ea typeface="굴림" panose="020B0600000101010101" pitchFamily="50" charset="-127"/>
              </a:defRPr>
            </a:lvl1pPr>
            <a:lvl2pPr marL="742950" indent="-285750" defTabSz="895350" eaLnBrk="0" hangingPunct="0">
              <a:defRPr kumimoji="1" sz="1200">
                <a:solidFill>
                  <a:schemeClr val="tx1"/>
                </a:solidFill>
                <a:latin typeface="휴먼새내기체" pitchFamily="18" charset="-127"/>
                <a:ea typeface="굴림" panose="020B0600000101010101" pitchFamily="50" charset="-127"/>
              </a:defRPr>
            </a:lvl2pPr>
            <a:lvl3pPr marL="1143000" indent="-228600" defTabSz="895350" eaLnBrk="0" hangingPunct="0">
              <a:defRPr kumimoji="1" sz="1200">
                <a:solidFill>
                  <a:schemeClr val="tx1"/>
                </a:solidFill>
                <a:latin typeface="휴먼새내기체" pitchFamily="18" charset="-127"/>
                <a:ea typeface="굴림" panose="020B0600000101010101" pitchFamily="50" charset="-127"/>
              </a:defRPr>
            </a:lvl3pPr>
            <a:lvl4pPr marL="1600200" indent="-228600" defTabSz="895350" eaLnBrk="0" hangingPunct="0">
              <a:defRPr kumimoji="1" sz="1200">
                <a:solidFill>
                  <a:schemeClr val="tx1"/>
                </a:solidFill>
                <a:latin typeface="휴먼새내기체" pitchFamily="18" charset="-127"/>
                <a:ea typeface="굴림" panose="020B0600000101010101" pitchFamily="50" charset="-127"/>
              </a:defRPr>
            </a:lvl4pPr>
            <a:lvl5pPr marL="2057400" indent="-228600" defTabSz="895350" eaLnBrk="0" hangingPunct="0">
              <a:defRPr kumimoji="1" sz="1200">
                <a:solidFill>
                  <a:schemeClr val="tx1"/>
                </a:solidFill>
                <a:latin typeface="휴먼새내기체" pitchFamily="18" charset="-127"/>
                <a:ea typeface="굴림" panose="020B0600000101010101" pitchFamily="50" charset="-127"/>
              </a:defRPr>
            </a:lvl5pPr>
            <a:lvl6pPr marL="2514600" indent="-228600" defTabSz="89535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  <a:defRPr kumimoji="1" sz="1200">
                <a:solidFill>
                  <a:schemeClr val="tx1"/>
                </a:solidFill>
                <a:latin typeface="휴먼새내기체" pitchFamily="18" charset="-127"/>
                <a:ea typeface="굴림" panose="020B0600000101010101" pitchFamily="50" charset="-127"/>
              </a:defRPr>
            </a:lvl6pPr>
            <a:lvl7pPr marL="2971800" indent="-228600" defTabSz="89535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  <a:defRPr kumimoji="1" sz="1200">
                <a:solidFill>
                  <a:schemeClr val="tx1"/>
                </a:solidFill>
                <a:latin typeface="휴먼새내기체" pitchFamily="18" charset="-127"/>
                <a:ea typeface="굴림" panose="020B0600000101010101" pitchFamily="50" charset="-127"/>
              </a:defRPr>
            </a:lvl7pPr>
            <a:lvl8pPr marL="3429000" indent="-228600" defTabSz="89535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  <a:defRPr kumimoji="1" sz="1200">
                <a:solidFill>
                  <a:schemeClr val="tx1"/>
                </a:solidFill>
                <a:latin typeface="휴먼새내기체" pitchFamily="18" charset="-127"/>
                <a:ea typeface="굴림" panose="020B0600000101010101" pitchFamily="50" charset="-127"/>
              </a:defRPr>
            </a:lvl8pPr>
            <a:lvl9pPr marL="3886200" indent="-228600" defTabSz="89535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  <a:defRPr kumimoji="1" sz="1200">
                <a:solidFill>
                  <a:schemeClr val="tx1"/>
                </a:solidFill>
                <a:latin typeface="휴먼새내기체" pitchFamily="18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buSzPct val="120000"/>
              <a:buFont typeface="Wingdings" pitchFamily="2" charset="2"/>
              <a:buNone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분석 시간 단축</a:t>
            </a:r>
          </a:p>
        </p:txBody>
      </p:sp>
      <p:sp>
        <p:nvSpPr>
          <p:cNvPr id="8" name="Rectangle 16">
            <a:extLst>
              <a:ext uri="{FF2B5EF4-FFF2-40B4-BE49-F238E27FC236}">
                <a16:creationId xmlns:a16="http://schemas.microsoft.com/office/drawing/2014/main" id="{FAF20F80-73A0-485E-5D95-FA5703C431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2508" y="2257088"/>
            <a:ext cx="257110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810" tIns="0" rIns="3810" bIns="0" anchor="b">
            <a:spAutoFit/>
          </a:bodyPr>
          <a:lstStyle/>
          <a:p>
            <a:pPr algn="ctr" eaLnBrk="1" hangingPunct="1">
              <a:buSzPct val="120000"/>
              <a:buFont typeface="Wingdings" pitchFamily="2" charset="2"/>
              <a:buNone/>
            </a:pP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데이터 기반 의사결정 강화</a:t>
            </a:r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8783ACED-A609-F36A-7B85-535E10B92AED}"/>
              </a:ext>
            </a:extLst>
          </p:cNvPr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6110141" y="2561161"/>
            <a:ext cx="752983" cy="510199"/>
          </a:xfrm>
          <a:custGeom>
            <a:avLst/>
            <a:gdLst/>
            <a:ahLst/>
            <a:cxnLst>
              <a:cxn ang="0">
                <a:pos x="0" y="295"/>
              </a:cxn>
              <a:cxn ang="0">
                <a:pos x="0" y="103"/>
              </a:cxn>
              <a:cxn ang="0">
                <a:pos x="384" y="0"/>
              </a:cxn>
              <a:cxn ang="0">
                <a:pos x="384" y="295"/>
              </a:cxn>
              <a:cxn ang="0">
                <a:pos x="0" y="295"/>
              </a:cxn>
            </a:cxnLst>
            <a:rect l="0" t="0" r="r" b="b"/>
            <a:pathLst>
              <a:path w="384" h="295">
                <a:moveTo>
                  <a:pt x="0" y="295"/>
                </a:moveTo>
                <a:lnTo>
                  <a:pt x="0" y="103"/>
                </a:lnTo>
                <a:lnTo>
                  <a:pt x="384" y="0"/>
                </a:lnTo>
                <a:lnTo>
                  <a:pt x="384" y="295"/>
                </a:lnTo>
                <a:lnTo>
                  <a:pt x="0" y="295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 w="9525">
            <a:solidFill>
              <a:srgbClr val="93B5D1"/>
            </a:solidFill>
            <a:round/>
            <a:headEnd/>
            <a:tailEnd/>
          </a:ln>
          <a:effectLst/>
        </p:spPr>
        <p:txBody>
          <a:bodyPr anchor="ctr"/>
          <a:lstStyle/>
          <a:p>
            <a:pPr latinLnBrk="0"/>
            <a:endParaRPr kumimoji="0" lang="ko-KR" altLang="en-US" sz="1300" b="0">
              <a:solidFill>
                <a:prstClr val="black"/>
              </a:solidFill>
              <a:latin typeface="+mn-ea"/>
              <a:ea typeface="+mn-ea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AF203789-E5FB-6BC7-7779-FC99F00DAB39}"/>
              </a:ext>
            </a:extLst>
          </p:cNvPr>
          <p:cNvCxnSpPr>
            <a:cxnSpLocks/>
          </p:cNvCxnSpPr>
          <p:nvPr/>
        </p:nvCxnSpPr>
        <p:spPr>
          <a:xfrm>
            <a:off x="417066" y="3599097"/>
            <a:ext cx="3357481" cy="0"/>
          </a:xfrm>
          <a:prstGeom prst="line">
            <a:avLst/>
          </a:prstGeom>
          <a:solidFill>
            <a:srgbClr val="E1EEF7"/>
          </a:solidFill>
          <a:ln w="9525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/>
        </p:spPr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5FE6F52A-125E-2BE6-13A7-D849E3EFA59B}"/>
              </a:ext>
            </a:extLst>
          </p:cNvPr>
          <p:cNvCxnSpPr/>
          <p:nvPr/>
        </p:nvCxnSpPr>
        <p:spPr>
          <a:xfrm>
            <a:off x="3769007" y="3072923"/>
            <a:ext cx="3103082" cy="0"/>
          </a:xfrm>
          <a:prstGeom prst="line">
            <a:avLst/>
          </a:prstGeom>
          <a:solidFill>
            <a:srgbClr val="E1EEF7"/>
          </a:solidFill>
          <a:ln w="9525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/>
        </p:spPr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FFA944C7-966E-B292-02CA-CB147BB7DB50}"/>
              </a:ext>
            </a:extLst>
          </p:cNvPr>
          <p:cNvCxnSpPr>
            <a:cxnSpLocks/>
          </p:cNvCxnSpPr>
          <p:nvPr/>
        </p:nvCxnSpPr>
        <p:spPr>
          <a:xfrm>
            <a:off x="6863125" y="2560332"/>
            <a:ext cx="2769825" cy="0"/>
          </a:xfrm>
          <a:prstGeom prst="line">
            <a:avLst/>
          </a:prstGeom>
          <a:solidFill>
            <a:srgbClr val="E1EEF7"/>
          </a:solidFill>
          <a:ln w="9525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/>
        </p:spPr>
      </p:cxnSp>
      <p:sp>
        <p:nvSpPr>
          <p:cNvPr id="13" name="Rectangle 15">
            <a:extLst>
              <a:ext uri="{FF2B5EF4-FFF2-40B4-BE49-F238E27FC236}">
                <a16:creationId xmlns:a16="http://schemas.microsoft.com/office/drawing/2014/main" id="{F6609914-DA29-712B-A86D-AB8E997D31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9550" y="2752482"/>
            <a:ext cx="248564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810" tIns="0" rIns="3810" bIns="0" anchor="b">
            <a:spAutoFit/>
          </a:bodyPr>
          <a:lstStyle>
            <a:lvl1pPr defTabSz="895350" eaLnBrk="0" hangingPunct="0">
              <a:defRPr kumimoji="1" sz="1200">
                <a:solidFill>
                  <a:schemeClr val="tx1"/>
                </a:solidFill>
                <a:latin typeface="휴먼새내기체" pitchFamily="18" charset="-127"/>
                <a:ea typeface="굴림" panose="020B0600000101010101" pitchFamily="50" charset="-127"/>
              </a:defRPr>
            </a:lvl1pPr>
            <a:lvl2pPr marL="742950" indent="-285750" defTabSz="895350" eaLnBrk="0" hangingPunct="0">
              <a:defRPr kumimoji="1" sz="1200">
                <a:solidFill>
                  <a:schemeClr val="tx1"/>
                </a:solidFill>
                <a:latin typeface="휴먼새내기체" pitchFamily="18" charset="-127"/>
                <a:ea typeface="굴림" panose="020B0600000101010101" pitchFamily="50" charset="-127"/>
              </a:defRPr>
            </a:lvl2pPr>
            <a:lvl3pPr marL="1143000" indent="-228600" defTabSz="895350" eaLnBrk="0" hangingPunct="0">
              <a:defRPr kumimoji="1" sz="1200">
                <a:solidFill>
                  <a:schemeClr val="tx1"/>
                </a:solidFill>
                <a:latin typeface="휴먼새내기체" pitchFamily="18" charset="-127"/>
                <a:ea typeface="굴림" panose="020B0600000101010101" pitchFamily="50" charset="-127"/>
              </a:defRPr>
            </a:lvl3pPr>
            <a:lvl4pPr marL="1600200" indent="-228600" defTabSz="895350" eaLnBrk="0" hangingPunct="0">
              <a:defRPr kumimoji="1" sz="1200">
                <a:solidFill>
                  <a:schemeClr val="tx1"/>
                </a:solidFill>
                <a:latin typeface="휴먼새내기체" pitchFamily="18" charset="-127"/>
                <a:ea typeface="굴림" panose="020B0600000101010101" pitchFamily="50" charset="-127"/>
              </a:defRPr>
            </a:lvl4pPr>
            <a:lvl5pPr marL="2057400" indent="-228600" defTabSz="895350" eaLnBrk="0" hangingPunct="0">
              <a:defRPr kumimoji="1" sz="1200">
                <a:solidFill>
                  <a:schemeClr val="tx1"/>
                </a:solidFill>
                <a:latin typeface="휴먼새내기체" pitchFamily="18" charset="-127"/>
                <a:ea typeface="굴림" panose="020B0600000101010101" pitchFamily="50" charset="-127"/>
              </a:defRPr>
            </a:lvl5pPr>
            <a:lvl6pPr marL="2514600" indent="-228600" defTabSz="89535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  <a:defRPr kumimoji="1" sz="1200">
                <a:solidFill>
                  <a:schemeClr val="tx1"/>
                </a:solidFill>
                <a:latin typeface="휴먼새내기체" pitchFamily="18" charset="-127"/>
                <a:ea typeface="굴림" panose="020B0600000101010101" pitchFamily="50" charset="-127"/>
              </a:defRPr>
            </a:lvl6pPr>
            <a:lvl7pPr marL="2971800" indent="-228600" defTabSz="89535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  <a:defRPr kumimoji="1" sz="1200">
                <a:solidFill>
                  <a:schemeClr val="tx1"/>
                </a:solidFill>
                <a:latin typeface="휴먼새내기체" pitchFamily="18" charset="-127"/>
                <a:ea typeface="굴림" panose="020B0600000101010101" pitchFamily="50" charset="-127"/>
              </a:defRPr>
            </a:lvl7pPr>
            <a:lvl8pPr marL="3429000" indent="-228600" defTabSz="89535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  <a:defRPr kumimoji="1" sz="1200">
                <a:solidFill>
                  <a:schemeClr val="tx1"/>
                </a:solidFill>
                <a:latin typeface="휴먼새내기체" pitchFamily="18" charset="-127"/>
                <a:ea typeface="굴림" panose="020B0600000101010101" pitchFamily="50" charset="-127"/>
              </a:defRPr>
            </a:lvl8pPr>
            <a:lvl9pPr marL="3886200" indent="-228600" defTabSz="89535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  <a:defRPr kumimoji="1" sz="1200">
                <a:solidFill>
                  <a:schemeClr val="tx1"/>
                </a:solidFill>
                <a:latin typeface="휴먼새내기체" pitchFamily="18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buSzPct val="120000"/>
              <a:buFont typeface="Wingdings" pitchFamily="2" charset="2"/>
              <a:buNone/>
            </a:pPr>
            <a:r>
              <a:rPr lang="ko-KR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반복 업무 감소</a:t>
            </a:r>
          </a:p>
        </p:txBody>
      </p:sp>
      <p:sp>
        <p:nvSpPr>
          <p:cNvPr id="14" name="Freeform 10">
            <a:extLst>
              <a:ext uri="{FF2B5EF4-FFF2-40B4-BE49-F238E27FC236}">
                <a16:creationId xmlns:a16="http://schemas.microsoft.com/office/drawing/2014/main" id="{4EC90138-4747-CB69-F611-D41B2EC96CB7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3025070" y="3073956"/>
            <a:ext cx="752983" cy="510199"/>
          </a:xfrm>
          <a:custGeom>
            <a:avLst/>
            <a:gdLst/>
            <a:ahLst/>
            <a:cxnLst>
              <a:cxn ang="0">
                <a:pos x="0" y="295"/>
              </a:cxn>
              <a:cxn ang="0">
                <a:pos x="0" y="103"/>
              </a:cxn>
              <a:cxn ang="0">
                <a:pos x="384" y="0"/>
              </a:cxn>
              <a:cxn ang="0">
                <a:pos x="384" y="295"/>
              </a:cxn>
              <a:cxn ang="0">
                <a:pos x="0" y="295"/>
              </a:cxn>
            </a:cxnLst>
            <a:rect l="0" t="0" r="r" b="b"/>
            <a:pathLst>
              <a:path w="384" h="295">
                <a:moveTo>
                  <a:pt x="0" y="295"/>
                </a:moveTo>
                <a:lnTo>
                  <a:pt x="0" y="103"/>
                </a:lnTo>
                <a:lnTo>
                  <a:pt x="384" y="0"/>
                </a:lnTo>
                <a:lnTo>
                  <a:pt x="384" y="295"/>
                </a:lnTo>
                <a:lnTo>
                  <a:pt x="0" y="295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 w="9525">
            <a:solidFill>
              <a:srgbClr val="93B5D1"/>
            </a:solidFill>
            <a:round/>
            <a:headEnd/>
            <a:tailEnd/>
          </a:ln>
          <a:effectLst/>
        </p:spPr>
        <p:txBody>
          <a:bodyPr anchor="ctr"/>
          <a:lstStyle/>
          <a:p>
            <a:pPr latinLnBrk="0"/>
            <a:endParaRPr kumimoji="0" lang="ko-KR" altLang="en-US" sz="1300" b="0">
              <a:solidFill>
                <a:prstClr val="black"/>
              </a:solidFill>
              <a:latin typeface="+mn-ea"/>
              <a:ea typeface="+mn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478035-6F18-F010-2C8C-F3366AA135CE}"/>
              </a:ext>
            </a:extLst>
          </p:cNvPr>
          <p:cNvSpPr txBox="1"/>
          <p:nvPr/>
        </p:nvSpPr>
        <p:spPr>
          <a:xfrm>
            <a:off x="632767" y="3659408"/>
            <a:ext cx="273662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latinLnBrk="0">
              <a:buFont typeface="Wingdings" pitchFamily="2" charset="2"/>
              <a:buChar char="§"/>
            </a:pPr>
            <a:r>
              <a:rPr lang="ko-KR" altLang="en-US" sz="1200" b="0" dirty="0">
                <a:latin typeface="+mn-ea"/>
                <a:ea typeface="+mn-ea"/>
              </a:rPr>
              <a:t>질문 → 결과까지 수일 → 수분으로 단축</a:t>
            </a:r>
          </a:p>
          <a:p>
            <a:pPr marL="171450" indent="-171450" latinLnBrk="0">
              <a:buFont typeface="Wingdings" pitchFamily="2" charset="2"/>
              <a:buChar char="§"/>
            </a:pPr>
            <a:endParaRPr lang="en-US" altLang="ko-KR" sz="1200" b="0" dirty="0">
              <a:latin typeface="+mn-ea"/>
              <a:ea typeface="+mn-ea"/>
            </a:endParaRPr>
          </a:p>
          <a:p>
            <a:pPr marL="171450" indent="-171450" latinLnBrk="0">
              <a:buFont typeface="Wingdings" pitchFamily="2" charset="2"/>
              <a:buChar char="§"/>
            </a:pPr>
            <a:r>
              <a:rPr lang="ko-KR" altLang="en-US" sz="1200" b="0" dirty="0">
                <a:latin typeface="+mn-ea"/>
                <a:ea typeface="+mn-ea"/>
              </a:rPr>
              <a:t>데이터 추출 · 가공 · 시각화 단계 자동화</a:t>
            </a:r>
          </a:p>
          <a:p>
            <a:pPr marL="171450" indent="-171450" latinLnBrk="0">
              <a:buFont typeface="Wingdings" pitchFamily="2" charset="2"/>
              <a:buChar char="§"/>
            </a:pPr>
            <a:endParaRPr lang="en-US" altLang="ko-KR" sz="1200" b="0" dirty="0">
              <a:latin typeface="+mn-ea"/>
              <a:ea typeface="+mn-ea"/>
            </a:endParaRPr>
          </a:p>
          <a:p>
            <a:pPr marL="171450" indent="-171450" latinLnBrk="0">
              <a:buFont typeface="Wingdings" pitchFamily="2" charset="2"/>
              <a:buChar char="§"/>
            </a:pPr>
            <a:r>
              <a:rPr lang="ko-KR" altLang="en-US" sz="1200" b="0" dirty="0">
                <a:latin typeface="+mn-ea"/>
                <a:ea typeface="+mn-ea"/>
              </a:rPr>
              <a:t>의사결정 사이클 가속화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78733D-2914-411E-6875-8380C7B0F111}"/>
              </a:ext>
            </a:extLst>
          </p:cNvPr>
          <p:cNvSpPr txBox="1"/>
          <p:nvPr/>
        </p:nvSpPr>
        <p:spPr>
          <a:xfrm>
            <a:off x="3792816" y="3278166"/>
            <a:ext cx="281693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latinLnBrk="0">
              <a:buFont typeface="Wingdings" pitchFamily="2" charset="2"/>
              <a:buChar char="§"/>
            </a:pPr>
            <a:r>
              <a:rPr lang="ko-KR" altLang="en-US" sz="1200" b="0" dirty="0">
                <a:latin typeface="+mn-ea"/>
                <a:ea typeface="+mn-ea"/>
              </a:rPr>
              <a:t>정형화된 분석 요청은 자연어 질의로 즉시 처리</a:t>
            </a:r>
          </a:p>
          <a:p>
            <a:pPr marL="171450" indent="-171450" latinLnBrk="0">
              <a:buFont typeface="Wingdings" pitchFamily="2" charset="2"/>
              <a:buChar char="§"/>
            </a:pPr>
            <a:endParaRPr lang="en-US" altLang="ko-KR" sz="1200" b="0" dirty="0">
              <a:latin typeface="+mn-ea"/>
              <a:ea typeface="+mn-ea"/>
            </a:endParaRPr>
          </a:p>
          <a:p>
            <a:pPr marL="171450" indent="-171450" latinLnBrk="0">
              <a:buFont typeface="Wingdings" pitchFamily="2" charset="2"/>
              <a:buChar char="§"/>
            </a:pPr>
            <a:r>
              <a:rPr lang="ko-KR" altLang="en-US" sz="1200" b="0" dirty="0">
                <a:latin typeface="+mn-ea"/>
                <a:ea typeface="+mn-ea"/>
              </a:rPr>
              <a:t>반복 분석 요청 처리에 들이던 인력 · 시간 절감</a:t>
            </a:r>
          </a:p>
          <a:p>
            <a:pPr marL="171450" indent="-171450" latinLnBrk="0">
              <a:buFont typeface="Wingdings" pitchFamily="2" charset="2"/>
              <a:buChar char="§"/>
            </a:pPr>
            <a:endParaRPr lang="en-US" altLang="ko-KR" sz="1200" b="0" dirty="0">
              <a:latin typeface="+mn-ea"/>
              <a:ea typeface="+mn-ea"/>
            </a:endParaRPr>
          </a:p>
          <a:p>
            <a:pPr marL="171450" indent="-171450" latinLnBrk="0">
              <a:buFont typeface="Wingdings" pitchFamily="2" charset="2"/>
              <a:buChar char="§"/>
            </a:pPr>
            <a:r>
              <a:rPr lang="ko-KR" altLang="en-US" sz="1200" b="0" dirty="0">
                <a:latin typeface="+mn-ea"/>
                <a:ea typeface="+mn-ea"/>
              </a:rPr>
              <a:t>SQL · 통계 지식 없이도 비전문가가 직접 분석 수행</a:t>
            </a:r>
          </a:p>
          <a:p>
            <a:pPr marL="171450" indent="-171450" latinLnBrk="0">
              <a:buFont typeface="Wingdings" pitchFamily="2" charset="2"/>
              <a:buChar char="§"/>
            </a:pPr>
            <a:endParaRPr lang="en-US" altLang="ko-KR" sz="1200" b="0" dirty="0">
              <a:latin typeface="+mn-ea"/>
              <a:ea typeface="+mn-ea"/>
            </a:endParaRPr>
          </a:p>
          <a:p>
            <a:pPr marL="171450" indent="-171450" latinLnBrk="0">
              <a:buFont typeface="Wingdings" pitchFamily="2" charset="2"/>
              <a:buChar char="§"/>
            </a:pPr>
            <a:r>
              <a:rPr lang="ko-KR" altLang="en-US" sz="1200" b="0" dirty="0">
                <a:latin typeface="+mn-ea"/>
                <a:ea typeface="+mn-ea"/>
              </a:rPr>
              <a:t>전문가는 고난도 · 전략 분석에 집중 가능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7D87944-4D9B-6C01-7F49-2961E5D133B9}"/>
              </a:ext>
            </a:extLst>
          </p:cNvPr>
          <p:cNvSpPr txBox="1"/>
          <p:nvPr/>
        </p:nvSpPr>
        <p:spPr>
          <a:xfrm>
            <a:off x="6886852" y="2776871"/>
            <a:ext cx="267466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latinLnBrk="0">
              <a:buFont typeface="Wingdings" pitchFamily="2" charset="2"/>
              <a:buChar char="§"/>
            </a:pPr>
            <a:r>
              <a:rPr lang="ko-KR" altLang="en-US" sz="1200" b="0" dirty="0">
                <a:latin typeface="+mn-ea"/>
                <a:ea typeface="+mn-ea"/>
              </a:rPr>
              <a:t>분석 결과가 일상 의사결정 흐름에 자연스럽게 통합</a:t>
            </a:r>
          </a:p>
          <a:p>
            <a:pPr marL="171450" indent="-171450" latinLnBrk="0">
              <a:buFont typeface="Wingdings" pitchFamily="2" charset="2"/>
              <a:buChar char="§"/>
            </a:pPr>
            <a:endParaRPr lang="en-US" altLang="ko-KR" sz="1200" b="0" dirty="0">
              <a:latin typeface="+mn-ea"/>
              <a:ea typeface="+mn-ea"/>
            </a:endParaRPr>
          </a:p>
          <a:p>
            <a:pPr marL="171450" indent="-171450" latinLnBrk="0">
              <a:buFont typeface="Wingdings" pitchFamily="2" charset="2"/>
              <a:buChar char="§"/>
            </a:pPr>
            <a:r>
              <a:rPr lang="ko-KR" altLang="en-US" sz="1200" b="0" dirty="0">
                <a:latin typeface="+mn-ea"/>
                <a:ea typeface="+mn-ea"/>
              </a:rPr>
              <a:t>경영진 · 현장 모두 동일한 데이터를 근거로 판단</a:t>
            </a:r>
          </a:p>
          <a:p>
            <a:pPr marL="171450" indent="-171450" latinLnBrk="0">
              <a:buFont typeface="Wingdings" pitchFamily="2" charset="2"/>
              <a:buChar char="§"/>
            </a:pPr>
            <a:endParaRPr lang="en-US" altLang="ko-KR" sz="1200" b="0" dirty="0">
              <a:latin typeface="+mn-ea"/>
              <a:ea typeface="+mn-ea"/>
            </a:endParaRPr>
          </a:p>
          <a:p>
            <a:pPr marL="171450" indent="-171450" latinLnBrk="0">
              <a:buFont typeface="Wingdings" pitchFamily="2" charset="2"/>
              <a:buChar char="§"/>
            </a:pPr>
            <a:r>
              <a:rPr lang="ko-KR" altLang="en-US" sz="1200" b="0" dirty="0">
                <a:latin typeface="+mn-ea"/>
                <a:ea typeface="+mn-ea"/>
              </a:rPr>
              <a:t>조직 전체의 데이터 활용도와 인사이트 수준 동반 상승</a:t>
            </a:r>
          </a:p>
        </p:txBody>
      </p:sp>
    </p:spTree>
    <p:extLst>
      <p:ext uri="{BB962C8B-B14F-4D97-AF65-F5344CB8AC3E}">
        <p14:creationId xmlns:p14="http://schemas.microsoft.com/office/powerpoint/2010/main" val="20564428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125637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LEFT" val=" 517.875"/>
  <p:tag name="LTOP" val=" 23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LEFT" val=" 517.875"/>
  <p:tag name="LTOP" val=" 23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LEFT" val=" 517.875"/>
  <p:tag name="LTOP" val=" 23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LEFT" val=" 517.875"/>
  <p:tag name="LTOP" val=" 239"/>
</p:tagLst>
</file>

<file path=ppt/theme/theme1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1AA0CA"/>
        </a:solidFill>
        <a:ln>
          <a:noFill/>
        </a:ln>
        <a:effectLst/>
      </a:spPr>
      <a:bodyPr rtlCol="0" anchor="ctr"/>
      <a:lstStyle>
        <a:defPPr algn="ctr" defTabSz="911896">
          <a:defRPr dirty="0">
            <a:solidFill>
              <a:prstClr val="white"/>
            </a:solidFill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  <a:style>
        <a:lnRef idx="2">
          <a:schemeClr val="accent2">
            <a:shade val="50000"/>
          </a:schemeClr>
        </a:lnRef>
        <a:fillRef idx="1">
          <a:schemeClr val="accent2"/>
        </a:fillRef>
        <a:effectRef idx="0">
          <a:schemeClr val="accent2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b="0" smtClean="0">
            <a:latin typeface="+mn-ea"/>
            <a:ea typeface="+mn-e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639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1028B94-0C0C-4ECC-9E21-DC25554B6138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cbd65dfa-8267-4cec-a77f-8d20d6050df4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제조분야 사업 실적_수정안</Template>
  <TotalTime>70131</TotalTime>
  <Words>1109</Words>
  <Application>Microsoft Office PowerPoint</Application>
  <PresentationFormat>A4 용지(210x297mm)</PresentationFormat>
  <Paragraphs>281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1" baseType="lpstr">
      <vt:lpstr>KoPub돋움체 Bold</vt:lpstr>
      <vt:lpstr>굴림</vt:lpstr>
      <vt:lpstr>맑은 고딕</vt:lpstr>
      <vt:lpstr>Arial</vt:lpstr>
      <vt:lpstr>Times New Roman</vt:lpstr>
      <vt:lpstr>Wingdings</vt:lpstr>
      <vt:lpstr>1_디자인 사용자 지정</vt:lpstr>
      <vt:lpstr>PowerPoint 프레젠테이션</vt:lpstr>
      <vt:lpstr>PowerPoint 프레젠테이션</vt:lpstr>
      <vt:lpstr>1. ECMiner™ AIDA 개요</vt:lpstr>
      <vt:lpstr>1. ECMiner™ AIDA 개요</vt:lpstr>
      <vt:lpstr>1. ECMiner™ AIDA 개요</vt:lpstr>
      <vt:lpstr>1. ECMiner™ AIDA 개요</vt:lpstr>
      <vt:lpstr>1. ECMiner™ AIDA 개요</vt:lpstr>
      <vt:lpstr>1. ECMiner™ AIDA 개요</vt:lpstr>
      <vt:lpstr>1. ECMiner™ AIDA 개요</vt:lpstr>
      <vt:lpstr>2. ECMiner™ AIDA 주요 기능</vt:lpstr>
      <vt:lpstr>2. ECMiner™ 주요 기능</vt:lpstr>
      <vt:lpstr>4. Digital Transformation with ECMiner™</vt:lpstr>
      <vt:lpstr>AIDA 도입 시 변화</vt:lpstr>
      <vt:lpstr>PowerPoint 프레젠테이션</vt:lpstr>
    </vt:vector>
  </TitlesOfParts>
  <Company>ECMIner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0</dc:title>
  <dc:creator>ECMiner</dc:creator>
  <cp:lastModifiedBy>선중 김</cp:lastModifiedBy>
  <cp:revision>4605</cp:revision>
  <cp:lastPrinted>2025-07-03T02:48:31Z</cp:lastPrinted>
  <dcterms:created xsi:type="dcterms:W3CDTF">2011-12-28T05:39:44Z</dcterms:created>
  <dcterms:modified xsi:type="dcterms:W3CDTF">2026-04-27T07:41:32Z</dcterms:modified>
</cp:coreProperties>
</file>