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90" r:id="rId2"/>
    <p:sldId id="443" r:id="rId3"/>
    <p:sldId id="468" r:id="rId4"/>
    <p:sldId id="471" r:id="rId5"/>
    <p:sldId id="469" r:id="rId6"/>
    <p:sldId id="470" r:id="rId7"/>
    <p:sldId id="495" r:id="rId8"/>
    <p:sldId id="496" r:id="rId9"/>
    <p:sldId id="497" r:id="rId10"/>
    <p:sldId id="498" r:id="rId11"/>
    <p:sldId id="499" r:id="rId12"/>
    <p:sldId id="467" r:id="rId13"/>
    <p:sldId id="474" r:id="rId14"/>
    <p:sldId id="492" r:id="rId15"/>
    <p:sldId id="475" r:id="rId16"/>
    <p:sldId id="493" r:id="rId17"/>
    <p:sldId id="494" r:id="rId18"/>
    <p:sldId id="500" r:id="rId19"/>
    <p:sldId id="503" r:id="rId20"/>
    <p:sldId id="501" r:id="rId21"/>
    <p:sldId id="504" r:id="rId22"/>
    <p:sldId id="505" r:id="rId23"/>
    <p:sldId id="506" r:id="rId24"/>
    <p:sldId id="47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640" userDrawn="1">
          <p15:clr>
            <a:srgbClr val="A4A3A4"/>
          </p15:clr>
        </p15:guide>
        <p15:guide id="6" orient="horz" pos="3952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0F41"/>
    <a:srgbClr val="003481"/>
    <a:srgbClr val="1C8AA8"/>
    <a:srgbClr val="42BEE0"/>
    <a:srgbClr val="0D0D0D"/>
    <a:srgbClr val="115445"/>
    <a:srgbClr val="003058"/>
    <a:srgbClr val="1A806A"/>
    <a:srgbClr val="46ECC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9" autoAdjust="0"/>
    <p:restoredTop sz="95244" autoAdjust="0"/>
  </p:normalViewPr>
  <p:slideViewPr>
    <p:cSldViewPr snapToGrid="0" showGuides="1">
      <p:cViewPr varScale="1">
        <p:scale>
          <a:sx n="103" d="100"/>
          <a:sy n="103" d="100"/>
        </p:scale>
        <p:origin x="348" y="102"/>
      </p:cViewPr>
      <p:guideLst>
        <p:guide orient="horz" pos="640"/>
        <p:guide orient="horz" pos="395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0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DD21606-E1F2-4B97-92D1-DAFD45C02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DE7504-E995-4FB2-8A43-D5D7468BF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2224D-1184-45AE-8BA6-1991448FAB4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423F3-CAF7-4940-839A-645C7FDAD4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01FC86-7DA0-458D-A79F-F298A2B27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E0067-DAD4-47D5-9E01-EB118C352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8865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B575A-33D8-471D-8367-A965AB842AA0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702A0-409D-4B63-B3B2-61BA02D306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2954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529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4905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>
            <a:cxnSpLocks/>
          </p:cNvCxnSpPr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BF39CA-215A-3E2C-499B-D2E7C01BC94E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03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rgbClr val="CD0F4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/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rgbClr val="CD0F4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9B474D-82B9-2625-36DA-A9B741225884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rgbClr val="CD0F4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71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3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rgbClr val="11544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/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rgbClr val="11544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A72096-B208-87BD-C698-6017ABB92E84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rgbClr val="11544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357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8507F9-1CF9-E08D-3BF0-3B474E5E7B16}"/>
              </a:ext>
            </a:extLst>
          </p:cNvPr>
          <p:cNvSpPr/>
          <p:nvPr userDrawn="1"/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1E2E7F-8145-3920-FD4C-F46488E27B7B}"/>
              </a:ext>
            </a:extLst>
          </p:cNvPr>
          <p:cNvSpPr/>
          <p:nvPr userDrawn="1"/>
        </p:nvSpPr>
        <p:spPr>
          <a:xfrm>
            <a:off x="746760" y="6451200"/>
            <a:ext cx="11445240" cy="406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0B9A51-D3EB-8362-3C96-9E9B12C94A20}"/>
              </a:ext>
            </a:extLst>
          </p:cNvPr>
          <p:cNvCxnSpPr>
            <a:cxnSpLocks/>
          </p:cNvCxnSpPr>
          <p:nvPr userDrawn="1"/>
        </p:nvCxnSpPr>
        <p:spPr>
          <a:xfrm>
            <a:off x="746760" y="448197"/>
            <a:ext cx="11445240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994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7C1690A-53F2-AACC-E41C-FDB6A6E2FE3B}"/>
              </a:ext>
            </a:extLst>
          </p:cNvPr>
          <p:cNvSpPr/>
          <p:nvPr userDrawn="1"/>
        </p:nvSpPr>
        <p:spPr>
          <a:xfrm>
            <a:off x="0" y="1"/>
            <a:ext cx="1174830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315A6F-4D7E-4612-6651-B33F7B381F65}"/>
              </a:ext>
            </a:extLst>
          </p:cNvPr>
          <p:cNvSpPr/>
          <p:nvPr userDrawn="1"/>
        </p:nvSpPr>
        <p:spPr>
          <a:xfrm>
            <a:off x="0" y="0"/>
            <a:ext cx="468000" cy="6857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745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45F8D-DB4A-9042-1AFA-2928B8EC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30000"/>
              </a:lnSpc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B5B7A9-1442-4FEE-94B0-409B8D974480}"/>
              </a:ext>
            </a:extLst>
          </p:cNvPr>
          <p:cNvSpPr/>
          <p:nvPr userDrawn="1"/>
        </p:nvSpPr>
        <p:spPr>
          <a:xfrm>
            <a:off x="0" y="6452296"/>
            <a:ext cx="12192000" cy="40570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35254-E8CC-4107-BAB3-2D503DF0BBA9}"/>
              </a:ext>
            </a:extLst>
          </p:cNvPr>
          <p:cNvSpPr txBox="1"/>
          <p:nvPr userDrawn="1"/>
        </p:nvSpPr>
        <p:spPr>
          <a:xfrm>
            <a:off x="11264637" y="6534846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10F0811-F307-44F9-A192-63EBA736051C}" type="slidenum">
              <a:rPr lang="ko-KR" altLang="en-US" sz="110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pPr algn="r"/>
              <a:t>‹#›</a:t>
            </a:fld>
            <a:endParaRPr lang="ko-KR" altLang="en-US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45E2706-9F36-44D5-825D-E65E51DBDFB3}"/>
              </a:ext>
            </a:extLst>
          </p:cNvPr>
          <p:cNvCxnSpPr>
            <a:cxnSpLocks/>
          </p:cNvCxnSpPr>
          <p:nvPr userDrawn="1"/>
        </p:nvCxnSpPr>
        <p:spPr>
          <a:xfrm>
            <a:off x="407988" y="334209"/>
            <a:ext cx="587435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7F3E59-0969-EE7A-2BB6-E5F9B8839E9C}"/>
              </a:ext>
            </a:extLst>
          </p:cNvPr>
          <p:cNvSpPr txBox="1"/>
          <p:nvPr userDrawn="1"/>
        </p:nvSpPr>
        <p:spPr>
          <a:xfrm>
            <a:off x="8737600" y="6511402"/>
            <a:ext cx="2699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Sun </a:t>
            </a:r>
            <a:r>
              <a:rPr lang="en-US" altLang="ko-KR" sz="1200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Joong</a:t>
            </a:r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Kim</a:t>
            </a:r>
            <a:endParaRPr lang="ko-KR" altLang="en-US" sz="12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E958FD8-85E2-8BB2-890F-F2772D67A7AD}"/>
              </a:ext>
            </a:extLst>
          </p:cNvPr>
          <p:cNvCxnSpPr>
            <a:cxnSpLocks/>
          </p:cNvCxnSpPr>
          <p:nvPr userDrawn="1"/>
        </p:nvCxnSpPr>
        <p:spPr>
          <a:xfrm flipH="1">
            <a:off x="5966691" y="573498"/>
            <a:ext cx="581732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089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orient="horz" pos="18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C43F72-E5DE-419E-BD27-4D80F2347558}"/>
              </a:ext>
            </a:extLst>
          </p:cNvPr>
          <p:cNvSpPr/>
          <p:nvPr userDrawn="1"/>
        </p:nvSpPr>
        <p:spPr>
          <a:xfrm>
            <a:off x="-1" y="1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F09818-5DA9-6D46-D357-2D7273192870}"/>
              </a:ext>
            </a:extLst>
          </p:cNvPr>
          <p:cNvSpPr/>
          <p:nvPr userDrawn="1"/>
        </p:nvSpPr>
        <p:spPr>
          <a:xfrm>
            <a:off x="0" y="0"/>
            <a:ext cx="12192000" cy="635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9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31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69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50" r:id="rId4"/>
    <p:sldLayoutId id="2147483663" r:id="rId5"/>
    <p:sldLayoutId id="2147483652" r:id="rId6"/>
    <p:sldLayoutId id="2147483653" r:id="rId7"/>
    <p:sldLayoutId id="2147483654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vin08.github.io/" TargetMode="External"/><Relationship Id="rId2" Type="http://schemas.openxmlformats.org/officeDocument/2006/relationships/hyperlink" Target="mailto:govidnah08@gmail.com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ovin08/Lipschitz_Constant_of_DNN/blob/main/Lipschitz_constant_of_neural_networks.pdf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ovin08.github.io/machine_learning/socar_zones/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govindah08@gmail.com" TargetMode="External"/><Relationship Id="rId5" Type="http://schemas.openxmlformats.org/officeDocument/2006/relationships/hyperlink" Target="https://github.com/govin08" TargetMode="External"/><Relationship Id="rId4" Type="http://schemas.openxmlformats.org/officeDocument/2006/relationships/hyperlink" Target="https://govin08.github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0B4620-3B0C-4817-A148-5CBD5E108D70}"/>
              </a:ext>
            </a:extLst>
          </p:cNvPr>
          <p:cNvSpPr txBox="1"/>
          <p:nvPr/>
        </p:nvSpPr>
        <p:spPr>
          <a:xfrm>
            <a:off x="802600" y="1144630"/>
            <a:ext cx="7577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-150" dirty="0">
                <a:solidFill>
                  <a:srgbClr val="11544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기술의 원리에 대해 고민하는 개발자입니다</a:t>
            </a:r>
            <a:r>
              <a:rPr lang="en-US" altLang="ko-KR" sz="3600" spc="-150" dirty="0">
                <a:solidFill>
                  <a:srgbClr val="11544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B4FA56-5E7A-6259-72D3-B1E77F05289D}"/>
              </a:ext>
            </a:extLst>
          </p:cNvPr>
          <p:cNvSpPr txBox="1"/>
          <p:nvPr/>
        </p:nvSpPr>
        <p:spPr>
          <a:xfrm>
            <a:off x="7047337" y="5067040"/>
            <a:ext cx="3905250" cy="1109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endParaRPr lang="en-US" altLang="ko-KR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010-2405-7290</a:t>
            </a:r>
          </a:p>
          <a:p>
            <a:pPr algn="r">
              <a:lnSpc>
                <a:spcPct val="130000"/>
              </a:lnSpc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2"/>
              </a:rPr>
              <a:t>govidnah08@gmail.com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https://govin08.github.io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2F0210D-6CE4-DC1D-3BC9-5110C3046B7E}"/>
              </a:ext>
            </a:extLst>
          </p:cNvPr>
          <p:cNvCxnSpPr>
            <a:cxnSpLocks/>
          </p:cNvCxnSpPr>
          <p:nvPr/>
        </p:nvCxnSpPr>
        <p:spPr>
          <a:xfrm>
            <a:off x="11020425" y="5191125"/>
            <a:ext cx="0" cy="985834"/>
          </a:xfrm>
          <a:prstGeom prst="line">
            <a:avLst/>
          </a:prstGeom>
          <a:ln w="22225">
            <a:solidFill>
              <a:srgbClr val="11544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295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BBFFE-D00A-4487-A3D8-046C563AE319}"/>
              </a:ext>
            </a:extLst>
          </p:cNvPr>
          <p:cNvSpPr txBox="1"/>
          <p:nvPr/>
        </p:nvSpPr>
        <p:spPr>
          <a:xfrm>
            <a:off x="6510129" y="1827450"/>
            <a:ext cx="5178287" cy="2636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2" action="ppaction://hlinksldjump"/>
              </a:rPr>
              <a:t>자기소개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FontTx/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3" action="ppaction://hlinksldjump"/>
              </a:rPr>
              <a:t>기술 보유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4" action="ppaction://hlinksldjump"/>
              </a:rPr>
              <a:t>학력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4" action="ppaction://hlinksldjump"/>
              </a:rPr>
              <a:t>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4" action="ppaction://hlinksldjump"/>
              </a:rPr>
              <a:t>및 경력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5" action="ppaction://hlinksldjump"/>
              </a:rPr>
              <a:t>참여 프로젝트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프로젝트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41200"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5.1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신경망의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Lipschitz constant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계산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(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석사논문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6" action="ppaction://hlinksldjump"/>
              </a:rPr>
              <a:t>)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41200"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5.2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7" action="ppaction://hlinksldjump"/>
              </a:rPr>
              <a:t>신규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7" action="ppaction://hlinksldjump"/>
              </a:rPr>
              <a:t>쏘카존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7" action="ppaction://hlinksldjump"/>
              </a:rPr>
              <a:t> 제안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7" action="ppaction://hlinksldjump"/>
              </a:rPr>
              <a:t>(AIFFEL)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41200"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5.3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신호생성 모듈 및 통행배정 모듈 개발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(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성남시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ITS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사업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hlinkClick r:id="rId8" action="ppaction://hlinksldjump"/>
              </a:rPr>
              <a:t>)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E2AC3-BF26-49AB-834B-CE8814B1ED51}"/>
              </a:ext>
            </a:extLst>
          </p:cNvPr>
          <p:cNvSpPr txBox="1"/>
          <p:nvPr/>
        </p:nvSpPr>
        <p:spPr>
          <a:xfrm>
            <a:off x="1558448" y="2844225"/>
            <a:ext cx="2960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CONTENTS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432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자기소개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038ACB-0880-F769-31E2-D84D568B3FBA}"/>
              </a:ext>
            </a:extLst>
          </p:cNvPr>
          <p:cNvSpPr/>
          <p:nvPr/>
        </p:nvSpPr>
        <p:spPr>
          <a:xfrm>
            <a:off x="5820227" y="1639314"/>
            <a:ext cx="5858251" cy="549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 전공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학부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대학원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수학입니다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수학을 오래 공부한 만큼 주어진 문제를 수학적으로 해석하고 활용하는 데에 특기가 있습니다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F176D47-550C-438B-4654-D46E4BA5ED4D}"/>
              </a:ext>
            </a:extLst>
          </p:cNvPr>
          <p:cNvSpPr/>
          <p:nvPr/>
        </p:nvSpPr>
        <p:spPr>
          <a:xfrm>
            <a:off x="5809712" y="3145972"/>
            <a:ext cx="5868766" cy="78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수학 전공을 가장 잘 발휘할 수 있는 응용분야 중 하나는 최적화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(optimization)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다양한 문제상황을 최적화 문제로서 적절히 정의하고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선형계획법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유전알고리즘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신경망 등을 활용하여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최적화문제를 해결할 수 있습니다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BDA13CD-F773-AC8A-C9ED-8711CE3D9DC4}"/>
              </a:ext>
            </a:extLst>
          </p:cNvPr>
          <p:cNvSpPr/>
          <p:nvPr/>
        </p:nvSpPr>
        <p:spPr>
          <a:xfrm>
            <a:off x="5820227" y="4652630"/>
            <a:ext cx="5858251" cy="1269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대학원 재학 중 지도교수님의 지도 아래에서 머신러닝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딥러닝에 관한 이론을 폭넓게 공부했습니다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MLP, CNN, RNN, attention, transformer, auto-encoder, GAN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등에 대한 지식을 가지고 있습니다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이외에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강화학습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GNN(graph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NN), BNN(Bayesian NN), NLP(natural language processing)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대해서도 간략하게 익혔습니다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CDEA7E-2412-339C-29ED-80F2508862F9}"/>
              </a:ext>
            </a:extLst>
          </p:cNvPr>
          <p:cNvSpPr txBox="1"/>
          <p:nvPr/>
        </p:nvSpPr>
        <p:spPr>
          <a:xfrm>
            <a:off x="5820227" y="1338289"/>
            <a:ext cx="2204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수학적인 사고능력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E9893-71C1-1D4A-750B-4F7B90BDFED0}"/>
              </a:ext>
            </a:extLst>
          </p:cNvPr>
          <p:cNvSpPr txBox="1"/>
          <p:nvPr/>
        </p:nvSpPr>
        <p:spPr>
          <a:xfrm>
            <a:off x="5809712" y="2847643"/>
            <a:ext cx="305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최적화 문제에 대한 해결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8CC58E-2B15-C190-275C-EB6B0204981E}"/>
              </a:ext>
            </a:extLst>
          </p:cNvPr>
          <p:cNvSpPr txBox="1"/>
          <p:nvPr/>
        </p:nvSpPr>
        <p:spPr>
          <a:xfrm>
            <a:off x="5820227" y="4396533"/>
            <a:ext cx="3741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머신러닝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딥러닝 이론에 대한 이해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BC8E5F-2AAD-3932-417E-6DA8B63BA994}"/>
              </a:ext>
            </a:extLst>
          </p:cNvPr>
          <p:cNvSpPr/>
          <p:nvPr/>
        </p:nvSpPr>
        <p:spPr>
          <a:xfrm>
            <a:off x="1458906" y="1391932"/>
            <a:ext cx="2847643" cy="284764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7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기술 보유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4A6CD8-6DEA-E9A9-FF45-D15AF632AA27}"/>
              </a:ext>
            </a:extLst>
          </p:cNvPr>
          <p:cNvSpPr/>
          <p:nvPr/>
        </p:nvSpPr>
        <p:spPr>
          <a:xfrm>
            <a:off x="1055689" y="2457046"/>
            <a:ext cx="4314598" cy="144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</a:t>
            </a:r>
            <a:r>
              <a:rPr lang="ko-KR" altLang="ko-KR" sz="1200" kern="10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 프로그래밍 개발 가능</a:t>
            </a:r>
          </a:p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numpy</a:t>
            </a:r>
            <a:r>
              <a:rPr lang="en-US" altLang="ko-KR" sz="1200" kern="10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/pandas</a:t>
            </a:r>
            <a:r>
              <a:rPr lang="ko-KR" altLang="en-US" sz="1200" kern="10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통한 데이터 처리 가능</a:t>
            </a:r>
            <a:endParaRPr lang="en-US" altLang="ko-KR" sz="1200" kern="10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git/</a:t>
            </a:r>
            <a:r>
              <a:rPr lang="en-US" altLang="ko-KR" sz="1200" kern="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github</a:t>
            </a:r>
            <a:r>
              <a:rPr lang="ko-KR" altLang="en-US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통한 협업 가능</a:t>
            </a:r>
            <a:endParaRPr lang="en-US" altLang="ko-KR" sz="1200" kern="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keras</a:t>
            </a:r>
            <a:r>
              <a:rPr lang="en-US" altLang="ko-KR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en-US" altLang="ko-KR" sz="1200" kern="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tensorflow</a:t>
            </a:r>
            <a:r>
              <a:rPr lang="ko-KR" altLang="en-US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통한 인공지능 아키텍쳐 구축 가능</a:t>
            </a:r>
            <a:endParaRPr lang="en-US" altLang="ko-KR" sz="1200" kern="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4625" indent="-174625"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TeX</a:t>
            </a:r>
            <a:r>
              <a:rPr lang="en-US" altLang="ko-KR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/LaTeX</a:t>
            </a:r>
            <a:r>
              <a:rPr lang="ko-KR" altLang="en-US" sz="1200" kern="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통한 수식 문서 작성 능숙</a:t>
            </a:r>
            <a:endParaRPr lang="ko-KR" altLang="ko-KR" sz="1600" kern="10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2ECDA-18C2-DFD6-8753-C8D7CEE2EA00}"/>
              </a:ext>
            </a:extLst>
          </p:cNvPr>
          <p:cNvSpPr txBox="1"/>
          <p:nvPr/>
        </p:nvSpPr>
        <p:spPr>
          <a:xfrm>
            <a:off x="1055689" y="2118492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기술 보유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685DDC-6EED-11DF-A39C-837B1DA7E72E}"/>
              </a:ext>
            </a:extLst>
          </p:cNvPr>
          <p:cNvGrpSpPr/>
          <p:nvPr/>
        </p:nvGrpSpPr>
        <p:grpSpPr>
          <a:xfrm>
            <a:off x="6666673" y="1693176"/>
            <a:ext cx="4126230" cy="307777"/>
            <a:chOff x="6427470" y="2463702"/>
            <a:chExt cx="4126230" cy="3077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70F11F-53BE-74AC-4E2C-98C3C0B1A127}"/>
                </a:ext>
              </a:extLst>
            </p:cNvPr>
            <p:cNvSpPr txBox="1"/>
            <p:nvPr/>
          </p:nvSpPr>
          <p:spPr>
            <a:xfrm>
              <a:off x="6427470" y="2463702"/>
              <a:ext cx="1082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python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B10D4F2-18C6-2AFD-DB38-869F6A2C91D2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5B1D09A-F1B6-1521-AC8D-47A34F9F5DF4}"/>
                </a:ext>
              </a:extLst>
            </p:cNvPr>
            <p:cNvSpPr/>
            <p:nvPr/>
          </p:nvSpPr>
          <p:spPr>
            <a:xfrm>
              <a:off x="7764780" y="2532711"/>
              <a:ext cx="2026426" cy="16686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AB6AFB-A5A9-E4F8-532C-C002D31E4F06}"/>
              </a:ext>
            </a:extLst>
          </p:cNvPr>
          <p:cNvGrpSpPr/>
          <p:nvPr/>
        </p:nvGrpSpPr>
        <p:grpSpPr>
          <a:xfrm>
            <a:off x="5645426" y="2058423"/>
            <a:ext cx="5147477" cy="307777"/>
            <a:chOff x="5406223" y="2479571"/>
            <a:chExt cx="5147477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2D34AC-2412-FB4C-2EF4-2FAC762C78FB}"/>
                </a:ext>
              </a:extLst>
            </p:cNvPr>
            <p:cNvSpPr txBox="1"/>
            <p:nvPr/>
          </p:nvSpPr>
          <p:spPr>
            <a:xfrm>
              <a:off x="5406223" y="2479571"/>
              <a:ext cx="2336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numpy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/ pandas / </a:t>
              </a:r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scipy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AA2F113-A4FE-3C77-996B-681E25108AC4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DE50D71-5614-C06D-A811-8D2AD72FDEB1}"/>
                </a:ext>
              </a:extLst>
            </p:cNvPr>
            <p:cNvSpPr/>
            <p:nvPr/>
          </p:nvSpPr>
          <p:spPr>
            <a:xfrm>
              <a:off x="7764780" y="2532713"/>
              <a:ext cx="2336268" cy="135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362C6DB-DEA5-C4B3-EF63-C2EC9FE64792}"/>
              </a:ext>
            </a:extLst>
          </p:cNvPr>
          <p:cNvGrpSpPr/>
          <p:nvPr/>
        </p:nvGrpSpPr>
        <p:grpSpPr>
          <a:xfrm>
            <a:off x="6666673" y="2440811"/>
            <a:ext cx="4126230" cy="307777"/>
            <a:chOff x="6427470" y="2463702"/>
            <a:chExt cx="4126230" cy="30777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DCDEF6-CCBA-68A7-B22D-0CEBE9483D7C}"/>
                </a:ext>
              </a:extLst>
            </p:cNvPr>
            <p:cNvSpPr txBox="1"/>
            <p:nvPr/>
          </p:nvSpPr>
          <p:spPr>
            <a:xfrm>
              <a:off x="6427470" y="2463702"/>
              <a:ext cx="1082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git/</a:t>
              </a:r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github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F24AA28-E93F-1E2F-BC07-6953787E9EA0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09C911C-98CA-1678-BB66-335F3E2BA218}"/>
                </a:ext>
              </a:extLst>
            </p:cNvPr>
            <p:cNvSpPr/>
            <p:nvPr/>
          </p:nvSpPr>
          <p:spPr>
            <a:xfrm>
              <a:off x="7764780" y="2532711"/>
              <a:ext cx="2026426" cy="16878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AF794C-C8DA-E3CD-350D-9840872EDC16}"/>
              </a:ext>
            </a:extLst>
          </p:cNvPr>
          <p:cNvGrpSpPr/>
          <p:nvPr/>
        </p:nvGrpSpPr>
        <p:grpSpPr>
          <a:xfrm>
            <a:off x="6599027" y="3887766"/>
            <a:ext cx="4173840" cy="307777"/>
            <a:chOff x="6379860" y="2463702"/>
            <a:chExt cx="4173840" cy="30777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E1C690-C62F-DF15-F1AD-C0F3DFEC1431}"/>
                </a:ext>
              </a:extLst>
            </p:cNvPr>
            <p:cNvSpPr txBox="1"/>
            <p:nvPr/>
          </p:nvSpPr>
          <p:spPr>
            <a:xfrm>
              <a:off x="6379860" y="2463702"/>
              <a:ext cx="1129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TeX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/LaTeX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A261B71-0CB6-A474-FD3E-52515C23FBB0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5EEB7D3-B437-29C7-76BF-3CD5C7A792FF}"/>
                </a:ext>
              </a:extLst>
            </p:cNvPr>
            <p:cNvSpPr/>
            <p:nvPr/>
          </p:nvSpPr>
          <p:spPr>
            <a:xfrm>
              <a:off x="7764779" y="2532711"/>
              <a:ext cx="2458918" cy="15451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EF1A4D5-D0D6-C789-A295-3843D0BEFEB1}"/>
              </a:ext>
            </a:extLst>
          </p:cNvPr>
          <p:cNvGrpSpPr/>
          <p:nvPr/>
        </p:nvGrpSpPr>
        <p:grpSpPr>
          <a:xfrm>
            <a:off x="5903843" y="2828635"/>
            <a:ext cx="4879814" cy="307777"/>
            <a:chOff x="5673886" y="2463702"/>
            <a:chExt cx="4879814" cy="30777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8A10711-9181-7E4D-CB01-E91EABA9BF7D}"/>
                </a:ext>
              </a:extLst>
            </p:cNvPr>
            <p:cNvSpPr txBox="1"/>
            <p:nvPr/>
          </p:nvSpPr>
          <p:spPr>
            <a:xfrm>
              <a:off x="5673886" y="2463702"/>
              <a:ext cx="1929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tensorflow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/ </a:t>
              </a:r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pytorch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692F7BC-EBEB-8F43-E876-C9368AE98393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4F9A39C-54BB-C9E9-1BE1-7CC1BDEE52FD}"/>
                </a:ext>
              </a:extLst>
            </p:cNvPr>
            <p:cNvSpPr/>
            <p:nvPr/>
          </p:nvSpPr>
          <p:spPr>
            <a:xfrm>
              <a:off x="7764780" y="2535602"/>
              <a:ext cx="1643785" cy="143456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E29685C-FBE6-85CE-B661-98CAB3519500}"/>
              </a:ext>
            </a:extLst>
          </p:cNvPr>
          <p:cNvSpPr txBox="1"/>
          <p:nvPr/>
        </p:nvSpPr>
        <p:spPr>
          <a:xfrm>
            <a:off x="7197220" y="1163888"/>
            <a:ext cx="1926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프로그래밍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개발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4641D8-3869-AFCC-A31A-ACBFC23625CB}"/>
              </a:ext>
            </a:extLst>
          </p:cNvPr>
          <p:cNvSpPr txBox="1"/>
          <p:nvPr/>
        </p:nvSpPr>
        <p:spPr>
          <a:xfrm>
            <a:off x="7975408" y="1515815"/>
            <a:ext cx="213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7453B6-912F-4598-AC3A-FFD70834269C}"/>
              </a:ext>
            </a:extLst>
          </p:cNvPr>
          <p:cNvSpPr txBox="1"/>
          <p:nvPr/>
        </p:nvSpPr>
        <p:spPr>
          <a:xfrm>
            <a:off x="10608118" y="1515815"/>
            <a:ext cx="213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7" name="그룹 26">
            <a:extLst>
              <a:ext uri="{FF2B5EF4-FFF2-40B4-BE49-F238E27FC236}">
                <a16:creationId xmlns:a16="http://schemas.microsoft.com/office/drawing/2014/main" id="{181C333C-2724-26CE-AA39-B9AEB697764E}"/>
              </a:ext>
            </a:extLst>
          </p:cNvPr>
          <p:cNvGrpSpPr/>
          <p:nvPr/>
        </p:nvGrpSpPr>
        <p:grpSpPr>
          <a:xfrm>
            <a:off x="5808971" y="4259008"/>
            <a:ext cx="4973993" cy="307777"/>
            <a:chOff x="5579707" y="2463702"/>
            <a:chExt cx="4973993" cy="30777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8CC8672-9C1D-A0CA-6539-16117B9044DE}"/>
                </a:ext>
              </a:extLst>
            </p:cNvPr>
            <p:cNvSpPr txBox="1"/>
            <p:nvPr/>
          </p:nvSpPr>
          <p:spPr>
            <a:xfrm>
              <a:off x="5579707" y="2463702"/>
              <a:ext cx="1929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mathematica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/</a:t>
              </a:r>
              <a:r>
                <a:rPr lang="en-US" altLang="ko-KR" sz="14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matlab</a:t>
              </a:r>
              <a:endPara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59" name="직사각형 28">
              <a:extLst>
                <a:ext uri="{FF2B5EF4-FFF2-40B4-BE49-F238E27FC236}">
                  <a16:creationId xmlns:a16="http://schemas.microsoft.com/office/drawing/2014/main" id="{276D90C0-45D9-B28F-FC95-D649AAA332AF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29">
              <a:extLst>
                <a:ext uri="{FF2B5EF4-FFF2-40B4-BE49-F238E27FC236}">
                  <a16:creationId xmlns:a16="http://schemas.microsoft.com/office/drawing/2014/main" id="{FBB03397-D535-3448-1EA7-984651230C6E}"/>
                </a:ext>
              </a:extLst>
            </p:cNvPr>
            <p:cNvSpPr/>
            <p:nvPr/>
          </p:nvSpPr>
          <p:spPr>
            <a:xfrm>
              <a:off x="7764780" y="2532711"/>
              <a:ext cx="1299247" cy="16975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D8F9A22-ED6C-8E10-944F-3F4C7A242F39}"/>
              </a:ext>
            </a:extLst>
          </p:cNvPr>
          <p:cNvSpPr txBox="1"/>
          <p:nvPr/>
        </p:nvSpPr>
        <p:spPr>
          <a:xfrm>
            <a:off x="7542389" y="3399182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수학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B573DC9-5C60-77C7-B550-841AB66BB741}"/>
              </a:ext>
            </a:extLst>
          </p:cNvPr>
          <p:cNvGrpSpPr/>
          <p:nvPr/>
        </p:nvGrpSpPr>
        <p:grpSpPr>
          <a:xfrm>
            <a:off x="6599720" y="4657287"/>
            <a:ext cx="4173840" cy="307777"/>
            <a:chOff x="6379860" y="2463702"/>
            <a:chExt cx="4173840" cy="30777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3BD830A-3FE9-57AB-A84F-9481D4A256E3}"/>
                </a:ext>
              </a:extLst>
            </p:cNvPr>
            <p:cNvSpPr txBox="1"/>
            <p:nvPr/>
          </p:nvSpPr>
          <p:spPr>
            <a:xfrm>
              <a:off x="6379860" y="2463702"/>
              <a:ext cx="1129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미적분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21BE94C-C626-B0B0-7C40-B3A566167629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CCDDD98-3AE1-2DAF-E6E9-E76EE8E42DC4}"/>
                </a:ext>
              </a:extLst>
            </p:cNvPr>
            <p:cNvSpPr/>
            <p:nvPr/>
          </p:nvSpPr>
          <p:spPr>
            <a:xfrm>
              <a:off x="7764778" y="2532710"/>
              <a:ext cx="2458225" cy="15624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26">
            <a:extLst>
              <a:ext uri="{FF2B5EF4-FFF2-40B4-BE49-F238E27FC236}">
                <a16:creationId xmlns:a16="http://schemas.microsoft.com/office/drawing/2014/main" id="{7C167AB1-AE20-943A-2B53-45B760867745}"/>
              </a:ext>
            </a:extLst>
          </p:cNvPr>
          <p:cNvGrpSpPr/>
          <p:nvPr/>
        </p:nvGrpSpPr>
        <p:grpSpPr>
          <a:xfrm>
            <a:off x="5403201" y="5028529"/>
            <a:ext cx="5380456" cy="307777"/>
            <a:chOff x="5173244" y="2463702"/>
            <a:chExt cx="5380456" cy="30777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DC5430-7B8D-2B52-663C-7D7DAA6DEA71}"/>
                </a:ext>
              </a:extLst>
            </p:cNvPr>
            <p:cNvSpPr txBox="1"/>
            <p:nvPr/>
          </p:nvSpPr>
          <p:spPr>
            <a:xfrm>
              <a:off x="5173244" y="2463702"/>
              <a:ext cx="2336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해석학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선형대수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집합론</a:t>
              </a:r>
            </a:p>
          </p:txBody>
        </p:sp>
        <p:sp>
          <p:nvSpPr>
            <p:cNvPr id="42" name="직사각형 28">
              <a:extLst>
                <a:ext uri="{FF2B5EF4-FFF2-40B4-BE49-F238E27FC236}">
                  <a16:creationId xmlns:a16="http://schemas.microsoft.com/office/drawing/2014/main" id="{F832D4F9-1B71-B903-6C6E-D08E77E66B4E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29">
              <a:extLst>
                <a:ext uri="{FF2B5EF4-FFF2-40B4-BE49-F238E27FC236}">
                  <a16:creationId xmlns:a16="http://schemas.microsoft.com/office/drawing/2014/main" id="{B4BAE339-C497-C09F-EDB1-210FC7A5F643}"/>
                </a:ext>
              </a:extLst>
            </p:cNvPr>
            <p:cNvSpPr/>
            <p:nvPr/>
          </p:nvSpPr>
          <p:spPr>
            <a:xfrm>
              <a:off x="7764780" y="2532711"/>
              <a:ext cx="2448126" cy="16975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8AC838B-E11D-86E4-D592-11F3AFB75B44}"/>
              </a:ext>
            </a:extLst>
          </p:cNvPr>
          <p:cNvGrpSpPr/>
          <p:nvPr/>
        </p:nvGrpSpPr>
        <p:grpSpPr>
          <a:xfrm>
            <a:off x="6096000" y="5413290"/>
            <a:ext cx="4676867" cy="307777"/>
            <a:chOff x="5876833" y="2463702"/>
            <a:chExt cx="4676867" cy="30777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1ADC17A-E2A4-F368-3B1C-2FA4A62E7123}"/>
                </a:ext>
              </a:extLst>
            </p:cNvPr>
            <p:cNvSpPr txBox="1"/>
            <p:nvPr/>
          </p:nvSpPr>
          <p:spPr>
            <a:xfrm>
              <a:off x="5876833" y="2463702"/>
              <a:ext cx="1632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확률론</a:t>
              </a:r>
              <a:r>
                <a:rPr lang="en-US" altLang="ko-KR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확률과정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C7D876D-2BF5-6FEB-EE88-F73BBF9C559F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12F7BD5-8323-30D6-8AC4-D9273BC023E2}"/>
                </a:ext>
              </a:extLst>
            </p:cNvPr>
            <p:cNvSpPr/>
            <p:nvPr/>
          </p:nvSpPr>
          <p:spPr>
            <a:xfrm>
              <a:off x="7764779" y="2532711"/>
              <a:ext cx="1934495" cy="15451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26">
            <a:extLst>
              <a:ext uri="{FF2B5EF4-FFF2-40B4-BE49-F238E27FC236}">
                <a16:creationId xmlns:a16="http://schemas.microsoft.com/office/drawing/2014/main" id="{D164098E-0EEB-AAC3-F93C-52B0C7E3E556}"/>
              </a:ext>
            </a:extLst>
          </p:cNvPr>
          <p:cNvGrpSpPr/>
          <p:nvPr/>
        </p:nvGrpSpPr>
        <p:grpSpPr>
          <a:xfrm>
            <a:off x="5808971" y="5784532"/>
            <a:ext cx="4973993" cy="307777"/>
            <a:chOff x="5579707" y="2463702"/>
            <a:chExt cx="4973993" cy="30777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2CB0010-B1BE-3ACE-4B74-0C92F28F89DB}"/>
                </a:ext>
              </a:extLst>
            </p:cNvPr>
            <p:cNvSpPr txBox="1"/>
            <p:nvPr/>
          </p:nvSpPr>
          <p:spPr>
            <a:xfrm>
              <a:off x="5579707" y="2463702"/>
              <a:ext cx="1929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4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통계</a:t>
              </a:r>
            </a:p>
          </p:txBody>
        </p:sp>
        <p:sp>
          <p:nvSpPr>
            <p:cNvPr id="50" name="직사각형 28">
              <a:extLst>
                <a:ext uri="{FF2B5EF4-FFF2-40B4-BE49-F238E27FC236}">
                  <a16:creationId xmlns:a16="http://schemas.microsoft.com/office/drawing/2014/main" id="{33C243D7-C778-7323-3898-9311B2C6C46E}"/>
                </a:ext>
              </a:extLst>
            </p:cNvPr>
            <p:cNvSpPr/>
            <p:nvPr/>
          </p:nvSpPr>
          <p:spPr>
            <a:xfrm>
              <a:off x="7764780" y="2532711"/>
              <a:ext cx="2788920" cy="169758"/>
            </a:xfrm>
            <a:prstGeom prst="rect">
              <a:avLst/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29">
              <a:extLst>
                <a:ext uri="{FF2B5EF4-FFF2-40B4-BE49-F238E27FC236}">
                  <a16:creationId xmlns:a16="http://schemas.microsoft.com/office/drawing/2014/main" id="{15C550D7-B0AD-F581-639A-9DA78C1F25CF}"/>
                </a:ext>
              </a:extLst>
            </p:cNvPr>
            <p:cNvSpPr/>
            <p:nvPr/>
          </p:nvSpPr>
          <p:spPr>
            <a:xfrm>
              <a:off x="7764781" y="2532711"/>
              <a:ext cx="1299246" cy="16975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109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학력 및 경력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EDBA9E-1208-F55D-D5AD-AB35144D0A61}"/>
              </a:ext>
            </a:extLst>
          </p:cNvPr>
          <p:cNvSpPr/>
          <p:nvPr/>
        </p:nvSpPr>
        <p:spPr>
          <a:xfrm>
            <a:off x="4191760" y="4645765"/>
            <a:ext cx="4139497" cy="78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2014 ~ 2018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수학 개인 교습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전업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2021 ~ 2022 IBEDU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온라인 수학 개인 교습 강사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2023 ~ 2024  </a:t>
            </a:r>
            <a:r>
              <a:rPr lang="ko-KR" altLang="en-US" sz="1200" kern="100" dirty="0" err="1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유아이네트웍스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교통연구본부 대리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9EC50F-15AD-124F-4CE5-5CADBD6C089D}"/>
              </a:ext>
            </a:extLst>
          </p:cNvPr>
          <p:cNvSpPr/>
          <p:nvPr/>
        </p:nvSpPr>
        <p:spPr>
          <a:xfrm>
            <a:off x="7871614" y="1402886"/>
            <a:ext cx="4139497" cy="102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2020 LSTM/wavelet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활용한 주식 예측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대학원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2022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신경망의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Lipschitz constant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계산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대학원 석사논문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2023 SOCAR,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 쏘카존 제안 프로젝트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(AIFFEL)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2024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신호생성 및 통행배정 모듈 개발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성남시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ITS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652387-F3F5-B19F-5484-4C7FCC990866}"/>
              </a:ext>
            </a:extLst>
          </p:cNvPr>
          <p:cNvSpPr/>
          <p:nvPr/>
        </p:nvSpPr>
        <p:spPr>
          <a:xfrm>
            <a:off x="4174266" y="3755419"/>
            <a:ext cx="3322524" cy="30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데이터분석 준전문가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kern="100" dirty="0" err="1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ADsP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|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2022.11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취득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3BB374-6DFC-A244-93CD-82580FB37B4A}"/>
              </a:ext>
            </a:extLst>
          </p:cNvPr>
          <p:cNvSpPr/>
          <p:nvPr/>
        </p:nvSpPr>
        <p:spPr>
          <a:xfrm>
            <a:off x="4191760" y="1397347"/>
            <a:ext cx="3465399" cy="151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2007. 02.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춘천고등학교 졸업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2008. 03.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고려대학교 수학과 학부 입학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2015. 02.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고려대학교 수학과 학부 졸업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2019. 09.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고려대학교 수학과 대학원 입학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2023. 02. AIFFEL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쏘카 </a:t>
            </a: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 수료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2024. 02. </a:t>
            </a:r>
            <a:r>
              <a:rPr lang="ko-KR" altLang="en-US" sz="1200" kern="1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고려대학교 수학과 대학원 졸업</a:t>
            </a:r>
            <a:endParaRPr lang="en-US" altLang="ko-KR" sz="1200" kern="10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011D5-BBB3-9F04-2142-DEAC43CA3B7A}"/>
              </a:ext>
            </a:extLst>
          </p:cNvPr>
          <p:cNvSpPr txBox="1"/>
          <p:nvPr/>
        </p:nvSpPr>
        <p:spPr>
          <a:xfrm>
            <a:off x="4191760" y="1058793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EDUCATION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420F9E-DE8F-BA25-77CA-10139A7DBD41}"/>
              </a:ext>
            </a:extLst>
          </p:cNvPr>
          <p:cNvSpPr txBox="1"/>
          <p:nvPr/>
        </p:nvSpPr>
        <p:spPr>
          <a:xfrm>
            <a:off x="4191760" y="4307211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CAREER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F0DE22-A08B-A89C-F0C0-F643B4103D40}"/>
              </a:ext>
            </a:extLst>
          </p:cNvPr>
          <p:cNvSpPr txBox="1"/>
          <p:nvPr/>
        </p:nvSpPr>
        <p:spPr>
          <a:xfrm>
            <a:off x="7871614" y="1077687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PROJECT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64B90E-0E47-8001-55F1-5E3B7C9FAAB0}"/>
              </a:ext>
            </a:extLst>
          </p:cNvPr>
          <p:cNvSpPr txBox="1"/>
          <p:nvPr/>
        </p:nvSpPr>
        <p:spPr>
          <a:xfrm>
            <a:off x="4174266" y="3482837"/>
            <a:ext cx="167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LICENSE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직사각형 11">
            <a:extLst>
              <a:ext uri="{FF2B5EF4-FFF2-40B4-BE49-F238E27FC236}">
                <a16:creationId xmlns:a16="http://schemas.microsoft.com/office/drawing/2014/main" id="{AB970F74-494F-F09C-6809-A661C5C9AD75}"/>
              </a:ext>
            </a:extLst>
          </p:cNvPr>
          <p:cNvSpPr/>
          <p:nvPr/>
        </p:nvSpPr>
        <p:spPr>
          <a:xfrm>
            <a:off x="941301" y="1382219"/>
            <a:ext cx="2287098" cy="235877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627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참여 프로젝트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DE6FE72F-AAFB-4363-C89F-EA3430A1D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882726"/>
              </p:ext>
            </p:extLst>
          </p:nvPr>
        </p:nvGraphicFramePr>
        <p:xfrm>
          <a:off x="936417" y="1159952"/>
          <a:ext cx="10080626" cy="43662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6983">
                  <a:extLst>
                    <a:ext uri="{9D8B030D-6E8A-4147-A177-3AD203B41FA5}">
                      <a16:colId xmlns:a16="http://schemas.microsoft.com/office/drawing/2014/main" val="3420031800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477545939"/>
                    </a:ext>
                  </a:extLst>
                </a:gridCol>
                <a:gridCol w="4775270">
                  <a:extLst>
                    <a:ext uri="{9D8B030D-6E8A-4147-A177-3AD203B41FA5}">
                      <a16:colId xmlns:a16="http://schemas.microsoft.com/office/drawing/2014/main" val="2024137551"/>
                    </a:ext>
                  </a:extLst>
                </a:gridCol>
              </a:tblGrid>
              <a:tr h="5621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프로젝트명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프로젝트 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설명</a:t>
                      </a:r>
                      <a:endParaRPr lang="ko-KR" altLang="en-US" sz="1400" dirty="0">
                        <a:ea typeface="Pretendard ExtraBold" panose="020009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38115"/>
                  </a:ext>
                </a:extLst>
              </a:tr>
              <a:tr h="7151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LSTM/wavelet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을 활용한 주식예측 연구</a:t>
                      </a: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대학원</a:t>
                      </a: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2020.07 ~ 2020.12</a:t>
                      </a:r>
                      <a:endParaRPr lang="ko-KR" altLang="en-US" sz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wavelet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을 활용한 주식 추세선 분해</a:t>
                      </a:r>
                      <a:endParaRPr lang="en-US" altLang="ko-KR" sz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LSTM</a:t>
                      </a:r>
                      <a:r>
                        <a:rPr lang="ko-KR" alt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을 통한 주식 예측</a:t>
                      </a:r>
                      <a:endParaRPr lang="ko-KR" altLang="en-US" sz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n-lt"/>
                        <a:ea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683802"/>
                  </a:ext>
                </a:extLst>
              </a:tr>
              <a:tr h="134409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신경망의 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Lipschitz constant </a:t>
                      </a: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계산 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석사논문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2022.07 ~ 2024.02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인공신경망의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Lipschitz constant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계산법 정리한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survey paper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해당 상수는 알고리즘의 안정성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(robustness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와 연관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일변수함수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선형함수에 대한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Lipschitz constant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계산법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신경망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(neural network), CNN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에 대한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Lipschitz constant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계산법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487065"/>
                  </a:ext>
                </a:extLst>
              </a:tr>
              <a:tr h="102963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쏘카존 제안 프로젝트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(AIFFEL)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2022.12 ~ 2023.02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경기도 지역에 대한 카셰어링 기반 군집화</a:t>
                      </a:r>
                      <a:endParaRPr lang="en-US" altLang="ko-KR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군별 수요예측</a:t>
                      </a: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(SARIMA)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정량적 방법을 통한 </a:t>
                      </a:r>
                      <a:r>
                        <a:rPr lang="ko-KR" altLang="en-US" sz="1200" dirty="0" err="1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쏘카존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제안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242856"/>
                  </a:ext>
                </a:extLst>
              </a:tr>
              <a:tr h="71517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성남시 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ITS </a:t>
                      </a:r>
                      <a:r>
                        <a:rPr lang="ko-KR" altLang="en-US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 </a:t>
                      </a:r>
                      <a:r>
                        <a:rPr lang="en-US" altLang="ko-KR" sz="1200" kern="10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(UI networks)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2023.09 ~ 2024.09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실시간 신호생성 모듈 개발</a:t>
                      </a:r>
                      <a:endParaRPr lang="en-US" altLang="ko-KR" sz="1200" dirty="0">
                        <a:latin typeface="+mn-lt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+mn-lt"/>
                          <a:ea typeface="Pretendard Light" panose="02000403000000020004" pitchFamily="50" charset="-127"/>
                        </a:rPr>
                        <a:t>통행배정 모듈 개발</a:t>
                      </a:r>
                      <a:r>
                        <a:rPr lang="en-US" altLang="ko-KR" sz="1200" dirty="0">
                          <a:latin typeface="+mn-lt"/>
                          <a:ea typeface="Pretendard Light" panose="02000403000000020004" pitchFamily="50" charset="-127"/>
                        </a:rPr>
                        <a:t> </a:t>
                      </a:r>
                      <a:endParaRPr lang="ko-KR" altLang="en-US" sz="1200" dirty="0">
                        <a:latin typeface="+mn-lt"/>
                        <a:ea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4359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21080-D087-18F4-ABED-6D39633A7375}"/>
              </a:ext>
            </a:extLst>
          </p:cNvPr>
          <p:cNvSpPr txBox="1"/>
          <p:nvPr/>
        </p:nvSpPr>
        <p:spPr>
          <a:xfrm>
            <a:off x="415636" y="2770560"/>
            <a:ext cx="114300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 </a:t>
            </a:r>
            <a:r>
              <a:rPr lang="ko-KR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</a:t>
            </a:r>
            <a:endParaRPr lang="en-US" altLang="ko-KR" sz="44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5.1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신경망의 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Lipschitz constant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계산 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석사논문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172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5612799" cy="478578"/>
          </a:xfrm>
        </p:spPr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신경망의 </a:t>
            </a:r>
            <a:r>
              <a:rPr lang="en-US" altLang="ko-KR" dirty="0"/>
              <a:t>Lipschitz constant 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ko-KR" altLang="en-US" dirty="0"/>
              <a:t>석사논문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표 13">
            <a:extLst>
              <a:ext uri="{FF2B5EF4-FFF2-40B4-BE49-F238E27FC236}">
                <a16:creationId xmlns:a16="http://schemas.microsoft.com/office/drawing/2014/main" id="{FC0D257B-33FB-BE07-4522-020F475E1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07991"/>
              </p:ext>
            </p:extLst>
          </p:nvPr>
        </p:nvGraphicFramePr>
        <p:xfrm>
          <a:off x="992725" y="1807513"/>
          <a:ext cx="5861677" cy="304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4249">
                  <a:extLst>
                    <a:ext uri="{9D8B030D-6E8A-4147-A177-3AD203B41FA5}">
                      <a16:colId xmlns:a16="http://schemas.microsoft.com/office/drawing/2014/main" val="3630330491"/>
                    </a:ext>
                  </a:extLst>
                </a:gridCol>
                <a:gridCol w="4727428">
                  <a:extLst>
                    <a:ext uri="{9D8B030D-6E8A-4147-A177-3AD203B41FA5}">
                      <a16:colId xmlns:a16="http://schemas.microsoft.com/office/drawing/2014/main" val="1540422324"/>
                    </a:ext>
                  </a:extLst>
                </a:gridCol>
              </a:tblGrid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신경망의 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Lipschitz constant 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계산</a:t>
                      </a:r>
                      <a:endParaRPr lang="en-US" altLang="ko-KR" sz="1200" kern="1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686906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2022.07~2024.02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749550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</a:t>
                      </a:r>
                      <a:endParaRPr lang="ko-KR" altLang="en-US" sz="12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621009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머신러닝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딥러닝 모델의 안정성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(robustness)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관련되어 있는 립시츠 상수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(Lipschitz constant)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계산법에 관한 연구 논문 작성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481618"/>
                  </a:ext>
                </a:extLst>
              </a:tr>
              <a:tr h="549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담당역할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선행연구 분석 및 관련개념 정리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논문 작성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788229"/>
                  </a:ext>
                </a:extLst>
              </a:tr>
              <a:tr h="369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링크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hlinkClick r:id="rId2"/>
                        </a:rPr>
                        <a:t>https://github.com/govin08/Lipschitz_Constant_of_DNN/blob/main/Lipschitz_constant_of_neural_networks.pdf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698371"/>
                  </a:ext>
                </a:extLst>
              </a:tr>
              <a:tr h="369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대학원 석사 논문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53238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6854403" y="5455521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그림</a:t>
            </a:r>
            <a:r>
              <a:rPr lang="en-US" altLang="ko-KR" dirty="0"/>
              <a:t> 6-1. </a:t>
            </a:r>
            <a:r>
              <a:rPr lang="ko-KR" altLang="en-US" dirty="0"/>
              <a:t>논문 표지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05C23-C9F7-E10C-42D2-109E026DF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769" y="694452"/>
            <a:ext cx="3469212" cy="476106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916F06A-4C21-2654-E568-B68AADA11657}"/>
              </a:ext>
            </a:extLst>
          </p:cNvPr>
          <p:cNvSpPr/>
          <p:nvPr/>
        </p:nvSpPr>
        <p:spPr>
          <a:xfrm>
            <a:off x="8121187" y="3237722"/>
            <a:ext cx="1399592" cy="35456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88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6031568" cy="199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어떤 머신러닝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 모델이 좋은 성능을 내느냐 하는 문제만큼이나 중요한 것은 해당 모델이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안정적</a:t>
            </a:r>
            <a:r>
              <a:rPr lang="en-US" altLang="ko-KR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(robust)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동작하느냐 하는 문제입니다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모델의 안정성과 관련있는 수학적인 값은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립시츠 상수</a:t>
            </a:r>
            <a:r>
              <a:rPr lang="en-US" altLang="ko-KR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(Lipschitz constant)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유클리드 공간 사이에서 정의된 함수에 대한 립시츠 상수의 정의는 오른쪽 그림과 같습니다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예를 들어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GAN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한 종류인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Wasserstein GAN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1-Lipschitz function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만을 고려함으로써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GAN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고질적인 문제인 불안정성을 해결한 바 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3057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Chapter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Introduction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0F17890-2CFF-47F5-9EE4-127D03C5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83" y="2202872"/>
            <a:ext cx="4221605" cy="16011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6588991-C662-06BC-E50E-A379DB5D4517}"/>
              </a:ext>
            </a:extLst>
          </p:cNvPr>
          <p:cNvSpPr txBox="1"/>
          <p:nvPr/>
        </p:nvSpPr>
        <p:spPr>
          <a:xfrm>
            <a:off x="7164613" y="3967180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 err="1"/>
              <a:t>립시츠</a:t>
            </a:r>
            <a:r>
              <a:rPr lang="ko-KR" altLang="en-US" dirty="0"/>
              <a:t> 상수의 정의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2D22C53-455E-42F5-1723-17666F7B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5612799" cy="478578"/>
          </a:xfrm>
        </p:spPr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신경망의 </a:t>
            </a:r>
            <a:r>
              <a:rPr lang="en-US" altLang="ko-KR" dirty="0"/>
              <a:t>Lipschitz constant 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ko-KR" altLang="en-US" dirty="0"/>
              <a:t>석사논문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29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2248739"/>
            <a:ext cx="5832786" cy="1999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머신러닝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딥러닝에서 자주 사용되는 기본 함수들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활성화함수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선형함수 등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대한 립시츠 상수를 계산해봅니다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또한 함수들의 합성이 립시츠 상수에 어떤 영향을 미치는지 알아봅니다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선형함수에 대한 립시츠 상수는 특히 중요합니다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그것은 그 선형함수에 대응되는 행렬에 대한 작용소 놈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(operator norm)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일치합니다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행렬의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작용소 놈에 대한 계산방법이 설명됩니다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6" y="1693180"/>
            <a:ext cx="4693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Chapter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Lipschitz constant of functions between Euclidean spaces 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E259B-3D85-C89C-558E-0AF29A891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456" y="3257484"/>
            <a:ext cx="3856376" cy="2440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4590F4-B79B-3060-C493-8D4B3E1A3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976" y="1066181"/>
            <a:ext cx="2619390" cy="1801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909040-D46B-B9F0-9131-68C39F491493}"/>
              </a:ext>
            </a:extLst>
          </p:cNvPr>
          <p:cNvSpPr txBox="1"/>
          <p:nvPr/>
        </p:nvSpPr>
        <p:spPr>
          <a:xfrm>
            <a:off x="6837890" y="2868082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활성화함수들의 립시츠 상수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7E7BC-BACD-60B0-1405-02FD65DF1248}"/>
              </a:ext>
            </a:extLst>
          </p:cNvPr>
          <p:cNvSpPr txBox="1"/>
          <p:nvPr/>
        </p:nvSpPr>
        <p:spPr>
          <a:xfrm>
            <a:off x="6837889" y="5944066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선형함수의 립시츠 상수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462C3B8-21BA-E50A-3DE8-FE0BE55D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5612799" cy="478578"/>
          </a:xfrm>
        </p:spPr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신경망의 </a:t>
            </a:r>
            <a:r>
              <a:rPr lang="en-US" altLang="ko-KR" dirty="0"/>
              <a:t>Lipschitz constant 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ko-KR" altLang="en-US" dirty="0"/>
              <a:t>석사논문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241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909040-D46B-B9F0-9131-68C39F491493}"/>
              </a:ext>
            </a:extLst>
          </p:cNvPr>
          <p:cNvSpPr txBox="1"/>
          <p:nvPr/>
        </p:nvSpPr>
        <p:spPr>
          <a:xfrm>
            <a:off x="6882903" y="3353523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그림</a:t>
            </a:r>
            <a:r>
              <a:rPr lang="en-US" altLang="ko-KR" dirty="0"/>
              <a:t> 6-5. </a:t>
            </a:r>
            <a:r>
              <a:rPr lang="en-US" altLang="ko-KR" dirty="0" err="1"/>
              <a:t>AutoLip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7E7BC-BACD-60B0-1405-02FD65DF1248}"/>
              </a:ext>
            </a:extLst>
          </p:cNvPr>
          <p:cNvSpPr txBox="1"/>
          <p:nvPr/>
        </p:nvSpPr>
        <p:spPr>
          <a:xfrm>
            <a:off x="6882903" y="5767025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그림</a:t>
            </a:r>
            <a:r>
              <a:rPr lang="en-US" altLang="ko-KR" dirty="0"/>
              <a:t> 6-6. power method]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9818-452E-1FE4-FBF2-FECF09B9D554}"/>
              </a:ext>
            </a:extLst>
          </p:cNvPr>
          <p:cNvSpPr txBox="1"/>
          <p:nvPr/>
        </p:nvSpPr>
        <p:spPr>
          <a:xfrm>
            <a:off x="766797" y="1937009"/>
            <a:ext cx="5502388" cy="283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신경망에서의 립시츠 상수를 계산해봅니다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구체적으로는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MLP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대한 립시츠 상수를 계산해봅니다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하지만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2-layered MLP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 되더라도 정확한 립시츠 상수를 구하는 것이 불가능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(NP-hard)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하기 때문에 립시츠 상수의 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upper bound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구하는 알고리즘을 소개합니다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AutoLip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대해 계산할 때에는 가로로 긴 행렬의 행렬곱을 생각하게 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이때 계산을 편하게 하기 위한 방법으로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Power method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Rayleigh quotient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등을 사용할 수 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FD500-BA22-5C1B-1095-F092DF5A8947}"/>
              </a:ext>
            </a:extLst>
          </p:cNvPr>
          <p:cNvSpPr txBox="1"/>
          <p:nvPr/>
        </p:nvSpPr>
        <p:spPr>
          <a:xfrm>
            <a:off x="766797" y="1693180"/>
            <a:ext cx="5156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Chapter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Lipschitz constants of neural networks</a:t>
            </a:r>
            <a:endParaRPr lang="ko-KR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AB729C-E8CB-2D45-275B-FA41CD93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797" y="1335171"/>
            <a:ext cx="4560156" cy="18838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047BDD-CAFF-1F8F-02FA-C5910320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797" y="3980510"/>
            <a:ext cx="4560156" cy="178651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1557494-36C6-9218-6E71-71A4543B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5612799" cy="478578"/>
          </a:xfrm>
        </p:spPr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신경망의 </a:t>
            </a:r>
            <a:r>
              <a:rPr lang="en-US" altLang="ko-KR" dirty="0"/>
              <a:t>Lipschitz constant 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ko-KR" altLang="en-US" dirty="0"/>
              <a:t>석사논문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209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676AFD-6EC9-C35D-81AE-58B71BD980F2}"/>
              </a:ext>
            </a:extLst>
          </p:cNvPr>
          <p:cNvSpPr txBox="1"/>
          <p:nvPr/>
        </p:nvSpPr>
        <p:spPr>
          <a:xfrm>
            <a:off x="415636" y="2770560"/>
            <a:ext cx="114300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 </a:t>
            </a:r>
            <a:r>
              <a:rPr lang="ko-KR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</a:t>
            </a:r>
            <a:endParaRPr lang="en-US" altLang="ko-KR" sz="44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5.2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신규 </a:t>
            </a:r>
            <a:r>
              <a:rPr lang="ko-KR" alt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쏘카존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위치 제안 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(AIFFEL)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5121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  <p:graphicFrame>
        <p:nvGraphicFramePr>
          <p:cNvPr id="6" name="표 13">
            <a:extLst>
              <a:ext uri="{FF2B5EF4-FFF2-40B4-BE49-F238E27FC236}">
                <a16:creationId xmlns:a16="http://schemas.microsoft.com/office/drawing/2014/main" id="{FC0D257B-33FB-BE07-4522-020F475E1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389817"/>
              </p:ext>
            </p:extLst>
          </p:nvPr>
        </p:nvGraphicFramePr>
        <p:xfrm>
          <a:off x="992726" y="1807513"/>
          <a:ext cx="5746004" cy="28693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431">
                  <a:extLst>
                    <a:ext uri="{9D8B030D-6E8A-4147-A177-3AD203B41FA5}">
                      <a16:colId xmlns:a16="http://schemas.microsoft.com/office/drawing/2014/main" val="3630330491"/>
                    </a:ext>
                  </a:extLst>
                </a:gridCol>
                <a:gridCol w="4641573">
                  <a:extLst>
                    <a:ext uri="{9D8B030D-6E8A-4147-A177-3AD203B41FA5}">
                      <a16:colId xmlns:a16="http://schemas.microsoft.com/office/drawing/2014/main" val="1540422324"/>
                    </a:ext>
                  </a:extLst>
                </a:gridCol>
              </a:tblGrid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</a:t>
                      </a:r>
                      <a:r>
                        <a:rPr lang="ko-KR" altLang="en-US" sz="1200" kern="1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쏘카존 위치 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제안</a:t>
                      </a:r>
                      <a:endParaRPr lang="en-US" altLang="ko-KR" sz="1200" kern="1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686906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2022.12~2023.02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749550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</a:t>
                      </a:r>
                      <a:endParaRPr lang="ko-KR" altLang="en-US" sz="12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621009"/>
                  </a:ext>
                </a:extLst>
              </a:tr>
              <a:tr h="374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경기도 지역에 대한 카셰어링 기반 군집화 및 군별 수요예측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수요 증가가 예상되는 특정 지역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수원시 팔달구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 대한 신규 쏘카존 위치 제안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481618"/>
                  </a:ext>
                </a:extLst>
              </a:tr>
              <a:tr h="549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담당역할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 취합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상관분석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회귀분석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군집화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 함수 식 수립 등 모든 과정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788229"/>
                  </a:ext>
                </a:extLst>
              </a:tr>
              <a:tr h="369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링크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hlinkClick r:id="rId2"/>
                        </a:rPr>
                        <a:t>https://govin08.github.io/machine_learning/socar_zones/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698371"/>
                  </a:ext>
                </a:extLst>
              </a:tr>
              <a:tr h="369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AIFFEL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과정 마지막 프로젝트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(AIFFELTHON)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53238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B5A320DA-2080-A28B-EDEE-E14023078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330" y="1686881"/>
            <a:ext cx="4005944" cy="28329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7091129" y="4519814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프로젝트 구조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9789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0338CE-08A0-B120-9131-BD83CADA43A0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FA06C-CCE8-368A-A3DE-28B8EABB9FE2}"/>
              </a:ext>
            </a:extLst>
          </p:cNvPr>
          <p:cNvSpPr txBox="1"/>
          <p:nvPr/>
        </p:nvSpPr>
        <p:spPr>
          <a:xfrm>
            <a:off x="6682718" y="3196544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수요데이터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4693627" cy="144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쏘카에서 제공받은 데이터는 지역별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일자별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수요데이터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데이터는 개별적인 쏘카 사용내역에 대한 기록인데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주로 경기도권에서 발생한 사용내역들이었습니다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경기도 지역을 타겟으로 삼았습니다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수요데이터만으로는 재미있는 결과를 얻기 힘들다고 판단해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지역별 데이터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만들어냈습니다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데이터 분석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F0C12E-13E5-E2B8-5C29-B288D5CD7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301" y="1873073"/>
            <a:ext cx="5964779" cy="129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132458-5DFF-38F2-F8BC-50F412DF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198" y="3626234"/>
            <a:ext cx="8440882" cy="1381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37753C-6717-6A33-913D-B5A695961006}"/>
              </a:ext>
            </a:extLst>
          </p:cNvPr>
          <p:cNvSpPr txBox="1"/>
          <p:nvPr/>
        </p:nvSpPr>
        <p:spPr>
          <a:xfrm>
            <a:off x="5444667" y="5128616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지역별 데이터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AA1307-1374-9F92-71F0-08D956376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4209"/>
            <a:ext cx="5095875" cy="533400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3AF54AD3-985A-A819-B292-684D096398CA}"/>
              </a:ext>
            </a:extLst>
          </p:cNvPr>
          <p:cNvSpPr/>
          <p:nvPr/>
        </p:nvSpPr>
        <p:spPr>
          <a:xfrm>
            <a:off x="6507437" y="119152"/>
            <a:ext cx="207818" cy="246645"/>
          </a:xfrm>
          <a:prstGeom prst="downArrow">
            <a:avLst/>
          </a:prstGeom>
          <a:solidFill>
            <a:srgbClr val="1C8AA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168FC4C-8E5A-072A-C43D-CA7E241B8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3298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EBB862-C409-00CF-244E-440BC0C1E76B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FA06C-CCE8-368A-A3DE-28B8EABB9FE2}"/>
              </a:ext>
            </a:extLst>
          </p:cNvPr>
          <p:cNvSpPr txBox="1"/>
          <p:nvPr/>
        </p:nvSpPr>
        <p:spPr>
          <a:xfrm>
            <a:off x="6946923" y="5753289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군집화 결과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4693627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지역별 데이터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통해 군집화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(k-means clustering)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진행했습니다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통해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경기도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42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지역을 여섯 개의 군으로 나누었습니다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군집화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F5823B-2DBF-3FE9-E832-E310D6057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619" y="858490"/>
            <a:ext cx="4800553" cy="4717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9F723D-31A4-8814-4F5B-8CAE9282C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3" y="3098367"/>
            <a:ext cx="4800554" cy="2588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37E138-6EEB-96C2-7866-6C04869F803A}"/>
              </a:ext>
            </a:extLst>
          </p:cNvPr>
          <p:cNvSpPr txBox="1"/>
          <p:nvPr/>
        </p:nvSpPr>
        <p:spPr>
          <a:xfrm>
            <a:off x="1321218" y="5753288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군집 수 결정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150011C-49C1-AF82-06E8-83B8D73FD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4209"/>
            <a:ext cx="5095875" cy="533400"/>
          </a:xfrm>
          <a:prstGeom prst="rect">
            <a:avLst/>
          </a:prstGeom>
        </p:spPr>
      </p:pic>
      <p:sp>
        <p:nvSpPr>
          <p:cNvPr id="24" name="Arrow: Down 23">
            <a:extLst>
              <a:ext uri="{FF2B5EF4-FFF2-40B4-BE49-F238E27FC236}">
                <a16:creationId xmlns:a16="http://schemas.microsoft.com/office/drawing/2014/main" id="{CC549462-2DA9-958F-DF98-204CC072A5B0}"/>
              </a:ext>
            </a:extLst>
          </p:cNvPr>
          <p:cNvSpPr/>
          <p:nvPr/>
        </p:nvSpPr>
        <p:spPr>
          <a:xfrm>
            <a:off x="7879036" y="119152"/>
            <a:ext cx="207818" cy="246645"/>
          </a:xfrm>
          <a:prstGeom prst="downArrow">
            <a:avLst/>
          </a:prstGeom>
          <a:solidFill>
            <a:srgbClr val="1C8AA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A192EF0-E769-F3B7-2D73-9F1DE9F8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1829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E6F2BB5-55CC-37F2-20AD-9ABCEF09DCC2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FA06C-CCE8-368A-A3DE-28B8EABB9FE2}"/>
              </a:ext>
            </a:extLst>
          </p:cNvPr>
          <p:cNvSpPr txBox="1"/>
          <p:nvPr/>
        </p:nvSpPr>
        <p:spPr>
          <a:xfrm>
            <a:off x="6578290" y="4599897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수요예측 결과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4693627" cy="172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군집화 결과와 수요 데이터를 통해 군별 수요 데이터를 얻어냅니다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바탕으로 수요예측을 진행해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미래에 수요가 증가할 것으로 예측되는 군을 선정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군별 수요 데이터 중 앞의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70%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데이터를 과거 데이터로 뒤의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30%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미래 데이터로 삼았고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 데이터를 통해 학습하여 미래 데이터를 예측하는 모델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(SARIMA)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만들었습니다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 결과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미래에 수요가 가장 증가할 것으로 예측되었습니다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수요예측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EC7EC-A0F7-369A-9AD4-3B6EFE339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658" y="1693180"/>
            <a:ext cx="4743208" cy="26675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CBB64E-BFF0-9C5B-EEE8-D81228EA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4209"/>
            <a:ext cx="5095875" cy="533400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6479880F-C527-6D0F-A888-E4C8C9238906}"/>
              </a:ext>
            </a:extLst>
          </p:cNvPr>
          <p:cNvSpPr/>
          <p:nvPr/>
        </p:nvSpPr>
        <p:spPr>
          <a:xfrm>
            <a:off x="9209072" y="119152"/>
            <a:ext cx="207818" cy="246645"/>
          </a:xfrm>
          <a:prstGeom prst="downArrow">
            <a:avLst/>
          </a:prstGeom>
          <a:solidFill>
            <a:srgbClr val="1C8AA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10844E3-CA58-EE8F-C3B9-D25AAFB1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320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54536A-1AFB-ECBF-A4B4-0D3A10B96C80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FA06C-CCE8-368A-A3DE-28B8EABB9FE2}"/>
              </a:ext>
            </a:extLst>
          </p:cNvPr>
          <p:cNvSpPr txBox="1"/>
          <p:nvPr/>
        </p:nvSpPr>
        <p:spPr>
          <a:xfrm>
            <a:off x="6723980" y="5783044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신규 쏘카존 제안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46C1-259C-6339-865E-E242DAC1FE55}"/>
              </a:ext>
            </a:extLst>
          </p:cNvPr>
          <p:cNvSpPr txBox="1"/>
          <p:nvPr/>
        </p:nvSpPr>
        <p:spPr>
          <a:xfrm>
            <a:off x="766797" y="1937009"/>
            <a:ext cx="4693627" cy="3384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이전 단계에서 경기도의 여러 지역들 중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군의 수요가 향후에 증가할 것으로 예측되었습니다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이번에는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B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군에서 특정한 한 지역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수원시 팔달구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정해서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지역에 대하여 신규 쏘카존을 제안해봤습니다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이때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정성적인 방법 보다는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정량적인 방법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동원했습니다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 쏘카존은 공영 주차장에 설치할 것으로 가정했는데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어떤 공영 주차장이 쏘카존으로 얼마나 적합한지 나타내는 </a:t>
            </a:r>
            <a:r>
              <a:rPr lang="ko-KR" altLang="en-US" sz="1200" dirty="0">
                <a:solidFill>
                  <a:srgbClr val="1C8A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적합도 점수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생각하고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적합도 점수가 가장 높은 주차장이 쏘카존으로 적절할 것이라고 결론내렸습니다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적합도 점수는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교통과 주거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그리고 쏘카존가지의 거리의 세 개 측면을 고려했고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추천시스템의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evaluation metric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DCG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아이디어를 얻은 식이 활용되었으며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정규분포와 일차변환을 통해 적합도 점수가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사이의 값이 되도록 설정하여 직접 만들어보았습니다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50890-0093-3500-5015-A04E34C86196}"/>
              </a:ext>
            </a:extLst>
          </p:cNvPr>
          <p:cNvSpPr txBox="1"/>
          <p:nvPr/>
        </p:nvSpPr>
        <p:spPr>
          <a:xfrm>
            <a:off x="766797" y="1693180"/>
            <a:ext cx="2354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신규 쏘카존 위치 제안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BD048E-F45F-8BE6-9BC3-0E78ABDAB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91" y="951845"/>
            <a:ext cx="4250522" cy="2390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244422-FD68-A37D-9A6F-B0CE83711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91" y="3342763"/>
            <a:ext cx="4250522" cy="23909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8C4F36-D7C9-4B22-0C18-3E0BB61CE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4209"/>
            <a:ext cx="5095875" cy="533400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4402ECF6-7B3D-EDA0-1BFF-DBFD275D9277}"/>
              </a:ext>
            </a:extLst>
          </p:cNvPr>
          <p:cNvSpPr/>
          <p:nvPr/>
        </p:nvSpPr>
        <p:spPr>
          <a:xfrm>
            <a:off x="10580672" y="119152"/>
            <a:ext cx="207818" cy="246645"/>
          </a:xfrm>
          <a:prstGeom prst="downArrow">
            <a:avLst/>
          </a:prstGeom>
          <a:solidFill>
            <a:srgbClr val="1C8AA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4C752EF-6057-D78F-42EF-889157F3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신규 </a:t>
            </a:r>
            <a:r>
              <a:rPr lang="ko-KR" altLang="en-US" dirty="0" err="1"/>
              <a:t>쏘카존</a:t>
            </a:r>
            <a:r>
              <a:rPr lang="ko-KR" altLang="en-US" dirty="0"/>
              <a:t> 위치 제안 </a:t>
            </a:r>
            <a:r>
              <a:rPr lang="en-US" altLang="ko-KR" dirty="0"/>
              <a:t>(AIFFEL)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6130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676AFD-6EC9-C35D-81AE-58B71BD980F2}"/>
              </a:ext>
            </a:extLst>
          </p:cNvPr>
          <p:cNvSpPr txBox="1"/>
          <p:nvPr/>
        </p:nvSpPr>
        <p:spPr>
          <a:xfrm>
            <a:off x="415636" y="2770560"/>
            <a:ext cx="114300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 </a:t>
            </a:r>
            <a:r>
              <a:rPr lang="ko-KR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</a:t>
            </a:r>
            <a:endParaRPr lang="en-US" altLang="ko-KR" sz="44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5.3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신호생성 및 통행배정 모듈 개발 </a:t>
            </a:r>
            <a:r>
              <a:rPr lang="en-US" altLang="ko-K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(UI networks)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490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graphicFrame>
        <p:nvGraphicFramePr>
          <p:cNvPr id="6" name="표 13">
            <a:extLst>
              <a:ext uri="{FF2B5EF4-FFF2-40B4-BE49-F238E27FC236}">
                <a16:creationId xmlns:a16="http://schemas.microsoft.com/office/drawing/2014/main" id="{FC0D257B-33FB-BE07-4522-020F475E1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537399"/>
              </p:ext>
            </p:extLst>
          </p:nvPr>
        </p:nvGraphicFramePr>
        <p:xfrm>
          <a:off x="992726" y="1807513"/>
          <a:ext cx="5746004" cy="2958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431">
                  <a:extLst>
                    <a:ext uri="{9D8B030D-6E8A-4147-A177-3AD203B41FA5}">
                      <a16:colId xmlns:a16="http://schemas.microsoft.com/office/drawing/2014/main" val="3630330491"/>
                    </a:ext>
                  </a:extLst>
                </a:gridCol>
                <a:gridCol w="4641573">
                  <a:extLst>
                    <a:ext uri="{9D8B030D-6E8A-4147-A177-3AD203B41FA5}">
                      <a16:colId xmlns:a16="http://schemas.microsoft.com/office/drawing/2014/main" val="1540422324"/>
                    </a:ext>
                  </a:extLst>
                </a:gridCol>
              </a:tblGrid>
              <a:tr h="52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신호생성 및 통행배정 모듈 개발</a:t>
                      </a:r>
                      <a:endParaRPr lang="en-US" altLang="ko-KR" sz="1200" kern="1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686906"/>
                  </a:ext>
                </a:extLst>
              </a:tr>
              <a:tr h="52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2023.09 ~ 2024.09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749550"/>
                  </a:ext>
                </a:extLst>
              </a:tr>
              <a:tr h="52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프로젝트인원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</a:t>
                      </a:r>
                      <a:endParaRPr lang="ko-KR" altLang="en-US" sz="12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621009"/>
                  </a:ext>
                </a:extLst>
              </a:tr>
              <a:tr h="6348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성남시 </a:t>
                      </a:r>
                      <a:r>
                        <a:rPr lang="en-US" altLang="ko-KR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ITS </a:t>
                      </a:r>
                      <a:r>
                        <a:rPr lang="ko-KR" altLang="en-US" sz="1200" kern="1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사업의 일환으로 교통상황 시뮬레이션시 실시간 신호생성 모듈 및 통행배정 모듈 개발</a:t>
                      </a:r>
                      <a:endParaRPr lang="en-US" altLang="ko-KR" sz="1200" kern="100" dirty="0"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481618"/>
                  </a:ext>
                </a:extLst>
              </a:tr>
              <a:tr h="763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담당역할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신호생성 모듈 개발</a:t>
                      </a:r>
                      <a:r>
                        <a:rPr lang="en-US" alt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통행배정 모듈 개발</a:t>
                      </a:r>
                      <a:endParaRPr lang="en-US" alt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78822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7462713" y="5010462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/>
              <a:t>[</a:t>
            </a:r>
            <a:r>
              <a:rPr lang="ko-KR" altLang="en-US" dirty="0"/>
              <a:t>교통 시뮬레이션 화면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9B468B-3065-5664-1463-84CCB9E0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683" y="1601317"/>
            <a:ext cx="4926005" cy="33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40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6857426" y="5506060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신호생성 모듈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DCC475-5358-B684-F3A3-D6556F843DAB}"/>
              </a:ext>
            </a:extLst>
          </p:cNvPr>
          <p:cNvSpPr txBox="1"/>
          <p:nvPr/>
        </p:nvSpPr>
        <p:spPr>
          <a:xfrm>
            <a:off x="766797" y="1033422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신호생성 모듈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A23C680-AFA1-F5F1-B471-96E199046F4F}"/>
              </a:ext>
            </a:extLst>
          </p:cNvPr>
          <p:cNvGrpSpPr/>
          <p:nvPr/>
        </p:nvGrpSpPr>
        <p:grpSpPr>
          <a:xfrm>
            <a:off x="5979638" y="1148013"/>
            <a:ext cx="6139058" cy="4118467"/>
            <a:chOff x="365915" y="1321634"/>
            <a:chExt cx="7236752" cy="490408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B82781B-43F9-A7E6-E7B1-C52E9D362F9A}"/>
                </a:ext>
              </a:extLst>
            </p:cNvPr>
            <p:cNvSpPr/>
            <p:nvPr/>
          </p:nvSpPr>
          <p:spPr>
            <a:xfrm>
              <a:off x="365915" y="1321634"/>
              <a:ext cx="2967590" cy="632206"/>
            </a:xfrm>
            <a:prstGeom prst="rect">
              <a:avLst/>
            </a:prstGeom>
            <a:solidFill>
              <a:srgbClr val="E9EBE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신호 데이터베이스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8969AC0-2AEF-C446-F981-819CF9A428BE}"/>
                </a:ext>
              </a:extLst>
            </p:cNvPr>
            <p:cNvSpPr/>
            <p:nvPr/>
          </p:nvSpPr>
          <p:spPr>
            <a:xfrm>
              <a:off x="550496" y="4223401"/>
              <a:ext cx="2672353" cy="578112"/>
            </a:xfrm>
            <a:prstGeom prst="rect">
              <a:avLst/>
            </a:prstGeom>
            <a:solidFill>
              <a:srgbClr val="E9EBE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통합 신호테이블</a:t>
              </a:r>
              <a:r>
                <a:rPr lang="en-US" altLang="ko-KR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(</a:t>
              </a:r>
              <a:r>
                <a:rPr lang="en-US" altLang="ko-KR" sz="1050" dirty="0" err="1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pd.DataFrame</a:t>
              </a:r>
              <a:r>
                <a:rPr lang="en-US" altLang="ko-KR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)</a:t>
              </a:r>
              <a:endParaRPr lang="ko-KR" altLang="en-US" sz="10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CF309E2-D76B-FFD0-C622-9384428C3C2D}"/>
                </a:ext>
              </a:extLst>
            </p:cNvPr>
            <p:cNvSpPr/>
            <p:nvPr/>
          </p:nvSpPr>
          <p:spPr>
            <a:xfrm>
              <a:off x="860483" y="5647611"/>
              <a:ext cx="2052379" cy="578112"/>
            </a:xfrm>
            <a:prstGeom prst="rect">
              <a:avLst/>
            </a:prstGeom>
            <a:solidFill>
              <a:srgbClr val="E9EBE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신호파일 </a:t>
              </a:r>
              <a:r>
                <a:rPr lang="en-US" altLang="ko-KR" sz="105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rPr>
                <a:t>(xml)</a:t>
              </a:r>
              <a:endParaRPr lang="ko-KR" altLang="en-US" sz="10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590A4F9-AD2E-4269-C926-BC82C4CC70C1}"/>
                </a:ext>
              </a:extLst>
            </p:cNvPr>
            <p:cNvGrpSpPr/>
            <p:nvPr/>
          </p:nvGrpSpPr>
          <p:grpSpPr>
            <a:xfrm>
              <a:off x="365915" y="2639554"/>
              <a:ext cx="2967590" cy="828724"/>
              <a:chOff x="458514" y="3260035"/>
              <a:chExt cx="2967590" cy="828724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A299957D-A06B-4D56-54D7-7720921DC9A7}"/>
                  </a:ext>
                </a:extLst>
              </p:cNvPr>
              <p:cNvSpPr/>
              <p:nvPr/>
            </p:nvSpPr>
            <p:spPr>
              <a:xfrm>
                <a:off x="458514" y="3260035"/>
                <a:ext cx="1520758" cy="828724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실시간 신호정보</a:t>
                </a: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38A407B9-4C6C-799E-B52C-5693C672D150}"/>
                  </a:ext>
                </a:extLst>
              </p:cNvPr>
              <p:cNvSpPr/>
              <p:nvPr/>
            </p:nvSpPr>
            <p:spPr>
              <a:xfrm>
                <a:off x="2004331" y="3260035"/>
                <a:ext cx="1421773" cy="421265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신호이력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(table)</a:t>
                </a:r>
                <a:endParaRPr lang="ko-KR" altLang="en-US" sz="90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72B7BF3F-5D99-C4D3-2D32-73EEA3385FF2}"/>
                  </a:ext>
                </a:extLst>
              </p:cNvPr>
              <p:cNvSpPr/>
              <p:nvPr/>
            </p:nvSpPr>
            <p:spPr>
              <a:xfrm>
                <a:off x="2004331" y="3667494"/>
                <a:ext cx="1421773" cy="421265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이동류번호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(table)</a:t>
                </a:r>
                <a:endParaRPr lang="ko-KR" altLang="en-US" sz="90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DC1EA38-2F52-16BD-24FB-34CCF384DC7B}"/>
                </a:ext>
              </a:extLst>
            </p:cNvPr>
            <p:cNvGrpSpPr/>
            <p:nvPr/>
          </p:nvGrpSpPr>
          <p:grpSpPr>
            <a:xfrm>
              <a:off x="3935864" y="2646457"/>
              <a:ext cx="3666803" cy="828724"/>
              <a:chOff x="4271529" y="1187260"/>
              <a:chExt cx="3666803" cy="828724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39218E68-680E-A3A0-40EC-47ECA2D98AB3}"/>
                  </a:ext>
                </a:extLst>
              </p:cNvPr>
              <p:cNvSpPr/>
              <p:nvPr/>
            </p:nvSpPr>
            <p:spPr>
              <a:xfrm>
                <a:off x="4271529" y="1187260"/>
                <a:ext cx="1421774" cy="828724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신호 기반정보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45453978-8B6C-D1C4-0795-BA5AB6C53B48}"/>
                  </a:ext>
                </a:extLst>
              </p:cNvPr>
              <p:cNvSpPr/>
              <p:nvPr/>
            </p:nvSpPr>
            <p:spPr>
              <a:xfrm>
                <a:off x="5718362" y="1187260"/>
                <a:ext cx="2219970" cy="403135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이동류번호별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</a:t>
                </a:r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엣지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</a:t>
                </a:r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매칭정보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(csv)</a:t>
                </a:r>
                <a:endParaRPr lang="ko-KR" altLang="en-US" sz="90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60BA96E-D420-F717-D4BE-B4EE38C3BFA3}"/>
                  </a:ext>
                </a:extLst>
              </p:cNvPr>
              <p:cNvSpPr/>
              <p:nvPr/>
            </p:nvSpPr>
            <p:spPr>
              <a:xfrm>
                <a:off x="5718361" y="1594719"/>
                <a:ext cx="2219971" cy="403135"/>
              </a:xfrm>
              <a:prstGeom prst="rect">
                <a:avLst/>
              </a:prstGeom>
              <a:solidFill>
                <a:srgbClr val="E9EBEE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(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현시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, 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링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)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별 </a:t>
                </a:r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엣지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</a:t>
                </a:r>
                <a:r>
                  <a:rPr lang="ko-KR" altLang="en-US" sz="900" dirty="0" err="1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매칭정보</a:t>
                </a:r>
                <a:r>
                  <a:rPr lang="ko-KR" altLang="en-US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 </a:t>
                </a:r>
                <a:r>
                  <a:rPr lang="en-US" altLang="ko-KR" sz="900" dirty="0">
                    <a:ln w="9525"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/>
                    <a:ea typeface="KoPub돋움체 Medium"/>
                  </a:rPr>
                  <a:t>(csv)</a:t>
                </a:r>
                <a:endParaRPr lang="ko-KR" altLang="en-US" sz="900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/>
                  <a:ea typeface="KoPub돋움체 Medium"/>
                </a:endParaRPr>
              </a:p>
            </p:txBody>
          </p:sp>
        </p:grp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4EB122DE-3812-B29F-CD08-B4E2E1BD2887}"/>
                </a:ext>
              </a:extLst>
            </p:cNvPr>
            <p:cNvCxnSpPr>
              <a:cxnSpLocks/>
            </p:cNvCxnSpPr>
            <p:nvPr/>
          </p:nvCxnSpPr>
          <p:spPr>
            <a:xfrm>
              <a:off x="1886672" y="2013991"/>
              <a:ext cx="0" cy="532967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CE589691-6420-126D-3223-C21C91E5ECB8}"/>
                </a:ext>
              </a:extLst>
            </p:cNvPr>
            <p:cNvCxnSpPr>
              <a:cxnSpLocks/>
            </p:cNvCxnSpPr>
            <p:nvPr/>
          </p:nvCxnSpPr>
          <p:spPr>
            <a:xfrm>
              <a:off x="1911732" y="3579356"/>
              <a:ext cx="0" cy="532967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1725FEDB-9BF7-14F7-C4AE-7EE9E4A48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3505" y="3579356"/>
              <a:ext cx="856530" cy="580090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78DE18C9-DF94-DA98-2DB1-B934CB4C164C}"/>
                </a:ext>
              </a:extLst>
            </p:cNvPr>
            <p:cNvCxnSpPr>
              <a:cxnSpLocks/>
            </p:cNvCxnSpPr>
            <p:nvPr/>
          </p:nvCxnSpPr>
          <p:spPr>
            <a:xfrm>
              <a:off x="1911732" y="5004971"/>
              <a:ext cx="0" cy="532967"/>
            </a:xfrm>
            <a:prstGeom prst="straightConnector1">
              <a:avLst/>
            </a:prstGeom>
            <a:ln w="762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D187DDB-08A6-91F7-9500-08AF2C2F0CEC}"/>
              </a:ext>
            </a:extLst>
          </p:cNvPr>
          <p:cNvSpPr txBox="1"/>
          <p:nvPr/>
        </p:nvSpPr>
        <p:spPr>
          <a:xfrm>
            <a:off x="766797" y="1277251"/>
            <a:ext cx="5093522" cy="4488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성남시 지능형교통체계 사업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(ITS, intelligent transportation system)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SKT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수주한 사업으로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당사는 해당 사업에 참여하여 교통 시뮬레이션 구현 등에 참여하였습니다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교통 시뮬레이션은 오픈소스 파이썬 모듈인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sumo(simulation of urban mobility)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사용해 구현하였습니다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전년도에도 당사는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sumo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사용하여 인천시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ITS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사업에 참여한 바 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당사의 기존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신호생성모듈은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실시간으로 전송되는 신호제어기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신호등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신호정보를 반영하지 못했습니다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단지 신호계획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(TOD)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테이블을 사용하여 이를 통해 일괄적으로 시뮬레이션 신호를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생성하는생성하는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한계가 있었습니다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이번에 개발한 </a:t>
            </a:r>
            <a:r>
              <a:rPr lang="ko-KR" altLang="en-US" sz="1200" dirty="0" err="1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신호생성모듈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신호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쌓이는 신호 정보를 실시간으로 수령하여 신호파일 생성에 반영합니다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신호정보의 이상치 및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결측치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발생시에도 이를 처리하는 로직이 포함되어 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9057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B5F12-1905-36C5-2202-E24DED09C476}"/>
              </a:ext>
            </a:extLst>
          </p:cNvPr>
          <p:cNvSpPr txBox="1"/>
          <p:nvPr/>
        </p:nvSpPr>
        <p:spPr>
          <a:xfrm>
            <a:off x="6602782" y="5523120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통행배정 문제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F0328-AEC1-E9F1-6830-58A0EB3B8424}"/>
              </a:ext>
            </a:extLst>
          </p:cNvPr>
          <p:cNvSpPr txBox="1"/>
          <p:nvPr/>
        </p:nvSpPr>
        <p:spPr>
          <a:xfrm>
            <a:off x="766797" y="1033422"/>
            <a:ext cx="20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통행배정 모듈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5C421-E03B-A85B-D2B5-B699B3B29B78}"/>
              </a:ext>
            </a:extLst>
          </p:cNvPr>
          <p:cNvSpPr txBox="1"/>
          <p:nvPr/>
        </p:nvSpPr>
        <p:spPr>
          <a:xfrm>
            <a:off x="766797" y="1277251"/>
            <a:ext cx="4762876" cy="504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교통 시뮬레이션시 특정 경로에 몇 대의 차량이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어떠한 분포로 운행하는지를 정해야 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이것을 교통공학에서는 통행배정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(traffic assignment)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이라고 부릅니다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통행배정을 위해서는 먼저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후보경로를 설정해야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위해 교통상황을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directed graph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로서 정의하고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교차로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엣지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파이썬 모듈인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networks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사용하여 주요 교차로 사이의 최단경로를 찾는 </a:t>
            </a:r>
            <a:r>
              <a:rPr lang="ko-KR" altLang="en-US" sz="12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경로 탐색 알고리즘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개발했습니다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후보경로가 설정된 이후에는 해당 경로로 몇 대의 차량이 어떻게 지나갈지에 대해 정해야 합니다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위해 통행배정 논문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Sivanandan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1991)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아이디어를 얻어 통행배정문제를 최적화 문제로서 정의하고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선형계획법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(linear programming)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최적화문제를 풀었습니다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선형계획법을 구현하는 데에는 </a:t>
            </a:r>
            <a:r>
              <a:rPr lang="en-US" altLang="ko-KR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scipy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모듈이 사용되었습니다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차량이 구체적으로 언제 출발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발생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 지에 대해서는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차량의 출발이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Poisson process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따른다고 가정하고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차량발생간격을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지수분포에서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샘플링하여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구성했습니다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이상이 </a:t>
            </a:r>
            <a:r>
              <a:rPr lang="ko-KR" altLang="en-US" sz="12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통행배정 알고리즘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대한 설명입니다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1EA5C30-806B-0709-6FCC-28495194DF66}"/>
              </a:ext>
            </a:extLst>
          </p:cNvPr>
          <p:cNvSpPr/>
          <p:nvPr/>
        </p:nvSpPr>
        <p:spPr>
          <a:xfrm>
            <a:off x="9367935" y="1180111"/>
            <a:ext cx="156401" cy="156401"/>
          </a:xfrm>
          <a:prstGeom prst="ellipse">
            <a:avLst/>
          </a:prstGeom>
          <a:solidFill>
            <a:schemeClr val="accent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8355E6D-D3F9-DF50-842B-13F317B43004}"/>
              </a:ext>
            </a:extLst>
          </p:cNvPr>
          <p:cNvGrpSpPr/>
          <p:nvPr/>
        </p:nvGrpSpPr>
        <p:grpSpPr>
          <a:xfrm>
            <a:off x="6079968" y="334209"/>
            <a:ext cx="2930591" cy="2115910"/>
            <a:chOff x="7012143" y="239012"/>
            <a:chExt cx="2930591" cy="211591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7AB470D-5445-5FBE-17C7-20FDE843B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2143" y="239012"/>
              <a:ext cx="2930591" cy="2115910"/>
            </a:xfrm>
            <a:prstGeom prst="rect">
              <a:avLst/>
            </a:prstGeom>
          </p:spPr>
        </p:pic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C5AFD6B-1B21-8B07-66DE-C0C332B30806}"/>
                </a:ext>
              </a:extLst>
            </p:cNvPr>
            <p:cNvSpPr/>
            <p:nvPr/>
          </p:nvSpPr>
          <p:spPr>
            <a:xfrm>
              <a:off x="8561938" y="210221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DB45F9E-5CE1-7C06-BA20-BF9FA1459D76}"/>
                </a:ext>
              </a:extLst>
            </p:cNvPr>
            <p:cNvSpPr/>
            <p:nvPr/>
          </p:nvSpPr>
          <p:spPr>
            <a:xfrm>
              <a:off x="9110578" y="229015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9BD09DE-A70B-6A92-8CCD-AD2CCB648A18}"/>
                </a:ext>
              </a:extLst>
            </p:cNvPr>
            <p:cNvSpPr/>
            <p:nvPr/>
          </p:nvSpPr>
          <p:spPr>
            <a:xfrm>
              <a:off x="8718148" y="175294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C77116A-74F9-94A7-C5CC-E58CE6C4AE81}"/>
                </a:ext>
              </a:extLst>
            </p:cNvPr>
            <p:cNvSpPr/>
            <p:nvPr/>
          </p:nvSpPr>
          <p:spPr>
            <a:xfrm>
              <a:off x="8283808" y="1955214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4A18911-03C4-131C-D423-2C9742978AB7}"/>
                </a:ext>
              </a:extLst>
            </p:cNvPr>
            <p:cNvSpPr/>
            <p:nvPr/>
          </p:nvSpPr>
          <p:spPr>
            <a:xfrm>
              <a:off x="7891188" y="1797099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4A1B00D-859E-2BB9-0944-81BC453B567B}"/>
                </a:ext>
              </a:extLst>
            </p:cNvPr>
            <p:cNvSpPr/>
            <p:nvPr/>
          </p:nvSpPr>
          <p:spPr>
            <a:xfrm>
              <a:off x="7750218" y="1949499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97689D4-9867-C906-049D-90EBD63B97BA}"/>
                </a:ext>
              </a:extLst>
            </p:cNvPr>
            <p:cNvSpPr/>
            <p:nvPr/>
          </p:nvSpPr>
          <p:spPr>
            <a:xfrm>
              <a:off x="7222970" y="137788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841403B-9A17-105D-54C7-9847E42AE97E}"/>
                </a:ext>
              </a:extLst>
            </p:cNvPr>
            <p:cNvSpPr/>
            <p:nvPr/>
          </p:nvSpPr>
          <p:spPr>
            <a:xfrm>
              <a:off x="7750218" y="1382267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B912BAB4-E1BC-FD46-4DE5-FE0C44996D07}"/>
                </a:ext>
              </a:extLst>
            </p:cNvPr>
            <p:cNvSpPr/>
            <p:nvPr/>
          </p:nvSpPr>
          <p:spPr>
            <a:xfrm>
              <a:off x="7902618" y="1534667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56E1ADA9-7760-D31D-CF98-ACE41B9755CE}"/>
                </a:ext>
              </a:extLst>
            </p:cNvPr>
            <p:cNvSpPr/>
            <p:nvPr/>
          </p:nvSpPr>
          <p:spPr>
            <a:xfrm>
              <a:off x="7616868" y="135045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1AD1283F-201C-CB3C-9AAF-9C8F0F7F80DB}"/>
                </a:ext>
              </a:extLst>
            </p:cNvPr>
            <p:cNvSpPr/>
            <p:nvPr/>
          </p:nvSpPr>
          <p:spPr>
            <a:xfrm>
              <a:off x="7769268" y="150285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2640839-21B1-1AD9-7276-6C4D7D1465F1}"/>
                </a:ext>
              </a:extLst>
            </p:cNvPr>
            <p:cNvSpPr/>
            <p:nvPr/>
          </p:nvSpPr>
          <p:spPr>
            <a:xfrm>
              <a:off x="7508283" y="130397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8C46952-7C4A-444E-0895-10E670626E7B}"/>
                </a:ext>
              </a:extLst>
            </p:cNvPr>
            <p:cNvSpPr/>
            <p:nvPr/>
          </p:nvSpPr>
          <p:spPr>
            <a:xfrm>
              <a:off x="7660683" y="117654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8DD13A2-8770-A090-DE36-AE6B491A322E}"/>
                </a:ext>
              </a:extLst>
            </p:cNvPr>
            <p:cNvSpPr/>
            <p:nvPr/>
          </p:nvSpPr>
          <p:spPr>
            <a:xfrm>
              <a:off x="7877853" y="122548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E6EF1FC-95BA-7762-0D56-C7AEC0DF9504}"/>
                </a:ext>
              </a:extLst>
            </p:cNvPr>
            <p:cNvSpPr/>
            <p:nvPr/>
          </p:nvSpPr>
          <p:spPr>
            <a:xfrm>
              <a:off x="8011203" y="126458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6D9D940-838B-CFB1-1F9C-DB5A0B176949}"/>
                </a:ext>
              </a:extLst>
            </p:cNvPr>
            <p:cNvSpPr/>
            <p:nvPr/>
          </p:nvSpPr>
          <p:spPr>
            <a:xfrm>
              <a:off x="7584483" y="848839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756F2D8-0488-0AA4-E27F-566A5422E2B1}"/>
                </a:ext>
              </a:extLst>
            </p:cNvPr>
            <p:cNvSpPr/>
            <p:nvPr/>
          </p:nvSpPr>
          <p:spPr>
            <a:xfrm>
              <a:off x="7978818" y="99353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046E496B-433D-721D-CE85-79EFBC5DFD72}"/>
                </a:ext>
              </a:extLst>
            </p:cNvPr>
            <p:cNvSpPr/>
            <p:nvPr/>
          </p:nvSpPr>
          <p:spPr>
            <a:xfrm>
              <a:off x="7977591" y="1041557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D83AFCE-FEB3-56F8-22C8-963A27229375}"/>
                </a:ext>
              </a:extLst>
            </p:cNvPr>
            <p:cNvSpPr/>
            <p:nvPr/>
          </p:nvSpPr>
          <p:spPr>
            <a:xfrm>
              <a:off x="8325169" y="112993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7167112-30F7-444A-F3EF-7312353729F5}"/>
                </a:ext>
              </a:extLst>
            </p:cNvPr>
            <p:cNvSpPr/>
            <p:nvPr/>
          </p:nvSpPr>
          <p:spPr>
            <a:xfrm>
              <a:off x="8203798" y="121786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71E9E833-B666-924A-1725-E5A9F88F6618}"/>
                </a:ext>
              </a:extLst>
            </p:cNvPr>
            <p:cNvSpPr/>
            <p:nvPr/>
          </p:nvSpPr>
          <p:spPr>
            <a:xfrm>
              <a:off x="8373662" y="174589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F87D0317-A0CD-993E-7A0A-52FFFB5B6A43}"/>
                </a:ext>
              </a:extLst>
            </p:cNvPr>
            <p:cNvSpPr/>
            <p:nvPr/>
          </p:nvSpPr>
          <p:spPr>
            <a:xfrm>
              <a:off x="8348510" y="180469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50F07D96-E15F-5D45-B72C-0F3E100B883D}"/>
                </a:ext>
              </a:extLst>
            </p:cNvPr>
            <p:cNvSpPr/>
            <p:nvPr/>
          </p:nvSpPr>
          <p:spPr>
            <a:xfrm>
              <a:off x="8509954" y="1193139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EBDCD86-CE1B-40CE-A2CE-676E5A9A35A4}"/>
                </a:ext>
              </a:extLst>
            </p:cNvPr>
            <p:cNvSpPr/>
            <p:nvPr/>
          </p:nvSpPr>
          <p:spPr>
            <a:xfrm>
              <a:off x="8498674" y="1073124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C47A605E-8722-340B-0D93-C17D4CE14026}"/>
                </a:ext>
              </a:extLst>
            </p:cNvPr>
            <p:cNvSpPr/>
            <p:nvPr/>
          </p:nvSpPr>
          <p:spPr>
            <a:xfrm>
              <a:off x="8594323" y="1186128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E386896F-CA1A-7FED-C99D-F096792BAB84}"/>
                </a:ext>
              </a:extLst>
            </p:cNvPr>
            <p:cNvSpPr/>
            <p:nvPr/>
          </p:nvSpPr>
          <p:spPr>
            <a:xfrm>
              <a:off x="8685763" y="124722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153C5A08-6270-5D89-5957-5BBFC670C98D}"/>
                </a:ext>
              </a:extLst>
            </p:cNvPr>
            <p:cNvSpPr/>
            <p:nvPr/>
          </p:nvSpPr>
          <p:spPr>
            <a:xfrm>
              <a:off x="9262591" y="1336355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B926743A-9E1C-BE90-EE2E-85192CD002C0}"/>
                </a:ext>
              </a:extLst>
            </p:cNvPr>
            <p:cNvSpPr/>
            <p:nvPr/>
          </p:nvSpPr>
          <p:spPr>
            <a:xfrm>
              <a:off x="9363556" y="134550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61AC2E55-D7D2-18EB-E4DB-6CCCF02565A1}"/>
                </a:ext>
              </a:extLst>
            </p:cNvPr>
            <p:cNvSpPr/>
            <p:nvPr/>
          </p:nvSpPr>
          <p:spPr>
            <a:xfrm>
              <a:off x="8515113" y="91457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DF38937F-ADDA-405B-85B4-04AE63BE7383}"/>
                </a:ext>
              </a:extLst>
            </p:cNvPr>
            <p:cNvSpPr/>
            <p:nvPr/>
          </p:nvSpPr>
          <p:spPr>
            <a:xfrm>
              <a:off x="8450181" y="93384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2ECCBCE-1D05-E2AF-4A8F-DB71A6844B2B}"/>
                </a:ext>
              </a:extLst>
            </p:cNvPr>
            <p:cNvSpPr/>
            <p:nvPr/>
          </p:nvSpPr>
          <p:spPr>
            <a:xfrm>
              <a:off x="8518630" y="742905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3F800297-B911-03E7-FD23-2D61D250E275}"/>
                </a:ext>
              </a:extLst>
            </p:cNvPr>
            <p:cNvSpPr/>
            <p:nvPr/>
          </p:nvSpPr>
          <p:spPr>
            <a:xfrm>
              <a:off x="8248988" y="65057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3FCDDEC-DF7C-617C-18C4-59E237E72DCB}"/>
                </a:ext>
              </a:extLst>
            </p:cNvPr>
            <p:cNvSpPr/>
            <p:nvPr/>
          </p:nvSpPr>
          <p:spPr>
            <a:xfrm>
              <a:off x="8108358" y="794844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74E0A60-EF92-2DFA-3DC6-B5C018F46D5B}"/>
                </a:ext>
              </a:extLst>
            </p:cNvPr>
            <p:cNvSpPr/>
            <p:nvPr/>
          </p:nvSpPr>
          <p:spPr>
            <a:xfrm>
              <a:off x="8017413" y="92449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EF63201-939D-1DFB-0816-B5361577C281}"/>
                </a:ext>
              </a:extLst>
            </p:cNvPr>
            <p:cNvSpPr/>
            <p:nvPr/>
          </p:nvSpPr>
          <p:spPr>
            <a:xfrm>
              <a:off x="7663690" y="74691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444D52DE-182E-7132-1138-08A2AABAE49D}"/>
                </a:ext>
              </a:extLst>
            </p:cNvPr>
            <p:cNvSpPr/>
            <p:nvPr/>
          </p:nvSpPr>
          <p:spPr>
            <a:xfrm>
              <a:off x="7458554" y="742905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E1FEB09F-0F5E-BB9D-F963-52E1FC241C9D}"/>
                </a:ext>
              </a:extLst>
            </p:cNvPr>
            <p:cNvSpPr/>
            <p:nvPr/>
          </p:nvSpPr>
          <p:spPr>
            <a:xfrm>
              <a:off x="7550871" y="650571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4110C8A-5B41-4D13-A1E4-4BA998172CAD}"/>
                </a:ext>
              </a:extLst>
            </p:cNvPr>
            <p:cNvSpPr/>
            <p:nvPr/>
          </p:nvSpPr>
          <p:spPr>
            <a:xfrm>
              <a:off x="7704498" y="51610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8E0E1D8-FB5D-ACD6-7758-A3A674C5DB82}"/>
                </a:ext>
              </a:extLst>
            </p:cNvPr>
            <p:cNvSpPr/>
            <p:nvPr/>
          </p:nvSpPr>
          <p:spPr>
            <a:xfrm>
              <a:off x="7585161" y="374736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2000BD35-9E79-7928-8662-64E674949486}"/>
                </a:ext>
              </a:extLst>
            </p:cNvPr>
            <p:cNvSpPr/>
            <p:nvPr/>
          </p:nvSpPr>
          <p:spPr>
            <a:xfrm>
              <a:off x="7426169" y="508728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12A21FA9-4D76-973E-A2F9-16CBE460ACC9}"/>
                </a:ext>
              </a:extLst>
            </p:cNvPr>
            <p:cNvSpPr/>
            <p:nvPr/>
          </p:nvSpPr>
          <p:spPr>
            <a:xfrm>
              <a:off x="7246309" y="383102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74E64667-3203-F5FB-A04B-13373FDCBAA6}"/>
                </a:ext>
              </a:extLst>
            </p:cNvPr>
            <p:cNvSpPr/>
            <p:nvPr/>
          </p:nvSpPr>
          <p:spPr>
            <a:xfrm>
              <a:off x="7310600" y="520363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2254242-18F0-0486-BF31-3982E3FF5BB2}"/>
                </a:ext>
              </a:extLst>
            </p:cNvPr>
            <p:cNvSpPr/>
            <p:nvPr/>
          </p:nvSpPr>
          <p:spPr>
            <a:xfrm>
              <a:off x="7355986" y="746910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C19625F4-EBBB-A201-F771-5227F8F69E11}"/>
                </a:ext>
              </a:extLst>
            </p:cNvPr>
            <p:cNvSpPr/>
            <p:nvPr/>
          </p:nvSpPr>
          <p:spPr>
            <a:xfrm>
              <a:off x="7375370" y="894065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26134DDF-0446-DBD3-893B-7190AE61DC56}"/>
                </a:ext>
              </a:extLst>
            </p:cNvPr>
            <p:cNvSpPr/>
            <p:nvPr/>
          </p:nvSpPr>
          <p:spPr>
            <a:xfrm>
              <a:off x="7383437" y="809804"/>
              <a:ext cx="64770" cy="64770"/>
            </a:xfrm>
            <a:prstGeom prst="ellipse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66B13F55-85CF-8775-C103-CB3910F1B409}"/>
              </a:ext>
            </a:extLst>
          </p:cNvPr>
          <p:cNvCxnSpPr>
            <a:cxnSpLocks/>
          </p:cNvCxnSpPr>
          <p:nvPr/>
        </p:nvCxnSpPr>
        <p:spPr>
          <a:xfrm>
            <a:off x="9327295" y="1613699"/>
            <a:ext cx="318901" cy="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85C7A558-C2E4-E2F2-FC11-480069F28A27}"/>
              </a:ext>
            </a:extLst>
          </p:cNvPr>
          <p:cNvSpPr txBox="1"/>
          <p:nvPr/>
        </p:nvSpPr>
        <p:spPr>
          <a:xfrm>
            <a:off x="9687538" y="965789"/>
            <a:ext cx="1101584" cy="772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200" dirty="0"/>
              <a:t>노드 </a:t>
            </a:r>
            <a:r>
              <a:rPr lang="en-US" altLang="ko-KR" sz="1200" dirty="0"/>
              <a:t>(</a:t>
            </a:r>
            <a:r>
              <a:rPr lang="ko-KR" altLang="en-US" sz="1200" dirty="0"/>
              <a:t>교차로</a:t>
            </a:r>
            <a:r>
              <a:rPr lang="en-US" altLang="ko-KR" sz="1200" dirty="0"/>
              <a:t>)</a:t>
            </a:r>
          </a:p>
          <a:p>
            <a:pPr algn="l">
              <a:lnSpc>
                <a:spcPct val="200000"/>
              </a:lnSpc>
            </a:pPr>
            <a:r>
              <a:rPr lang="ko-KR" altLang="en-US" sz="1200" dirty="0" err="1"/>
              <a:t>엣지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도로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65F921A-E617-3BB5-A1E1-A9BAC4ADC5C3}"/>
              </a:ext>
            </a:extLst>
          </p:cNvPr>
          <p:cNvSpPr txBox="1"/>
          <p:nvPr/>
        </p:nvSpPr>
        <p:spPr>
          <a:xfrm>
            <a:off x="6945678" y="2595486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[directed graph</a:t>
            </a:r>
            <a:r>
              <a:rPr lang="ko-KR" altLang="en-US" dirty="0"/>
              <a:t>로서의 도로 네트워크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B575D33B-D313-85E3-FF83-C5D467A79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81348"/>
            <a:ext cx="2933700" cy="2114550"/>
          </a:xfrm>
          <a:prstGeom prst="rect">
            <a:avLst/>
          </a:prstGeom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98AF0050-FFEB-7265-1D25-E39FE3EF66FE}"/>
              </a:ext>
            </a:extLst>
          </p:cNvPr>
          <p:cNvCxnSpPr>
            <a:cxnSpLocks/>
          </p:cNvCxnSpPr>
          <p:nvPr/>
        </p:nvCxnSpPr>
        <p:spPr>
          <a:xfrm>
            <a:off x="9352646" y="3916524"/>
            <a:ext cx="318901" cy="0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53D43EF6-B008-0B6D-7055-FF9D72A1E611}"/>
              </a:ext>
            </a:extLst>
          </p:cNvPr>
          <p:cNvSpPr txBox="1"/>
          <p:nvPr/>
        </p:nvSpPr>
        <p:spPr>
          <a:xfrm>
            <a:off x="9759819" y="3647202"/>
            <a:ext cx="1988045" cy="772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200" dirty="0"/>
              <a:t>경로</a:t>
            </a:r>
            <a:endParaRPr lang="en-US" altLang="ko-KR" sz="1200" dirty="0"/>
          </a:p>
          <a:p>
            <a:pPr algn="l">
              <a:lnSpc>
                <a:spcPct val="200000"/>
              </a:lnSpc>
            </a:pPr>
            <a:r>
              <a:rPr lang="ko-KR" altLang="en-US" sz="1200" dirty="0"/>
              <a:t>시간당 </a:t>
            </a:r>
            <a:r>
              <a:rPr lang="en-US" altLang="ko-KR" sz="1200" dirty="0"/>
              <a:t>918</a:t>
            </a:r>
            <a:r>
              <a:rPr lang="ko-KR" altLang="en-US" sz="1200" dirty="0"/>
              <a:t>대의 차량 배정</a:t>
            </a:r>
          </a:p>
        </p:txBody>
      </p:sp>
    </p:spTree>
    <p:extLst>
      <p:ext uri="{BB962C8B-B14F-4D97-AF65-F5344CB8AC3E}">
        <p14:creationId xmlns:p14="http://schemas.microsoft.com/office/powerpoint/2010/main" val="1863095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99EFEA-6751-B481-8EA3-C12C9AF1B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52" y="1088019"/>
            <a:ext cx="7915290" cy="5017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026FA7-1826-FD86-2D2B-8FD9E0EBB5AF}"/>
              </a:ext>
            </a:extLst>
          </p:cNvPr>
          <p:cNvSpPr txBox="1"/>
          <p:nvPr/>
        </p:nvSpPr>
        <p:spPr>
          <a:xfrm>
            <a:off x="2575400" y="6030998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 </a:t>
            </a:r>
            <a:r>
              <a:rPr lang="ko-KR" altLang="en-US" dirty="0"/>
              <a:t>통행배정 문제 설명 </a:t>
            </a:r>
            <a:r>
              <a:rPr lang="en-US" altLang="ko-KR" dirty="0"/>
              <a:t>– 1 ]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8D885E-D5A8-B566-09C1-B7984C34D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257" y="1727377"/>
            <a:ext cx="2524586" cy="76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01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BA65A3-3069-4A04-0B1E-6C3D3236BA9A}"/>
              </a:ext>
            </a:extLst>
          </p:cNvPr>
          <p:cNvSpPr/>
          <p:nvPr/>
        </p:nvSpPr>
        <p:spPr>
          <a:xfrm>
            <a:off x="2249266" y="444860"/>
            <a:ext cx="9871363" cy="3385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8" y="334209"/>
            <a:ext cx="4762877" cy="478578"/>
          </a:xfrm>
        </p:spPr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신호생성 및 통행배정 모듈 개발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F47FE5-6105-C23E-FAEF-84EEBF829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84" y="1053439"/>
            <a:ext cx="8089120" cy="495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0AD76C-7C40-ABAC-7AE7-D628C0C48C1F}"/>
              </a:ext>
            </a:extLst>
          </p:cNvPr>
          <p:cNvSpPr txBox="1"/>
          <p:nvPr/>
        </p:nvSpPr>
        <p:spPr>
          <a:xfrm>
            <a:off x="3069923" y="6030998"/>
            <a:ext cx="4005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 dirty="0"/>
              <a:t>[ </a:t>
            </a:r>
            <a:r>
              <a:rPr lang="ko-KR" altLang="en-US" dirty="0"/>
              <a:t>통행배정 문제 설명 </a:t>
            </a:r>
            <a:r>
              <a:rPr lang="en-US" altLang="ko-KR" dirty="0"/>
              <a:t>– 2 ]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6000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13809-04B1-F523-1DB0-88F12FCA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759080-F5C3-3F47-B195-556F6B8600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5023AF5-81AC-4063-C73A-F421FE837A88}"/>
              </a:ext>
            </a:extLst>
          </p:cNvPr>
          <p:cNvSpPr/>
          <p:nvPr/>
        </p:nvSpPr>
        <p:spPr>
          <a:xfrm>
            <a:off x="334964" y="1509485"/>
            <a:ext cx="5615894" cy="4101606"/>
          </a:xfrm>
          <a:prstGeom prst="rect">
            <a:avLst/>
          </a:prstGeom>
          <a:solidFill>
            <a:schemeClr val="tx1">
              <a:lumMod val="95000"/>
              <a:lumOff val="5000"/>
              <a:alpha val="64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3DFC8-DDC5-C436-4D97-2F7C75B1FC43}"/>
              </a:ext>
            </a:extLst>
          </p:cNvPr>
          <p:cNvSpPr txBox="1"/>
          <p:nvPr/>
        </p:nvSpPr>
        <p:spPr>
          <a:xfrm>
            <a:off x="614590" y="1937625"/>
            <a:ext cx="429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ko-KR" altLang="en-US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319B9-CEA9-914C-4CAC-34ADBC786D9D}"/>
              </a:ext>
            </a:extLst>
          </p:cNvPr>
          <p:cNvSpPr txBox="1"/>
          <p:nvPr/>
        </p:nvSpPr>
        <p:spPr>
          <a:xfrm>
            <a:off x="592253" y="2460845"/>
            <a:ext cx="5200650" cy="2986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1400" kern="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Projects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신경망의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Lipschitz constant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계산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석사논문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2022)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200" kern="100" dirty="0">
                <a:solidFill>
                  <a:schemeClr val="bg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 쏘카존 위치 제안</a:t>
            </a:r>
            <a:r>
              <a:rPr lang="en-US" altLang="ko-KR" sz="1200" kern="100" dirty="0">
                <a:solidFill>
                  <a:schemeClr val="bg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(AIFFEL, 2023)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신호생성 및 통행배정 모듈 개발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성남시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ITS, 2023-2024)</a:t>
            </a:r>
          </a:p>
          <a:p>
            <a:pPr algn="just">
              <a:lnSpc>
                <a:spcPct val="130000"/>
              </a:lnSpc>
            </a:pP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Contact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blog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4"/>
              </a:rPr>
              <a:t>https://govin08.github.io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github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5"/>
              </a:rPr>
              <a:t>https://github.com/govin08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phone : 010-2405-7290</a:t>
            </a:r>
          </a:p>
          <a:p>
            <a:pPr algn="just">
              <a:lnSpc>
                <a:spcPct val="13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mail :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6"/>
              </a:rPr>
              <a:t>govindah08@gmail.com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감사합니다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6357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481"/>
        </a:solidFill>
        <a:ln w="635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chemeClr val="tx1">
              <a:lumMod val="85000"/>
              <a:lumOff val="15000"/>
            </a:schemeClr>
          </a:solidFill>
          <a:headEnd type="diamon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18669</TotalTime>
  <Words>1811</Words>
  <Application>Microsoft Office PowerPoint</Application>
  <PresentationFormat>와이드스크린</PresentationFormat>
  <Paragraphs>224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KoPub돋움체 Medium</vt:lpstr>
      <vt:lpstr>Pretendard</vt:lpstr>
      <vt:lpstr>Pretendard ExtraBold</vt:lpstr>
      <vt:lpstr>Pretendard Light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1. 자기소개</vt:lpstr>
      <vt:lpstr>2. 기술 보유</vt:lpstr>
      <vt:lpstr>3. 학력 및 경력</vt:lpstr>
      <vt:lpstr>4. 참여 프로젝트</vt:lpstr>
      <vt:lpstr>PowerPoint 프레젠테이션</vt:lpstr>
      <vt:lpstr>5.1 신경망의 Lipschitz constant 계산 (석사논문)</vt:lpstr>
      <vt:lpstr>5.1 신경망의 Lipschitz constant 계산 (석사논문)</vt:lpstr>
      <vt:lpstr>5.1 신경망의 Lipschitz constant 계산 (석사논문)</vt:lpstr>
      <vt:lpstr>5.1 신경망의 Lipschitz constant 계산 (석사논문)</vt:lpstr>
      <vt:lpstr>PowerPoint 프레젠테이션</vt:lpstr>
      <vt:lpstr>5.2 신규 쏘카존 위치 제안 (AIFFEL)</vt:lpstr>
      <vt:lpstr>5.2 신규 쏘카존 위치 제안 (AIFFEL)</vt:lpstr>
      <vt:lpstr>5.2 신규 쏘카존 위치 제안 (AIFFEL)</vt:lpstr>
      <vt:lpstr>5.2 신규 쏘카존 위치 제안 (AIFFEL)</vt:lpstr>
      <vt:lpstr>5.2 신규 쏘카존 위치 제안 (AIFFEL)</vt:lpstr>
      <vt:lpstr>PowerPoint 프레젠테이션</vt:lpstr>
      <vt:lpstr>5.3 신호생성 및 통행배정 모듈 개발</vt:lpstr>
      <vt:lpstr>5.3 신호생성 및 통행배정 모듈 개발</vt:lpstr>
      <vt:lpstr>5.3 신호생성 및 통행배정 모듈 개발</vt:lpstr>
      <vt:lpstr>5.3 신호생성 및 통행배정 모듈 개발</vt:lpstr>
      <vt:lpstr>5.3 신호생성 및 통행배정 모듈 개발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cs.hong</dc:creator>
  <cp:lastModifiedBy>선중 김</cp:lastModifiedBy>
  <cp:revision>1745</cp:revision>
  <dcterms:created xsi:type="dcterms:W3CDTF">2022-02-02T04:32:22Z</dcterms:created>
  <dcterms:modified xsi:type="dcterms:W3CDTF">2025-07-14T01:15:22Z</dcterms:modified>
</cp:coreProperties>
</file>